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Roboto Bold" charset="1" panose="02000000000000000000"/>
      <p:regular r:id="rId19"/>
    </p:embeddedFont>
    <p:embeddedFont>
      <p:font typeface="Roboto" charset="1" panose="02000000000000000000"/>
      <p:regular r:id="rId20"/>
    </p:embeddedFont>
    <p:embeddedFont>
      <p:font typeface="Noto Sans Bold" charset="1" panose="020B0802040504020204"/>
      <p:regular r:id="rId21"/>
    </p:embeddedFont>
    <p:embeddedFont>
      <p:font typeface="Noto Sans" charset="1" panose="020B050204050402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11" Target="../media/image21.png" Type="http://schemas.openxmlformats.org/officeDocument/2006/relationships/image"/><Relationship Id="rId12" Target="../media/image22.svg" Type="http://schemas.openxmlformats.org/officeDocument/2006/relationships/image"/><Relationship Id="rId2" Target="../media/image1.jpe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16.png" Type="http://schemas.openxmlformats.org/officeDocument/2006/relationships/image"/><Relationship Id="rId7" Target="../media/image17.sv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3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jpeg" Type="http://schemas.openxmlformats.org/officeDocument/2006/relationships/image"/><Relationship Id="rId3" Target="../media/image32.jpe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png" Type="http://schemas.openxmlformats.org/officeDocument/2006/relationships/image"/><Relationship Id="rId4" Target="../media/image3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 Id="rId3" Target="../media/image41.png" Type="http://schemas.openxmlformats.org/officeDocument/2006/relationships/image"/><Relationship Id="rId4" Target="../media/image42.png" Type="http://schemas.openxmlformats.org/officeDocument/2006/relationships/image"/><Relationship Id="rId5" Target="../media/image4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 Id="rId6" Target="../media/image48.svg" Type="http://schemas.openxmlformats.org/officeDocument/2006/relationships/image"/><Relationship Id="rId7" Target="../media/image49.png" Type="http://schemas.openxmlformats.org/officeDocument/2006/relationships/image"/><Relationship Id="rId8" Target="../media/image5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9.png" Type="http://schemas.openxmlformats.org/officeDocument/2006/relationships/image"/><Relationship Id="rId4" Target="../media/image50.svg" Type="http://schemas.openxmlformats.org/officeDocument/2006/relationships/image"/><Relationship Id="rId5" Target="../media/image51.png" Type="http://schemas.openxmlformats.org/officeDocument/2006/relationships/image"/><Relationship Id="rId6" Target="../media/image5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3.png" Type="http://schemas.openxmlformats.org/officeDocument/2006/relationships/image"/><Relationship Id="rId4" Target="../media/image5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2415882" cy="10287000"/>
            <a:chOff x="0" y="0"/>
            <a:chExt cx="636282" cy="2709333"/>
          </a:xfrm>
        </p:grpSpPr>
        <p:sp>
          <p:nvSpPr>
            <p:cNvPr name="Freeform 4" id="4"/>
            <p:cNvSpPr/>
            <p:nvPr/>
          </p:nvSpPr>
          <p:spPr>
            <a:xfrm flipH="false" flipV="false" rot="0">
              <a:off x="0" y="0"/>
              <a:ext cx="636282" cy="2709333"/>
            </a:xfrm>
            <a:custGeom>
              <a:avLst/>
              <a:gdLst/>
              <a:ahLst/>
              <a:cxnLst/>
              <a:rect r="r" b="b" t="t" l="l"/>
              <a:pathLst>
                <a:path h="2709333" w="636282">
                  <a:moveTo>
                    <a:pt x="0" y="0"/>
                  </a:moveTo>
                  <a:lnTo>
                    <a:pt x="636282" y="0"/>
                  </a:lnTo>
                  <a:lnTo>
                    <a:pt x="636282" y="2709333"/>
                  </a:lnTo>
                  <a:lnTo>
                    <a:pt x="0" y="2709333"/>
                  </a:ln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5" id="5"/>
            <p:cNvSpPr txBox="true"/>
            <p:nvPr/>
          </p:nvSpPr>
          <p:spPr>
            <a:xfrm>
              <a:off x="0" y="-47625"/>
              <a:ext cx="636282" cy="275695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6" id="6"/>
          <p:cNvSpPr/>
          <p:nvPr/>
        </p:nvSpPr>
        <p:spPr>
          <a:xfrm flipH="false" flipV="false" rot="0">
            <a:off x="839956" y="1028700"/>
            <a:ext cx="735971" cy="710546"/>
          </a:xfrm>
          <a:custGeom>
            <a:avLst/>
            <a:gdLst/>
            <a:ahLst/>
            <a:cxnLst/>
            <a:rect r="r" b="b" t="t" l="l"/>
            <a:pathLst>
              <a:path h="710546" w="735971">
                <a:moveTo>
                  <a:pt x="0" y="0"/>
                </a:moveTo>
                <a:lnTo>
                  <a:pt x="735970" y="0"/>
                </a:lnTo>
                <a:lnTo>
                  <a:pt x="735970" y="710546"/>
                </a:lnTo>
                <a:lnTo>
                  <a:pt x="0" y="7105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1201248">
            <a:off x="9690898" y="7617504"/>
            <a:ext cx="11188553" cy="3841403"/>
          </a:xfrm>
          <a:custGeom>
            <a:avLst/>
            <a:gdLst/>
            <a:ahLst/>
            <a:cxnLst/>
            <a:rect r="r" b="b" t="t" l="l"/>
            <a:pathLst>
              <a:path h="3841403" w="11188553">
                <a:moveTo>
                  <a:pt x="0" y="0"/>
                </a:moveTo>
                <a:lnTo>
                  <a:pt x="11188552" y="0"/>
                </a:lnTo>
                <a:lnTo>
                  <a:pt x="11188552" y="3841403"/>
                </a:lnTo>
                <a:lnTo>
                  <a:pt x="0" y="3841403"/>
                </a:lnTo>
                <a:lnTo>
                  <a:pt x="0" y="0"/>
                </a:lnTo>
                <a:close/>
              </a:path>
            </a:pathLst>
          </a:custGeom>
          <a:blipFill>
            <a:blip r:embed="rId5">
              <a:alphaModFix amt="60000"/>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0800000">
            <a:off x="16363007" y="-673427"/>
            <a:ext cx="4041076" cy="4114800"/>
          </a:xfrm>
          <a:custGeom>
            <a:avLst/>
            <a:gdLst/>
            <a:ahLst/>
            <a:cxnLst/>
            <a:rect r="r" b="b" t="t" l="l"/>
            <a:pathLst>
              <a:path h="4114800" w="4041076">
                <a:moveTo>
                  <a:pt x="0" y="0"/>
                </a:moveTo>
                <a:lnTo>
                  <a:pt x="4041077" y="0"/>
                </a:lnTo>
                <a:lnTo>
                  <a:pt x="4041077" y="4114800"/>
                </a:lnTo>
                <a:lnTo>
                  <a:pt x="0" y="4114800"/>
                </a:lnTo>
                <a:lnTo>
                  <a:pt x="0" y="0"/>
                </a:lnTo>
                <a:close/>
              </a:path>
            </a:pathLst>
          </a:custGeom>
          <a:blipFill>
            <a:blip r:embed="rId7">
              <a:alphaModFix amt="56000"/>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9746439" y="-135676"/>
            <a:ext cx="8333567" cy="10558353"/>
          </a:xfrm>
          <a:custGeom>
            <a:avLst/>
            <a:gdLst/>
            <a:ahLst/>
            <a:cxnLst/>
            <a:rect r="r" b="b" t="t" l="l"/>
            <a:pathLst>
              <a:path h="10558353" w="8333567">
                <a:moveTo>
                  <a:pt x="0" y="0"/>
                </a:moveTo>
                <a:lnTo>
                  <a:pt x="8333566" y="0"/>
                </a:lnTo>
                <a:lnTo>
                  <a:pt x="8333566" y="10558352"/>
                </a:lnTo>
                <a:lnTo>
                  <a:pt x="0" y="10558352"/>
                </a:lnTo>
                <a:lnTo>
                  <a:pt x="0" y="0"/>
                </a:lnTo>
                <a:close/>
              </a:path>
            </a:pathLst>
          </a:custGeom>
          <a:blipFill>
            <a:blip r:embed="rId9"/>
            <a:stretch>
              <a:fillRect l="0" t="0" r="-7225" b="0"/>
            </a:stretch>
          </a:blipFill>
        </p:spPr>
      </p:sp>
      <p:sp>
        <p:nvSpPr>
          <p:cNvPr name="Freeform 10" id="10"/>
          <p:cNvSpPr/>
          <p:nvPr/>
        </p:nvSpPr>
        <p:spPr>
          <a:xfrm flipH="false" flipV="false" rot="0">
            <a:off x="16646711" y="8368655"/>
            <a:ext cx="1545744" cy="1082020"/>
          </a:xfrm>
          <a:custGeom>
            <a:avLst/>
            <a:gdLst/>
            <a:ahLst/>
            <a:cxnLst/>
            <a:rect r="r" b="b" t="t" l="l"/>
            <a:pathLst>
              <a:path h="1082020" w="1545744">
                <a:moveTo>
                  <a:pt x="0" y="0"/>
                </a:moveTo>
                <a:lnTo>
                  <a:pt x="1545744" y="0"/>
                </a:lnTo>
                <a:lnTo>
                  <a:pt x="1545744" y="1082021"/>
                </a:lnTo>
                <a:lnTo>
                  <a:pt x="0" y="10820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2686719" y="191091"/>
            <a:ext cx="2440397" cy="1301545"/>
          </a:xfrm>
          <a:custGeom>
            <a:avLst/>
            <a:gdLst/>
            <a:ahLst/>
            <a:cxnLst/>
            <a:rect r="r" b="b" t="t" l="l"/>
            <a:pathLst>
              <a:path h="1301545" w="2440397">
                <a:moveTo>
                  <a:pt x="0" y="0"/>
                </a:moveTo>
                <a:lnTo>
                  <a:pt x="2440397" y="0"/>
                </a:lnTo>
                <a:lnTo>
                  <a:pt x="2440397" y="1301545"/>
                </a:lnTo>
                <a:lnTo>
                  <a:pt x="0" y="1301545"/>
                </a:lnTo>
                <a:lnTo>
                  <a:pt x="0" y="0"/>
                </a:lnTo>
                <a:close/>
              </a:path>
            </a:pathLst>
          </a:custGeom>
          <a:blipFill>
            <a:blip r:embed="rId12">
              <a:alphaModFix amt="90000"/>
              <a:extLst>
                <a:ext uri="{96DAC541-7B7A-43D3-8B79-37D633B846F1}">
                  <asvg:svgBlip xmlns:asvg="http://schemas.microsoft.com/office/drawing/2016/SVG/main" r:embed="rId13"/>
                </a:ext>
              </a:extLst>
            </a:blip>
            <a:stretch>
              <a:fillRect l="0" t="0" r="0" b="0"/>
            </a:stretch>
          </a:blipFill>
        </p:spPr>
      </p:sp>
      <p:grpSp>
        <p:nvGrpSpPr>
          <p:cNvPr name="Group 12" id="12"/>
          <p:cNvGrpSpPr/>
          <p:nvPr/>
        </p:nvGrpSpPr>
        <p:grpSpPr>
          <a:xfrm rot="0">
            <a:off x="3320099" y="7404805"/>
            <a:ext cx="3636002" cy="879519"/>
            <a:chOff x="0" y="0"/>
            <a:chExt cx="4848002" cy="1172692"/>
          </a:xfrm>
        </p:grpSpPr>
        <p:sp>
          <p:nvSpPr>
            <p:cNvPr name="TextBox 13" id="13"/>
            <p:cNvSpPr txBox="true"/>
            <p:nvPr/>
          </p:nvSpPr>
          <p:spPr>
            <a:xfrm rot="0">
              <a:off x="0" y="76200"/>
              <a:ext cx="4177575" cy="471743"/>
            </a:xfrm>
            <a:prstGeom prst="rect">
              <a:avLst/>
            </a:prstGeom>
          </p:spPr>
          <p:txBody>
            <a:bodyPr anchor="t" rtlCol="false" tIns="0" lIns="0" bIns="0" rIns="0">
              <a:spAutoFit/>
            </a:bodyPr>
            <a:lstStyle/>
            <a:p>
              <a:pPr algn="l" marL="0" indent="0" lvl="0">
                <a:lnSpc>
                  <a:spcPts val="2388"/>
                </a:lnSpc>
              </a:pPr>
              <a:r>
                <a:rPr lang="en-US" b="true" sz="2745">
                  <a:gradFill>
                    <a:gsLst>
                      <a:gs pos="0">
                        <a:srgbClr val="293E9C">
                          <a:alpha val="100000"/>
                        </a:srgbClr>
                      </a:gs>
                      <a:gs pos="100000">
                        <a:srgbClr val="3A58E4">
                          <a:alpha val="100000"/>
                        </a:srgbClr>
                      </a:gs>
                    </a:gsLst>
                    <a:path path="circle">
                      <a:fillToRect l="0" r="100000" t="0" b="100000"/>
                    </a:path>
                    <a:tileRect r="0" l="-100000" b="0" t="-100000"/>
                  </a:gradFill>
                  <a:latin typeface="Roboto Bold"/>
                  <a:ea typeface="Roboto Bold"/>
                  <a:cs typeface="Roboto Bold"/>
                  <a:sym typeface="Roboto Bold"/>
                </a:rPr>
                <a:t>THỰC HIỆN BỞI</a:t>
              </a:r>
            </a:p>
          </p:txBody>
        </p:sp>
        <p:sp>
          <p:nvSpPr>
            <p:cNvPr name="TextBox 14" id="14"/>
            <p:cNvSpPr txBox="true"/>
            <p:nvPr/>
          </p:nvSpPr>
          <p:spPr>
            <a:xfrm rot="0">
              <a:off x="0" y="700949"/>
              <a:ext cx="4848002" cy="471743"/>
            </a:xfrm>
            <a:prstGeom prst="rect">
              <a:avLst/>
            </a:prstGeom>
          </p:spPr>
          <p:txBody>
            <a:bodyPr anchor="t" rtlCol="false" tIns="0" lIns="0" bIns="0" rIns="0">
              <a:spAutoFit/>
            </a:bodyPr>
            <a:lstStyle/>
            <a:p>
              <a:pPr algn="l" marL="0" indent="0" lvl="0">
                <a:lnSpc>
                  <a:spcPts val="2388"/>
                </a:lnSpc>
              </a:pPr>
              <a:r>
                <a:rPr lang="en-US" sz="2745">
                  <a:gradFill>
                    <a:gsLst>
                      <a:gs pos="0">
                        <a:srgbClr val="293E9C">
                          <a:alpha val="100000"/>
                        </a:srgbClr>
                      </a:gs>
                      <a:gs pos="100000">
                        <a:srgbClr val="3A58E4">
                          <a:alpha val="100000"/>
                        </a:srgbClr>
                      </a:gs>
                    </a:gsLst>
                    <a:path path="circle">
                      <a:fillToRect l="0" r="100000" t="0" b="100000"/>
                    </a:path>
                    <a:tileRect r="0" l="-100000" b="0" t="-100000"/>
                  </a:gradFill>
                  <a:latin typeface="Roboto"/>
                  <a:ea typeface="Roboto"/>
                  <a:cs typeface="Roboto"/>
                  <a:sym typeface="Roboto"/>
                </a:rPr>
                <a:t>Hoàng Quốc Khánh</a:t>
              </a:r>
            </a:p>
          </p:txBody>
        </p:sp>
      </p:grpSp>
      <p:sp>
        <p:nvSpPr>
          <p:cNvPr name="TextBox 15" id="15"/>
          <p:cNvSpPr txBox="true"/>
          <p:nvPr/>
        </p:nvSpPr>
        <p:spPr>
          <a:xfrm rot="0">
            <a:off x="3320099" y="2597238"/>
            <a:ext cx="6772012" cy="2622276"/>
          </a:xfrm>
          <a:prstGeom prst="rect">
            <a:avLst/>
          </a:prstGeom>
        </p:spPr>
        <p:txBody>
          <a:bodyPr anchor="t" rtlCol="false" tIns="0" lIns="0" bIns="0" rIns="0">
            <a:spAutoFit/>
          </a:bodyPr>
          <a:lstStyle/>
          <a:p>
            <a:pPr algn="l" marL="0" indent="0" lvl="0">
              <a:lnSpc>
                <a:spcPts val="6783"/>
              </a:lnSpc>
            </a:pPr>
            <a:r>
              <a:rPr lang="en-US" b="true" sz="6922" spc="-443">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Phân tích hành vi</a:t>
            </a:r>
          </a:p>
          <a:p>
            <a:pPr algn="l" marL="0" indent="0" lvl="0">
              <a:lnSpc>
                <a:spcPts val="6783"/>
              </a:lnSpc>
            </a:pPr>
            <a:r>
              <a:rPr lang="en-US" b="true" sz="6922" spc="-443">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đặt vé xem phim</a:t>
            </a:r>
          </a:p>
          <a:p>
            <a:pPr algn="l" marL="0" indent="0" lvl="0">
              <a:lnSpc>
                <a:spcPts val="6783"/>
              </a:lnSpc>
            </a:pPr>
            <a:r>
              <a:rPr lang="en-US" b="true" sz="6922" spc="-443">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online 2019–2022</a:t>
            </a:r>
          </a:p>
        </p:txBody>
      </p:sp>
      <p:sp>
        <p:nvSpPr>
          <p:cNvPr name="TextBox 16" id="16"/>
          <p:cNvSpPr txBox="true"/>
          <p:nvPr/>
        </p:nvSpPr>
        <p:spPr>
          <a:xfrm rot="0">
            <a:off x="3320099" y="5923327"/>
            <a:ext cx="6426339" cy="840205"/>
          </a:xfrm>
          <a:prstGeom prst="rect">
            <a:avLst/>
          </a:prstGeom>
        </p:spPr>
        <p:txBody>
          <a:bodyPr anchor="t" rtlCol="false" tIns="0" lIns="0" bIns="0" rIns="0">
            <a:spAutoFit/>
          </a:bodyPr>
          <a:lstStyle/>
          <a:p>
            <a:pPr algn="just" marL="0" indent="0" lvl="0">
              <a:lnSpc>
                <a:spcPts val="3347"/>
              </a:lnSpc>
            </a:pPr>
            <a:r>
              <a:rPr lang="en-US" sz="2615" spc="-7">
                <a:solidFill>
                  <a:srgbClr val="3A58E4"/>
                </a:solidFill>
                <a:latin typeface="Roboto"/>
                <a:ea typeface="Roboto"/>
                <a:cs typeface="Roboto"/>
                <a:sym typeface="Roboto"/>
              </a:rPr>
              <a:t>Từ tăng trưởng giao dịch đến giữ chân khách hàng và tối ưu thanh toán</a:t>
            </a:r>
          </a:p>
        </p:txBody>
      </p:sp>
      <p:sp>
        <p:nvSpPr>
          <p:cNvPr name="TextBox 17" id="17"/>
          <p:cNvSpPr txBox="true"/>
          <p:nvPr/>
        </p:nvSpPr>
        <p:spPr>
          <a:xfrm rot="0">
            <a:off x="350972" y="1978357"/>
            <a:ext cx="1704171" cy="332607"/>
          </a:xfrm>
          <a:prstGeom prst="rect">
            <a:avLst/>
          </a:prstGeom>
        </p:spPr>
        <p:txBody>
          <a:bodyPr anchor="t" rtlCol="false" tIns="0" lIns="0" bIns="0" rIns="0">
            <a:spAutoFit/>
          </a:bodyPr>
          <a:lstStyle/>
          <a:p>
            <a:pPr algn="ctr" marL="0" indent="0" lvl="0">
              <a:lnSpc>
                <a:spcPts val="2419"/>
              </a:lnSpc>
            </a:pPr>
            <a:r>
              <a:rPr lang="en-US" b="true" sz="2261">
                <a:solidFill>
                  <a:srgbClr val="FFFFFF"/>
                </a:solidFill>
                <a:latin typeface="Roboto Bold"/>
                <a:ea typeface="Roboto Bold"/>
                <a:cs typeface="Roboto Bold"/>
                <a:sym typeface="Roboto Bold"/>
              </a:rPr>
              <a:t>Portfolio</a:t>
            </a:r>
          </a:p>
        </p:txBody>
      </p:sp>
      <p:sp>
        <p:nvSpPr>
          <p:cNvPr name="TextBox 18" id="18"/>
          <p:cNvSpPr txBox="true"/>
          <p:nvPr/>
        </p:nvSpPr>
        <p:spPr>
          <a:xfrm rot="0">
            <a:off x="360740" y="2320516"/>
            <a:ext cx="1704171" cy="332607"/>
          </a:xfrm>
          <a:prstGeom prst="rect">
            <a:avLst/>
          </a:prstGeom>
        </p:spPr>
        <p:txBody>
          <a:bodyPr anchor="t" rtlCol="false" tIns="0" lIns="0" bIns="0" rIns="0">
            <a:spAutoFit/>
          </a:bodyPr>
          <a:lstStyle/>
          <a:p>
            <a:pPr algn="ctr" marL="0" indent="0" lvl="0">
              <a:lnSpc>
                <a:spcPts val="2419"/>
              </a:lnSpc>
            </a:pPr>
            <a:r>
              <a:rPr lang="en-US" sz="2261">
                <a:solidFill>
                  <a:srgbClr val="FFFFFF"/>
                </a:solidFill>
                <a:latin typeface="Roboto"/>
                <a:ea typeface="Roboto"/>
                <a:cs typeface="Roboto"/>
                <a:sym typeface="Roboto"/>
              </a:rPr>
              <a:t>Project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718831" y="3814765"/>
            <a:ext cx="12850338" cy="3360940"/>
            <a:chOff x="0" y="0"/>
            <a:chExt cx="17133784" cy="4481253"/>
          </a:xfrm>
        </p:grpSpPr>
        <p:sp>
          <p:nvSpPr>
            <p:cNvPr name="TextBox 4" id="4"/>
            <p:cNvSpPr txBox="true"/>
            <p:nvPr/>
          </p:nvSpPr>
          <p:spPr>
            <a:xfrm rot="0">
              <a:off x="10158447" y="2684867"/>
              <a:ext cx="6803774" cy="1491827"/>
            </a:xfrm>
            <a:prstGeom prst="rect">
              <a:avLst/>
            </a:prstGeom>
          </p:spPr>
          <p:txBody>
            <a:bodyPr anchor="t" rtlCol="false" tIns="0" lIns="0" bIns="0" rIns="0">
              <a:spAutoFit/>
            </a:bodyPr>
            <a:lstStyle/>
            <a:p>
              <a:pPr algn="just" marL="0" indent="0" lvl="0">
                <a:lnSpc>
                  <a:spcPts val="3040"/>
                </a:lnSpc>
                <a:spcBef>
                  <a:spcPct val="0"/>
                </a:spcBef>
              </a:pPr>
              <a:r>
                <a:rPr lang="en-US" b="true" sz="2000" strike="noStrike" u="none">
                  <a:solidFill>
                    <a:srgbClr val="000000"/>
                  </a:solidFill>
                  <a:latin typeface="Roboto Bold"/>
                  <a:ea typeface="Roboto Bold"/>
                  <a:cs typeface="Roboto Bold"/>
                  <a:sym typeface="Roboto Bold"/>
                </a:rPr>
                <a:t>TĂNG TRƯỞNG NHỜ KHUYẾN MÃI</a:t>
              </a:r>
            </a:p>
            <a:p>
              <a:pPr algn="just" marL="0" indent="0" lvl="0">
                <a:lnSpc>
                  <a:spcPts val="3040"/>
                </a:lnSpc>
                <a:spcBef>
                  <a:spcPct val="0"/>
                </a:spcBef>
              </a:pPr>
              <a:r>
                <a:rPr lang="en-US" sz="2000" strike="noStrike" u="none">
                  <a:solidFill>
                    <a:srgbClr val="000000"/>
                  </a:solidFill>
                  <a:latin typeface="Roboto"/>
                  <a:ea typeface="Roboto"/>
                  <a:cs typeface="Roboto"/>
                  <a:sym typeface="Roboto"/>
                </a:rPr>
                <a:t>Khuyến mãi giúp tăng mạnh khách mời và tỷ lệ chuyển đổi trong ngắn hạn</a:t>
              </a:r>
            </a:p>
          </p:txBody>
        </p:sp>
        <p:grpSp>
          <p:nvGrpSpPr>
            <p:cNvPr name="Group 5" id="5"/>
            <p:cNvGrpSpPr/>
            <p:nvPr/>
          </p:nvGrpSpPr>
          <p:grpSpPr>
            <a:xfrm rot="0">
              <a:off x="9513784" y="2576253"/>
              <a:ext cx="7620000" cy="1905000"/>
              <a:chOff x="0" y="0"/>
              <a:chExt cx="2563279" cy="640820"/>
            </a:xfrm>
          </p:grpSpPr>
          <p:sp>
            <p:nvSpPr>
              <p:cNvPr name="Freeform 6" id="6"/>
              <p:cNvSpPr/>
              <p:nvPr/>
            </p:nvSpPr>
            <p:spPr>
              <a:xfrm flipH="false" flipV="false" rot="0">
                <a:off x="0" y="0"/>
                <a:ext cx="2563279" cy="640820"/>
              </a:xfrm>
              <a:custGeom>
                <a:avLst/>
                <a:gdLst/>
                <a:ahLst/>
                <a:cxnLst/>
                <a:rect r="r" b="b" t="t" l="l"/>
                <a:pathLst>
                  <a:path h="640820" w="2563279">
                    <a:moveTo>
                      <a:pt x="58251" y="0"/>
                    </a:moveTo>
                    <a:lnTo>
                      <a:pt x="2505028" y="0"/>
                    </a:lnTo>
                    <a:cubicBezTo>
                      <a:pt x="2520477" y="0"/>
                      <a:pt x="2535293" y="6137"/>
                      <a:pt x="2546217" y="17061"/>
                    </a:cubicBezTo>
                    <a:cubicBezTo>
                      <a:pt x="2557142" y="27985"/>
                      <a:pt x="2563279" y="42802"/>
                      <a:pt x="2563279" y="58251"/>
                    </a:cubicBezTo>
                    <a:lnTo>
                      <a:pt x="2563279" y="582569"/>
                    </a:lnTo>
                    <a:cubicBezTo>
                      <a:pt x="2563279" y="614740"/>
                      <a:pt x="2537199" y="640820"/>
                      <a:pt x="2505028" y="640820"/>
                    </a:cubicBezTo>
                    <a:lnTo>
                      <a:pt x="58251" y="640820"/>
                    </a:lnTo>
                    <a:cubicBezTo>
                      <a:pt x="26080" y="640820"/>
                      <a:pt x="0" y="614740"/>
                      <a:pt x="0" y="582569"/>
                    </a:cubicBezTo>
                    <a:lnTo>
                      <a:pt x="0" y="58251"/>
                    </a:lnTo>
                    <a:cubicBezTo>
                      <a:pt x="0" y="26080"/>
                      <a:pt x="26080" y="0"/>
                      <a:pt x="5825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7" id="7"/>
              <p:cNvSpPr txBox="true"/>
              <p:nvPr/>
            </p:nvSpPr>
            <p:spPr>
              <a:xfrm>
                <a:off x="0" y="-47625"/>
                <a:ext cx="2563279" cy="688445"/>
              </a:xfrm>
              <a:prstGeom prst="rect">
                <a:avLst/>
              </a:prstGeom>
            </p:spPr>
            <p:txBody>
              <a:bodyPr anchor="ctr" rtlCol="false" tIns="32148" lIns="32148" bIns="32148" rIns="32148"/>
              <a:lstStyle/>
              <a:p>
                <a:pPr algn="ctr" marL="0" indent="0" lvl="0">
                  <a:lnSpc>
                    <a:spcPts val="2800"/>
                  </a:lnSpc>
                  <a:spcBef>
                    <a:spcPct val="0"/>
                  </a:spcBef>
                </a:pPr>
              </a:p>
            </p:txBody>
          </p:sp>
        </p:grpSp>
        <p:grpSp>
          <p:nvGrpSpPr>
            <p:cNvPr name="Group 8" id="8"/>
            <p:cNvGrpSpPr/>
            <p:nvPr/>
          </p:nvGrpSpPr>
          <p:grpSpPr>
            <a:xfrm rot="0">
              <a:off x="0" y="2576253"/>
              <a:ext cx="7620000" cy="1905000"/>
              <a:chOff x="0" y="0"/>
              <a:chExt cx="2468756" cy="617189"/>
            </a:xfrm>
          </p:grpSpPr>
          <p:sp>
            <p:nvSpPr>
              <p:cNvPr name="Freeform 9" id="9"/>
              <p:cNvSpPr/>
              <p:nvPr/>
            </p:nvSpPr>
            <p:spPr>
              <a:xfrm flipH="false" flipV="false" rot="0">
                <a:off x="0" y="0"/>
                <a:ext cx="2468756" cy="617189"/>
              </a:xfrm>
              <a:custGeom>
                <a:avLst/>
                <a:gdLst/>
                <a:ahLst/>
                <a:cxnLst/>
                <a:rect r="r" b="b" t="t" l="l"/>
                <a:pathLst>
                  <a:path h="617189" w="2468756">
                    <a:moveTo>
                      <a:pt x="58251" y="0"/>
                    </a:moveTo>
                    <a:lnTo>
                      <a:pt x="2410506" y="0"/>
                    </a:lnTo>
                    <a:cubicBezTo>
                      <a:pt x="2442677" y="0"/>
                      <a:pt x="2468756" y="26080"/>
                      <a:pt x="2468756" y="58251"/>
                    </a:cubicBezTo>
                    <a:lnTo>
                      <a:pt x="2468756" y="558938"/>
                    </a:lnTo>
                    <a:cubicBezTo>
                      <a:pt x="2468756" y="591109"/>
                      <a:pt x="2442677" y="617189"/>
                      <a:pt x="2410506" y="617189"/>
                    </a:cubicBezTo>
                    <a:lnTo>
                      <a:pt x="58251" y="617189"/>
                    </a:lnTo>
                    <a:cubicBezTo>
                      <a:pt x="26080" y="617189"/>
                      <a:pt x="0" y="591109"/>
                      <a:pt x="0" y="558938"/>
                    </a:cubicBezTo>
                    <a:lnTo>
                      <a:pt x="0" y="58251"/>
                    </a:lnTo>
                    <a:cubicBezTo>
                      <a:pt x="0" y="26080"/>
                      <a:pt x="26080" y="0"/>
                      <a:pt x="5825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10" id="10"/>
              <p:cNvSpPr txBox="true"/>
              <p:nvPr/>
            </p:nvSpPr>
            <p:spPr>
              <a:xfrm>
                <a:off x="0" y="-47625"/>
                <a:ext cx="2468756" cy="664814"/>
              </a:xfrm>
              <a:prstGeom prst="rect">
                <a:avLst/>
              </a:prstGeom>
            </p:spPr>
            <p:txBody>
              <a:bodyPr anchor="ctr" rtlCol="false" tIns="33379" lIns="33379" bIns="33379" rIns="33379"/>
              <a:lstStyle/>
              <a:p>
                <a:pPr algn="ctr" marL="0" indent="0" lvl="0">
                  <a:lnSpc>
                    <a:spcPts val="2800"/>
                  </a:lnSpc>
                  <a:spcBef>
                    <a:spcPct val="0"/>
                  </a:spcBef>
                </a:pPr>
              </a:p>
            </p:txBody>
          </p:sp>
        </p:grpSp>
        <p:sp>
          <p:nvSpPr>
            <p:cNvPr name="TextBox 11" id="11"/>
            <p:cNvSpPr txBox="true"/>
            <p:nvPr/>
          </p:nvSpPr>
          <p:spPr>
            <a:xfrm rot="0">
              <a:off x="607420" y="2709042"/>
              <a:ext cx="6410715" cy="1491827"/>
            </a:xfrm>
            <a:prstGeom prst="rect">
              <a:avLst/>
            </a:prstGeom>
          </p:spPr>
          <p:txBody>
            <a:bodyPr anchor="t" rtlCol="false" tIns="0" lIns="0" bIns="0" rIns="0">
              <a:spAutoFit/>
            </a:bodyPr>
            <a:lstStyle/>
            <a:p>
              <a:pPr algn="just" marL="0" indent="0" lvl="0">
                <a:lnSpc>
                  <a:spcPts val="3040"/>
                </a:lnSpc>
                <a:spcBef>
                  <a:spcPct val="0"/>
                </a:spcBef>
              </a:pPr>
              <a:r>
                <a:rPr lang="en-US" b="true" sz="2000" strike="noStrike" u="none">
                  <a:solidFill>
                    <a:srgbClr val="000000"/>
                  </a:solidFill>
                  <a:latin typeface="Roboto Bold"/>
                  <a:ea typeface="Roboto Bold"/>
                  <a:cs typeface="Roboto Bold"/>
                  <a:sym typeface="Roboto Bold"/>
                </a:rPr>
                <a:t>TỶ LỆ QUAY LẠI THẤP</a:t>
              </a:r>
            </a:p>
            <a:p>
              <a:pPr algn="just" marL="0" indent="0" lvl="0">
                <a:lnSpc>
                  <a:spcPts val="3040"/>
                </a:lnSpc>
                <a:spcBef>
                  <a:spcPct val="0"/>
                </a:spcBef>
              </a:pPr>
              <a:r>
                <a:rPr lang="en-US" sz="2000" strike="noStrike" u="none">
                  <a:solidFill>
                    <a:srgbClr val="000000"/>
                  </a:solidFill>
                  <a:latin typeface="Roboto"/>
                  <a:ea typeface="Roboto"/>
                  <a:cs typeface="Roboto"/>
                  <a:sym typeface="Roboto"/>
                </a:rPr>
                <a:t>Phụ thuộc vào ưu đãi ngắn hạn tỷ lệ khách hàng quay lại còn thấp</a:t>
              </a:r>
            </a:p>
          </p:txBody>
        </p:sp>
        <p:sp>
          <p:nvSpPr>
            <p:cNvPr name="TextBox 12" id="12"/>
            <p:cNvSpPr txBox="true"/>
            <p:nvPr/>
          </p:nvSpPr>
          <p:spPr>
            <a:xfrm rot="0">
              <a:off x="10158447" y="112763"/>
              <a:ext cx="6803774" cy="1491827"/>
            </a:xfrm>
            <a:prstGeom prst="rect">
              <a:avLst/>
            </a:prstGeom>
          </p:spPr>
          <p:txBody>
            <a:bodyPr anchor="t" rtlCol="false" tIns="0" lIns="0" bIns="0" rIns="0">
              <a:spAutoFit/>
            </a:bodyPr>
            <a:lstStyle/>
            <a:p>
              <a:pPr algn="just">
                <a:lnSpc>
                  <a:spcPts val="3040"/>
                </a:lnSpc>
              </a:pPr>
              <a:r>
                <a:rPr lang="en-US" b="true" sz="2000">
                  <a:solidFill>
                    <a:srgbClr val="000000"/>
                  </a:solidFill>
                  <a:latin typeface="Roboto Bold"/>
                  <a:ea typeface="Roboto Bold"/>
                  <a:cs typeface="Roboto Bold"/>
                  <a:sym typeface="Roboto Bold"/>
                </a:rPr>
                <a:t>MOBILE LÀ KÊNH CHỦ LỰC</a:t>
              </a:r>
            </a:p>
            <a:p>
              <a:pPr algn="just" marL="0" indent="0" lvl="0">
                <a:lnSpc>
                  <a:spcPts val="3040"/>
                </a:lnSpc>
              </a:pPr>
              <a:r>
                <a:rPr lang="en-US" sz="2000">
                  <a:solidFill>
                    <a:srgbClr val="000000"/>
                  </a:solidFill>
                  <a:latin typeface="Roboto"/>
                  <a:ea typeface="Roboto"/>
                  <a:cs typeface="Roboto"/>
                  <a:sym typeface="Roboto"/>
                </a:rPr>
                <a:t>Ứng dụng di động chiếm ưu thế trong hành vi đặt vé</a:t>
              </a:r>
            </a:p>
          </p:txBody>
        </p:sp>
        <p:grpSp>
          <p:nvGrpSpPr>
            <p:cNvPr name="Group 13" id="13"/>
            <p:cNvGrpSpPr/>
            <p:nvPr/>
          </p:nvGrpSpPr>
          <p:grpSpPr>
            <a:xfrm rot="0">
              <a:off x="9513784" y="0"/>
              <a:ext cx="7620000" cy="1905000"/>
              <a:chOff x="0" y="0"/>
              <a:chExt cx="2468756" cy="617189"/>
            </a:xfrm>
          </p:grpSpPr>
          <p:sp>
            <p:nvSpPr>
              <p:cNvPr name="Freeform 14" id="14"/>
              <p:cNvSpPr/>
              <p:nvPr/>
            </p:nvSpPr>
            <p:spPr>
              <a:xfrm flipH="false" flipV="false" rot="0">
                <a:off x="0" y="0"/>
                <a:ext cx="2468756" cy="617189"/>
              </a:xfrm>
              <a:custGeom>
                <a:avLst/>
                <a:gdLst/>
                <a:ahLst/>
                <a:cxnLst/>
                <a:rect r="r" b="b" t="t" l="l"/>
                <a:pathLst>
                  <a:path h="617189" w="2468756">
                    <a:moveTo>
                      <a:pt x="58251" y="0"/>
                    </a:moveTo>
                    <a:lnTo>
                      <a:pt x="2410506" y="0"/>
                    </a:lnTo>
                    <a:cubicBezTo>
                      <a:pt x="2442677" y="0"/>
                      <a:pt x="2468756" y="26080"/>
                      <a:pt x="2468756" y="58251"/>
                    </a:cubicBezTo>
                    <a:lnTo>
                      <a:pt x="2468756" y="558938"/>
                    </a:lnTo>
                    <a:cubicBezTo>
                      <a:pt x="2468756" y="591109"/>
                      <a:pt x="2442677" y="617189"/>
                      <a:pt x="2410506" y="617189"/>
                    </a:cubicBezTo>
                    <a:lnTo>
                      <a:pt x="58251" y="617189"/>
                    </a:lnTo>
                    <a:cubicBezTo>
                      <a:pt x="26080" y="617189"/>
                      <a:pt x="0" y="591109"/>
                      <a:pt x="0" y="558938"/>
                    </a:cubicBezTo>
                    <a:lnTo>
                      <a:pt x="0" y="58251"/>
                    </a:lnTo>
                    <a:cubicBezTo>
                      <a:pt x="0" y="26080"/>
                      <a:pt x="26080" y="0"/>
                      <a:pt x="5825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15" id="15"/>
              <p:cNvSpPr txBox="true"/>
              <p:nvPr/>
            </p:nvSpPr>
            <p:spPr>
              <a:xfrm>
                <a:off x="0" y="-47625"/>
                <a:ext cx="2468756" cy="664814"/>
              </a:xfrm>
              <a:prstGeom prst="rect">
                <a:avLst/>
              </a:prstGeom>
            </p:spPr>
            <p:txBody>
              <a:bodyPr anchor="ctr" rtlCol="false" tIns="33379" lIns="33379" bIns="33379" rIns="33379"/>
              <a:lstStyle/>
              <a:p>
                <a:pPr algn="ctr" marL="0" indent="0" lvl="0">
                  <a:lnSpc>
                    <a:spcPts val="2800"/>
                  </a:lnSpc>
                  <a:spcBef>
                    <a:spcPct val="0"/>
                  </a:spcBef>
                </a:pPr>
              </a:p>
            </p:txBody>
          </p:sp>
        </p:grpSp>
        <p:sp>
          <p:nvSpPr>
            <p:cNvPr name="TextBox 16" id="16"/>
            <p:cNvSpPr txBox="true"/>
            <p:nvPr/>
          </p:nvSpPr>
          <p:spPr>
            <a:xfrm rot="0">
              <a:off x="607420" y="55553"/>
              <a:ext cx="6410715" cy="1491827"/>
            </a:xfrm>
            <a:prstGeom prst="rect">
              <a:avLst/>
            </a:prstGeom>
          </p:spPr>
          <p:txBody>
            <a:bodyPr anchor="t" rtlCol="false" tIns="0" lIns="0" bIns="0" rIns="0">
              <a:spAutoFit/>
            </a:bodyPr>
            <a:lstStyle/>
            <a:p>
              <a:pPr algn="just" marL="0" indent="0" lvl="0">
                <a:lnSpc>
                  <a:spcPts val="3040"/>
                </a:lnSpc>
                <a:spcBef>
                  <a:spcPct val="0"/>
                </a:spcBef>
              </a:pPr>
              <a:r>
                <a:rPr lang="en-US" b="true" sz="2000">
                  <a:solidFill>
                    <a:srgbClr val="000000"/>
                  </a:solidFill>
                  <a:latin typeface="Roboto Bold"/>
                  <a:ea typeface="Roboto Bold"/>
                  <a:cs typeface="Roboto Bold"/>
                  <a:sym typeface="Roboto Bold"/>
                </a:rPr>
                <a:t>ĐIỂM NGHẼN THANH TOÁN</a:t>
              </a:r>
            </a:p>
            <a:p>
              <a:pPr algn="just" marL="0" indent="0" lvl="0">
                <a:lnSpc>
                  <a:spcPts val="3040"/>
                </a:lnSpc>
                <a:spcBef>
                  <a:spcPct val="0"/>
                </a:spcBef>
              </a:pPr>
              <a:r>
                <a:rPr lang="en-US" sz="2000" strike="noStrike" u="none">
                  <a:solidFill>
                    <a:srgbClr val="000000"/>
                  </a:solidFill>
                  <a:latin typeface="Roboto"/>
                  <a:ea typeface="Roboto"/>
                  <a:cs typeface="Roboto"/>
                  <a:sym typeface="Roboto"/>
                </a:rPr>
                <a:t>Tỷ lệ thất bại cao ở bước thanh toán doanh thu thực tế.</a:t>
              </a:r>
            </a:p>
          </p:txBody>
        </p:sp>
        <p:grpSp>
          <p:nvGrpSpPr>
            <p:cNvPr name="Group 17" id="17"/>
            <p:cNvGrpSpPr/>
            <p:nvPr/>
          </p:nvGrpSpPr>
          <p:grpSpPr>
            <a:xfrm rot="0">
              <a:off x="2777" y="0"/>
              <a:ext cx="7620000" cy="1905000"/>
              <a:chOff x="0" y="0"/>
              <a:chExt cx="2468756" cy="617189"/>
            </a:xfrm>
          </p:grpSpPr>
          <p:sp>
            <p:nvSpPr>
              <p:cNvPr name="Freeform 18" id="18"/>
              <p:cNvSpPr/>
              <p:nvPr/>
            </p:nvSpPr>
            <p:spPr>
              <a:xfrm flipH="false" flipV="false" rot="0">
                <a:off x="0" y="0"/>
                <a:ext cx="2468756" cy="617189"/>
              </a:xfrm>
              <a:custGeom>
                <a:avLst/>
                <a:gdLst/>
                <a:ahLst/>
                <a:cxnLst/>
                <a:rect r="r" b="b" t="t" l="l"/>
                <a:pathLst>
                  <a:path h="617189" w="2468756">
                    <a:moveTo>
                      <a:pt x="58251" y="0"/>
                    </a:moveTo>
                    <a:lnTo>
                      <a:pt x="2410506" y="0"/>
                    </a:lnTo>
                    <a:cubicBezTo>
                      <a:pt x="2442677" y="0"/>
                      <a:pt x="2468756" y="26080"/>
                      <a:pt x="2468756" y="58251"/>
                    </a:cubicBezTo>
                    <a:lnTo>
                      <a:pt x="2468756" y="558938"/>
                    </a:lnTo>
                    <a:cubicBezTo>
                      <a:pt x="2468756" y="591109"/>
                      <a:pt x="2442677" y="617189"/>
                      <a:pt x="2410506" y="617189"/>
                    </a:cubicBezTo>
                    <a:lnTo>
                      <a:pt x="58251" y="617189"/>
                    </a:lnTo>
                    <a:cubicBezTo>
                      <a:pt x="26080" y="617189"/>
                      <a:pt x="0" y="591109"/>
                      <a:pt x="0" y="558938"/>
                    </a:cubicBezTo>
                    <a:lnTo>
                      <a:pt x="0" y="58251"/>
                    </a:lnTo>
                    <a:cubicBezTo>
                      <a:pt x="0" y="26080"/>
                      <a:pt x="26080" y="0"/>
                      <a:pt x="5825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19" id="19"/>
              <p:cNvSpPr txBox="true"/>
              <p:nvPr/>
            </p:nvSpPr>
            <p:spPr>
              <a:xfrm>
                <a:off x="0" y="-47625"/>
                <a:ext cx="2468756" cy="664814"/>
              </a:xfrm>
              <a:prstGeom prst="rect">
                <a:avLst/>
              </a:prstGeom>
            </p:spPr>
            <p:txBody>
              <a:bodyPr anchor="ctr" rtlCol="false" tIns="33379" lIns="33379" bIns="33379" rIns="33379"/>
              <a:lstStyle/>
              <a:p>
                <a:pPr algn="ctr" marL="0" indent="0" lvl="0">
                  <a:lnSpc>
                    <a:spcPts val="2800"/>
                  </a:lnSpc>
                  <a:spcBef>
                    <a:spcPct val="0"/>
                  </a:spcBef>
                </a:pPr>
              </a:p>
            </p:txBody>
          </p:sp>
        </p:grpSp>
      </p:grpSp>
      <p:sp>
        <p:nvSpPr>
          <p:cNvPr name="AutoShape 20" id="20"/>
          <p:cNvSpPr/>
          <p:nvPr/>
        </p:nvSpPr>
        <p:spPr>
          <a:xfrm>
            <a:off x="1398423" y="3165248"/>
            <a:ext cx="15491155" cy="0"/>
          </a:xfrm>
          <a:prstGeom prst="line">
            <a:avLst/>
          </a:prstGeom>
          <a:ln cap="flat" w="38100">
            <a:gradFill>
              <a:gsLst>
                <a:gs pos="0">
                  <a:srgbClr val="3A58E4">
                    <a:alpha val="100000"/>
                  </a:srgbClr>
                </a:gs>
                <a:gs pos="100000">
                  <a:srgbClr val="293E9C">
                    <a:alpha val="100000"/>
                  </a:srgbClr>
                </a:gs>
              </a:gsLst>
              <a:path path="circle">
                <a:fillToRect l="0" r="100000" t="0" b="100000"/>
              </a:path>
              <a:tileRect r="0" l="-100000" b="0" t="-100000"/>
            </a:gradFill>
            <a:prstDash val="sysDash"/>
            <a:headEnd type="none" len="sm" w="sm"/>
            <a:tailEnd type="none" len="sm" w="sm"/>
          </a:ln>
        </p:spPr>
      </p:sp>
      <p:sp>
        <p:nvSpPr>
          <p:cNvPr name="AutoShape 21" id="21"/>
          <p:cNvSpPr/>
          <p:nvPr/>
        </p:nvSpPr>
        <p:spPr>
          <a:xfrm flipH="true" flipV="true">
            <a:off x="1398423" y="7445590"/>
            <a:ext cx="15491155" cy="0"/>
          </a:xfrm>
          <a:prstGeom prst="line">
            <a:avLst/>
          </a:prstGeom>
          <a:ln cap="flat" w="38100">
            <a:gradFill>
              <a:gsLst>
                <a:gs pos="0">
                  <a:srgbClr val="3A58E4">
                    <a:alpha val="100000"/>
                  </a:srgbClr>
                </a:gs>
                <a:gs pos="100000">
                  <a:srgbClr val="293E9C">
                    <a:alpha val="100000"/>
                  </a:srgbClr>
                </a:gs>
              </a:gsLst>
              <a:path path="circle">
                <a:fillToRect l="0" r="100000" t="0" b="100000"/>
              </a:path>
              <a:tileRect r="0" l="-100000" b="0" t="-100000"/>
            </a:gradFill>
            <a:prstDash val="sysDash"/>
            <a:headEnd type="none" len="sm" w="sm"/>
            <a:tailEnd type="none" len="sm" w="sm"/>
          </a:ln>
        </p:spPr>
      </p:sp>
      <p:grpSp>
        <p:nvGrpSpPr>
          <p:cNvPr name="Group 22" id="22"/>
          <p:cNvGrpSpPr/>
          <p:nvPr/>
        </p:nvGrpSpPr>
        <p:grpSpPr>
          <a:xfrm rot="0">
            <a:off x="1398423" y="8078683"/>
            <a:ext cx="15491155" cy="1691640"/>
            <a:chOff x="0" y="0"/>
            <a:chExt cx="20654873" cy="2255520"/>
          </a:xfrm>
        </p:grpSpPr>
        <p:sp>
          <p:nvSpPr>
            <p:cNvPr name="TextBox 23" id="23"/>
            <p:cNvSpPr txBox="true"/>
            <p:nvPr/>
          </p:nvSpPr>
          <p:spPr>
            <a:xfrm rot="0">
              <a:off x="550487" y="128253"/>
              <a:ext cx="5809844" cy="475827"/>
            </a:xfrm>
            <a:prstGeom prst="rect">
              <a:avLst/>
            </a:prstGeom>
          </p:spPr>
          <p:txBody>
            <a:bodyPr anchor="t" rtlCol="false" tIns="0" lIns="0" bIns="0" rIns="0">
              <a:spAutoFit/>
            </a:bodyPr>
            <a:lstStyle/>
            <a:p>
              <a:pPr algn="ctr" marL="0" indent="0" lvl="0">
                <a:lnSpc>
                  <a:spcPts val="3040"/>
                </a:lnSpc>
                <a:spcBef>
                  <a:spcPct val="0"/>
                </a:spcBef>
              </a:pPr>
              <a:r>
                <a:rPr lang="en-US" b="true" sz="2000">
                  <a:solidFill>
                    <a:srgbClr val="000000"/>
                  </a:solidFill>
                  <a:latin typeface="Roboto Bold"/>
                  <a:ea typeface="Roboto Bold"/>
                  <a:cs typeface="Roboto Bold"/>
                  <a:sym typeface="Roboto Bold"/>
                </a:rPr>
                <a:t>ƯU TIÊN MOBILE</a:t>
              </a:r>
            </a:p>
          </p:txBody>
        </p:sp>
        <p:grpSp>
          <p:nvGrpSpPr>
            <p:cNvPr name="Group 24" id="24"/>
            <p:cNvGrpSpPr/>
            <p:nvPr/>
          </p:nvGrpSpPr>
          <p:grpSpPr>
            <a:xfrm rot="0">
              <a:off x="6966382" y="0"/>
              <a:ext cx="6722110" cy="797560"/>
              <a:chOff x="0" y="0"/>
              <a:chExt cx="2177855" cy="258397"/>
            </a:xfrm>
          </p:grpSpPr>
          <p:sp>
            <p:nvSpPr>
              <p:cNvPr name="Freeform 25" id="25"/>
              <p:cNvSpPr/>
              <p:nvPr/>
            </p:nvSpPr>
            <p:spPr>
              <a:xfrm flipH="false" flipV="false" rot="0">
                <a:off x="0" y="0"/>
                <a:ext cx="2177855" cy="258397"/>
              </a:xfrm>
              <a:custGeom>
                <a:avLst/>
                <a:gdLst/>
                <a:ahLst/>
                <a:cxnLst/>
                <a:rect r="r" b="b" t="t" l="l"/>
                <a:pathLst>
                  <a:path h="258397" w="2177855">
                    <a:moveTo>
                      <a:pt x="66031" y="0"/>
                    </a:moveTo>
                    <a:lnTo>
                      <a:pt x="2111823" y="0"/>
                    </a:lnTo>
                    <a:cubicBezTo>
                      <a:pt x="2148291" y="0"/>
                      <a:pt x="2177855" y="29563"/>
                      <a:pt x="2177855" y="66031"/>
                    </a:cubicBezTo>
                    <a:lnTo>
                      <a:pt x="2177855" y="192365"/>
                    </a:lnTo>
                    <a:cubicBezTo>
                      <a:pt x="2177855" y="228833"/>
                      <a:pt x="2148291" y="258397"/>
                      <a:pt x="2111823" y="258397"/>
                    </a:cubicBezTo>
                    <a:lnTo>
                      <a:pt x="66031" y="258397"/>
                    </a:lnTo>
                    <a:cubicBezTo>
                      <a:pt x="29563" y="258397"/>
                      <a:pt x="0" y="228833"/>
                      <a:pt x="0" y="192365"/>
                    </a:cubicBezTo>
                    <a:lnTo>
                      <a:pt x="0" y="66031"/>
                    </a:lnTo>
                    <a:cubicBezTo>
                      <a:pt x="0" y="29563"/>
                      <a:pt x="29563" y="0"/>
                      <a:pt x="6603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26" id="26"/>
              <p:cNvSpPr txBox="true"/>
              <p:nvPr/>
            </p:nvSpPr>
            <p:spPr>
              <a:xfrm>
                <a:off x="0" y="-47625"/>
                <a:ext cx="2177855" cy="306022"/>
              </a:xfrm>
              <a:prstGeom prst="rect">
                <a:avLst/>
              </a:prstGeom>
            </p:spPr>
            <p:txBody>
              <a:bodyPr anchor="ctr" rtlCol="false" tIns="33379" lIns="33379" bIns="33379" rIns="33379"/>
              <a:lstStyle/>
              <a:p>
                <a:pPr algn="ctr" marL="0" indent="0" lvl="0">
                  <a:lnSpc>
                    <a:spcPts val="2800"/>
                  </a:lnSpc>
                  <a:spcBef>
                    <a:spcPct val="0"/>
                  </a:spcBef>
                </a:pPr>
              </a:p>
            </p:txBody>
          </p:sp>
        </p:grpSp>
        <p:sp>
          <p:nvSpPr>
            <p:cNvPr name="TextBox 27" id="27"/>
            <p:cNvSpPr txBox="true"/>
            <p:nvPr/>
          </p:nvSpPr>
          <p:spPr>
            <a:xfrm rot="0">
              <a:off x="7520477" y="132789"/>
              <a:ext cx="5847931" cy="475116"/>
            </a:xfrm>
            <a:prstGeom prst="rect">
              <a:avLst/>
            </a:prstGeom>
          </p:spPr>
          <p:txBody>
            <a:bodyPr anchor="t" rtlCol="false" tIns="0" lIns="0" bIns="0" rIns="0">
              <a:spAutoFit/>
            </a:bodyPr>
            <a:lstStyle/>
            <a:p>
              <a:pPr algn="ctr" marL="0" indent="0" lvl="0">
                <a:lnSpc>
                  <a:spcPts val="3059"/>
                </a:lnSpc>
                <a:spcBef>
                  <a:spcPct val="0"/>
                </a:spcBef>
              </a:pPr>
              <a:r>
                <a:rPr lang="en-US" b="true" sz="2013">
                  <a:solidFill>
                    <a:srgbClr val="000000"/>
                  </a:solidFill>
                  <a:latin typeface="Roboto Bold"/>
                  <a:ea typeface="Roboto Bold"/>
                  <a:cs typeface="Roboto Bold"/>
                  <a:sym typeface="Roboto Bold"/>
                </a:rPr>
                <a:t>TẬP TRUNG PHÂN KHÚC</a:t>
              </a:r>
            </a:p>
          </p:txBody>
        </p:sp>
        <p:grpSp>
          <p:nvGrpSpPr>
            <p:cNvPr name="Group 28" id="28"/>
            <p:cNvGrpSpPr/>
            <p:nvPr/>
          </p:nvGrpSpPr>
          <p:grpSpPr>
            <a:xfrm rot="0">
              <a:off x="13932763" y="0"/>
              <a:ext cx="6722110" cy="797560"/>
              <a:chOff x="0" y="0"/>
              <a:chExt cx="2177855" cy="258397"/>
            </a:xfrm>
          </p:grpSpPr>
          <p:sp>
            <p:nvSpPr>
              <p:cNvPr name="Freeform 29" id="29"/>
              <p:cNvSpPr/>
              <p:nvPr/>
            </p:nvSpPr>
            <p:spPr>
              <a:xfrm flipH="false" flipV="false" rot="0">
                <a:off x="0" y="0"/>
                <a:ext cx="2177855" cy="258397"/>
              </a:xfrm>
              <a:custGeom>
                <a:avLst/>
                <a:gdLst/>
                <a:ahLst/>
                <a:cxnLst/>
                <a:rect r="r" b="b" t="t" l="l"/>
                <a:pathLst>
                  <a:path h="258397" w="2177855">
                    <a:moveTo>
                      <a:pt x="66031" y="0"/>
                    </a:moveTo>
                    <a:lnTo>
                      <a:pt x="2111823" y="0"/>
                    </a:lnTo>
                    <a:cubicBezTo>
                      <a:pt x="2148291" y="0"/>
                      <a:pt x="2177855" y="29563"/>
                      <a:pt x="2177855" y="66031"/>
                    </a:cubicBezTo>
                    <a:lnTo>
                      <a:pt x="2177855" y="192365"/>
                    </a:lnTo>
                    <a:cubicBezTo>
                      <a:pt x="2177855" y="228833"/>
                      <a:pt x="2148291" y="258397"/>
                      <a:pt x="2111823" y="258397"/>
                    </a:cubicBezTo>
                    <a:lnTo>
                      <a:pt x="66031" y="258397"/>
                    </a:lnTo>
                    <a:cubicBezTo>
                      <a:pt x="29563" y="258397"/>
                      <a:pt x="0" y="228833"/>
                      <a:pt x="0" y="192365"/>
                    </a:cubicBezTo>
                    <a:lnTo>
                      <a:pt x="0" y="66031"/>
                    </a:lnTo>
                    <a:cubicBezTo>
                      <a:pt x="0" y="29563"/>
                      <a:pt x="29563" y="0"/>
                      <a:pt x="6603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30" id="30"/>
              <p:cNvSpPr txBox="true"/>
              <p:nvPr/>
            </p:nvSpPr>
            <p:spPr>
              <a:xfrm>
                <a:off x="0" y="-47625"/>
                <a:ext cx="2177855" cy="306022"/>
              </a:xfrm>
              <a:prstGeom prst="rect">
                <a:avLst/>
              </a:prstGeom>
            </p:spPr>
            <p:txBody>
              <a:bodyPr anchor="ctr" rtlCol="false" tIns="33379" lIns="33379" bIns="33379" rIns="33379"/>
              <a:lstStyle/>
              <a:p>
                <a:pPr algn="ctr" marL="0" indent="0" lvl="0">
                  <a:lnSpc>
                    <a:spcPts val="2800"/>
                  </a:lnSpc>
                  <a:spcBef>
                    <a:spcPct val="0"/>
                  </a:spcBef>
                </a:pPr>
              </a:p>
            </p:txBody>
          </p:sp>
        </p:grpSp>
        <p:sp>
          <p:nvSpPr>
            <p:cNvPr name="TextBox 31" id="31"/>
            <p:cNvSpPr txBox="true"/>
            <p:nvPr/>
          </p:nvSpPr>
          <p:spPr>
            <a:xfrm rot="0">
              <a:off x="14486859" y="132789"/>
              <a:ext cx="5847931" cy="475116"/>
            </a:xfrm>
            <a:prstGeom prst="rect">
              <a:avLst/>
            </a:prstGeom>
          </p:spPr>
          <p:txBody>
            <a:bodyPr anchor="t" rtlCol="false" tIns="0" lIns="0" bIns="0" rIns="0">
              <a:spAutoFit/>
            </a:bodyPr>
            <a:lstStyle/>
            <a:p>
              <a:pPr algn="ctr" marL="0" indent="0" lvl="0">
                <a:lnSpc>
                  <a:spcPts val="3059"/>
                </a:lnSpc>
                <a:spcBef>
                  <a:spcPct val="0"/>
                </a:spcBef>
              </a:pPr>
              <a:r>
                <a:rPr lang="en-US" b="true" sz="2013" strike="noStrike" u="none">
                  <a:solidFill>
                    <a:srgbClr val="000000"/>
                  </a:solidFill>
                  <a:latin typeface="Roboto Bold"/>
                  <a:ea typeface="Roboto Bold"/>
                  <a:cs typeface="Roboto Bold"/>
                  <a:sym typeface="Roboto Bold"/>
                </a:rPr>
                <a:t>TỐI ƯU THANH TOÁN</a:t>
              </a:r>
            </a:p>
          </p:txBody>
        </p:sp>
        <p:grpSp>
          <p:nvGrpSpPr>
            <p:cNvPr name="Group 32" id="32"/>
            <p:cNvGrpSpPr/>
            <p:nvPr/>
          </p:nvGrpSpPr>
          <p:grpSpPr>
            <a:xfrm rot="0">
              <a:off x="0" y="0"/>
              <a:ext cx="6722110" cy="797560"/>
              <a:chOff x="0" y="0"/>
              <a:chExt cx="2192132" cy="260090"/>
            </a:xfrm>
          </p:grpSpPr>
          <p:sp>
            <p:nvSpPr>
              <p:cNvPr name="Freeform 33" id="33"/>
              <p:cNvSpPr/>
              <p:nvPr/>
            </p:nvSpPr>
            <p:spPr>
              <a:xfrm flipH="false" flipV="false" rot="0">
                <a:off x="0" y="0"/>
                <a:ext cx="2192132" cy="260090"/>
              </a:xfrm>
              <a:custGeom>
                <a:avLst/>
                <a:gdLst/>
                <a:ahLst/>
                <a:cxnLst/>
                <a:rect r="r" b="b" t="t" l="l"/>
                <a:pathLst>
                  <a:path h="260090" w="2192132">
                    <a:moveTo>
                      <a:pt x="66031" y="0"/>
                    </a:moveTo>
                    <a:lnTo>
                      <a:pt x="2126100" y="0"/>
                    </a:lnTo>
                    <a:cubicBezTo>
                      <a:pt x="2143613" y="0"/>
                      <a:pt x="2160408" y="6957"/>
                      <a:pt x="2172792" y="19340"/>
                    </a:cubicBezTo>
                    <a:cubicBezTo>
                      <a:pt x="2185175" y="31723"/>
                      <a:pt x="2192132" y="48519"/>
                      <a:pt x="2192132" y="66031"/>
                    </a:cubicBezTo>
                    <a:lnTo>
                      <a:pt x="2192132" y="194059"/>
                    </a:lnTo>
                    <a:cubicBezTo>
                      <a:pt x="2192132" y="230527"/>
                      <a:pt x="2162568" y="260090"/>
                      <a:pt x="2126100" y="260090"/>
                    </a:cubicBezTo>
                    <a:lnTo>
                      <a:pt x="66031" y="260090"/>
                    </a:lnTo>
                    <a:cubicBezTo>
                      <a:pt x="29563" y="260090"/>
                      <a:pt x="0" y="230527"/>
                      <a:pt x="0" y="194059"/>
                    </a:cubicBezTo>
                    <a:lnTo>
                      <a:pt x="0" y="66031"/>
                    </a:lnTo>
                    <a:cubicBezTo>
                      <a:pt x="0" y="29563"/>
                      <a:pt x="29563" y="0"/>
                      <a:pt x="6603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34" id="34"/>
              <p:cNvSpPr txBox="true"/>
              <p:nvPr/>
            </p:nvSpPr>
            <p:spPr>
              <a:xfrm>
                <a:off x="0" y="-47625"/>
                <a:ext cx="2192132" cy="307715"/>
              </a:xfrm>
              <a:prstGeom prst="rect">
                <a:avLst/>
              </a:prstGeom>
            </p:spPr>
            <p:txBody>
              <a:bodyPr anchor="ctr" rtlCol="false" tIns="33161" lIns="33161" bIns="33161" rIns="33161"/>
              <a:lstStyle/>
              <a:p>
                <a:pPr algn="ctr" marL="0" indent="0" lvl="0">
                  <a:lnSpc>
                    <a:spcPts val="2800"/>
                  </a:lnSpc>
                  <a:spcBef>
                    <a:spcPct val="0"/>
                  </a:spcBef>
                </a:pPr>
              </a:p>
            </p:txBody>
          </p:sp>
        </p:grpSp>
        <p:grpSp>
          <p:nvGrpSpPr>
            <p:cNvPr name="Group 35" id="35"/>
            <p:cNvGrpSpPr/>
            <p:nvPr/>
          </p:nvGrpSpPr>
          <p:grpSpPr>
            <a:xfrm rot="0">
              <a:off x="11128134" y="1457960"/>
              <a:ext cx="6722110" cy="797560"/>
              <a:chOff x="0" y="0"/>
              <a:chExt cx="2177320" cy="258333"/>
            </a:xfrm>
          </p:grpSpPr>
          <p:sp>
            <p:nvSpPr>
              <p:cNvPr name="Freeform 36" id="36"/>
              <p:cNvSpPr/>
              <p:nvPr/>
            </p:nvSpPr>
            <p:spPr>
              <a:xfrm flipH="false" flipV="false" rot="0">
                <a:off x="0" y="0"/>
                <a:ext cx="2177320" cy="258333"/>
              </a:xfrm>
              <a:custGeom>
                <a:avLst/>
                <a:gdLst/>
                <a:ahLst/>
                <a:cxnLst/>
                <a:rect r="r" b="b" t="t" l="l"/>
                <a:pathLst>
                  <a:path h="258333" w="2177320">
                    <a:moveTo>
                      <a:pt x="66031" y="0"/>
                    </a:moveTo>
                    <a:lnTo>
                      <a:pt x="2111289" y="0"/>
                    </a:lnTo>
                    <a:cubicBezTo>
                      <a:pt x="2147757" y="0"/>
                      <a:pt x="2177320" y="29563"/>
                      <a:pt x="2177320" y="66031"/>
                    </a:cubicBezTo>
                    <a:lnTo>
                      <a:pt x="2177320" y="192302"/>
                    </a:lnTo>
                    <a:cubicBezTo>
                      <a:pt x="2177320" y="228770"/>
                      <a:pt x="2147757" y="258333"/>
                      <a:pt x="2111289" y="258333"/>
                    </a:cubicBezTo>
                    <a:lnTo>
                      <a:pt x="66031" y="258333"/>
                    </a:lnTo>
                    <a:cubicBezTo>
                      <a:pt x="29563" y="258333"/>
                      <a:pt x="0" y="228770"/>
                      <a:pt x="0" y="192302"/>
                    </a:cubicBezTo>
                    <a:lnTo>
                      <a:pt x="0" y="66031"/>
                    </a:lnTo>
                    <a:cubicBezTo>
                      <a:pt x="0" y="29563"/>
                      <a:pt x="29563" y="0"/>
                      <a:pt x="6603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37" id="37"/>
              <p:cNvSpPr txBox="true"/>
              <p:nvPr/>
            </p:nvSpPr>
            <p:spPr>
              <a:xfrm>
                <a:off x="0" y="-47625"/>
                <a:ext cx="2177320" cy="305958"/>
              </a:xfrm>
              <a:prstGeom prst="rect">
                <a:avLst/>
              </a:prstGeom>
            </p:spPr>
            <p:txBody>
              <a:bodyPr anchor="ctr" rtlCol="false" tIns="33387" lIns="33387" bIns="33387" rIns="33387"/>
              <a:lstStyle/>
              <a:p>
                <a:pPr algn="ctr" marL="0" indent="0" lvl="0">
                  <a:lnSpc>
                    <a:spcPts val="2800"/>
                  </a:lnSpc>
                  <a:spcBef>
                    <a:spcPct val="0"/>
                  </a:spcBef>
                </a:pPr>
              </a:p>
            </p:txBody>
          </p:sp>
        </p:grpSp>
        <p:sp>
          <p:nvSpPr>
            <p:cNvPr name="TextBox 38" id="38"/>
            <p:cNvSpPr txBox="true"/>
            <p:nvPr/>
          </p:nvSpPr>
          <p:spPr>
            <a:xfrm rot="0">
              <a:off x="11682187" y="1590801"/>
              <a:ext cx="5847477" cy="475089"/>
            </a:xfrm>
            <a:prstGeom prst="rect">
              <a:avLst/>
            </a:prstGeom>
          </p:spPr>
          <p:txBody>
            <a:bodyPr anchor="t" rtlCol="false" tIns="0" lIns="0" bIns="0" rIns="0">
              <a:spAutoFit/>
            </a:bodyPr>
            <a:lstStyle/>
            <a:p>
              <a:pPr algn="ctr" marL="0" indent="0" lvl="0">
                <a:lnSpc>
                  <a:spcPts val="3060"/>
                </a:lnSpc>
                <a:spcBef>
                  <a:spcPct val="0"/>
                </a:spcBef>
              </a:pPr>
              <a:r>
                <a:rPr lang="en-US" b="true" sz="2013" strike="noStrike" u="none">
                  <a:solidFill>
                    <a:srgbClr val="000000"/>
                  </a:solidFill>
                  <a:latin typeface="Roboto Bold"/>
                  <a:ea typeface="Roboto Bold"/>
                  <a:cs typeface="Roboto Bold"/>
                  <a:sym typeface="Roboto Bold"/>
                </a:rPr>
                <a:t>THIẾT KẾ THEO THỜI ĐIỂM</a:t>
              </a:r>
            </a:p>
          </p:txBody>
        </p:sp>
        <p:grpSp>
          <p:nvGrpSpPr>
            <p:cNvPr name="Group 39" id="39"/>
            <p:cNvGrpSpPr/>
            <p:nvPr/>
          </p:nvGrpSpPr>
          <p:grpSpPr>
            <a:xfrm rot="0">
              <a:off x="3455409" y="1457960"/>
              <a:ext cx="6722110" cy="797560"/>
              <a:chOff x="0" y="0"/>
              <a:chExt cx="2177320" cy="258333"/>
            </a:xfrm>
          </p:grpSpPr>
          <p:sp>
            <p:nvSpPr>
              <p:cNvPr name="Freeform 40" id="40"/>
              <p:cNvSpPr/>
              <p:nvPr/>
            </p:nvSpPr>
            <p:spPr>
              <a:xfrm flipH="false" flipV="false" rot="0">
                <a:off x="0" y="0"/>
                <a:ext cx="2177320" cy="258333"/>
              </a:xfrm>
              <a:custGeom>
                <a:avLst/>
                <a:gdLst/>
                <a:ahLst/>
                <a:cxnLst/>
                <a:rect r="r" b="b" t="t" l="l"/>
                <a:pathLst>
                  <a:path h="258333" w="2177320">
                    <a:moveTo>
                      <a:pt x="66031" y="0"/>
                    </a:moveTo>
                    <a:lnTo>
                      <a:pt x="2111289" y="0"/>
                    </a:lnTo>
                    <a:cubicBezTo>
                      <a:pt x="2147757" y="0"/>
                      <a:pt x="2177320" y="29563"/>
                      <a:pt x="2177320" y="66031"/>
                    </a:cubicBezTo>
                    <a:lnTo>
                      <a:pt x="2177320" y="192302"/>
                    </a:lnTo>
                    <a:cubicBezTo>
                      <a:pt x="2177320" y="228770"/>
                      <a:pt x="2147757" y="258333"/>
                      <a:pt x="2111289" y="258333"/>
                    </a:cubicBezTo>
                    <a:lnTo>
                      <a:pt x="66031" y="258333"/>
                    </a:lnTo>
                    <a:cubicBezTo>
                      <a:pt x="29563" y="258333"/>
                      <a:pt x="0" y="228770"/>
                      <a:pt x="0" y="192302"/>
                    </a:cubicBezTo>
                    <a:lnTo>
                      <a:pt x="0" y="66031"/>
                    </a:lnTo>
                    <a:cubicBezTo>
                      <a:pt x="0" y="29563"/>
                      <a:pt x="29563" y="0"/>
                      <a:pt x="66031"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41" id="41"/>
              <p:cNvSpPr txBox="true"/>
              <p:nvPr/>
            </p:nvSpPr>
            <p:spPr>
              <a:xfrm>
                <a:off x="0" y="-47625"/>
                <a:ext cx="2177320" cy="305958"/>
              </a:xfrm>
              <a:prstGeom prst="rect">
                <a:avLst/>
              </a:prstGeom>
            </p:spPr>
            <p:txBody>
              <a:bodyPr anchor="ctr" rtlCol="false" tIns="33387" lIns="33387" bIns="33387" rIns="33387"/>
              <a:lstStyle/>
              <a:p>
                <a:pPr algn="ctr" marL="0" indent="0" lvl="0">
                  <a:lnSpc>
                    <a:spcPts val="2800"/>
                  </a:lnSpc>
                  <a:spcBef>
                    <a:spcPct val="0"/>
                  </a:spcBef>
                </a:pPr>
              </a:p>
            </p:txBody>
          </p:sp>
        </p:grpSp>
        <p:sp>
          <p:nvSpPr>
            <p:cNvPr name="TextBox 42" id="42"/>
            <p:cNvSpPr txBox="true"/>
            <p:nvPr/>
          </p:nvSpPr>
          <p:spPr>
            <a:xfrm rot="0">
              <a:off x="4009462" y="1590801"/>
              <a:ext cx="5847477" cy="475089"/>
            </a:xfrm>
            <a:prstGeom prst="rect">
              <a:avLst/>
            </a:prstGeom>
          </p:spPr>
          <p:txBody>
            <a:bodyPr anchor="t" rtlCol="false" tIns="0" lIns="0" bIns="0" rIns="0">
              <a:spAutoFit/>
            </a:bodyPr>
            <a:lstStyle/>
            <a:p>
              <a:pPr algn="ctr" marL="0" indent="0" lvl="0">
                <a:lnSpc>
                  <a:spcPts val="3060"/>
                </a:lnSpc>
                <a:spcBef>
                  <a:spcPct val="0"/>
                </a:spcBef>
              </a:pPr>
              <a:r>
                <a:rPr lang="en-US" b="true" sz="2013" strike="noStrike" u="none">
                  <a:solidFill>
                    <a:srgbClr val="000000"/>
                  </a:solidFill>
                  <a:latin typeface="Roboto Bold"/>
                  <a:ea typeface="Roboto Bold"/>
                  <a:cs typeface="Roboto Bold"/>
                  <a:sym typeface="Roboto Bold"/>
                </a:rPr>
                <a:t>CHUYỂN ĐỔI KHUYẾN MÃI</a:t>
              </a:r>
            </a:p>
          </p:txBody>
        </p:sp>
      </p:grpSp>
      <p:grpSp>
        <p:nvGrpSpPr>
          <p:cNvPr name="Group 43" id="43"/>
          <p:cNvGrpSpPr/>
          <p:nvPr/>
        </p:nvGrpSpPr>
        <p:grpSpPr>
          <a:xfrm rot="0">
            <a:off x="5491609" y="1436222"/>
            <a:ext cx="7304782" cy="1428750"/>
            <a:chOff x="0" y="0"/>
            <a:chExt cx="9739710" cy="1905000"/>
          </a:xfrm>
        </p:grpSpPr>
        <p:sp>
          <p:nvSpPr>
            <p:cNvPr name="TextBox 44" id="44"/>
            <p:cNvSpPr txBox="true"/>
            <p:nvPr/>
          </p:nvSpPr>
          <p:spPr>
            <a:xfrm rot="0">
              <a:off x="3869015" y="134493"/>
              <a:ext cx="2001680" cy="488823"/>
            </a:xfrm>
            <a:prstGeom prst="rect">
              <a:avLst/>
            </a:prstGeom>
          </p:spPr>
          <p:txBody>
            <a:bodyPr anchor="t" rtlCol="false" tIns="0" lIns="0" bIns="0" rIns="0">
              <a:spAutoFit/>
            </a:bodyPr>
            <a:lstStyle/>
            <a:p>
              <a:pPr algn="ctr" marL="0" indent="0" lvl="0">
                <a:lnSpc>
                  <a:spcPts val="2966"/>
                </a:lnSpc>
                <a:spcBef>
                  <a:spcPct val="0"/>
                </a:spcBef>
              </a:pPr>
              <a:r>
                <a:rPr lang="en-US" b="true" sz="2299" spc="-6">
                  <a:solidFill>
                    <a:srgbClr val="000000"/>
                  </a:solidFill>
                  <a:latin typeface="Roboto Bold"/>
                  <a:ea typeface="Roboto Bold"/>
                  <a:cs typeface="Roboto Bold"/>
                  <a:sym typeface="Roboto Bold"/>
                </a:rPr>
                <a:t>BỐI CẢNH</a:t>
              </a:r>
            </a:p>
          </p:txBody>
        </p:sp>
        <p:sp>
          <p:nvSpPr>
            <p:cNvPr name="TextBox 45" id="45"/>
            <p:cNvSpPr txBox="true"/>
            <p:nvPr/>
          </p:nvSpPr>
          <p:spPr>
            <a:xfrm rot="0">
              <a:off x="0" y="757809"/>
              <a:ext cx="9739710" cy="984123"/>
            </a:xfrm>
            <a:prstGeom prst="rect">
              <a:avLst/>
            </a:prstGeom>
          </p:spPr>
          <p:txBody>
            <a:bodyPr anchor="t" rtlCol="false" tIns="0" lIns="0" bIns="0" rIns="0">
              <a:spAutoFit/>
            </a:bodyPr>
            <a:lstStyle/>
            <a:p>
              <a:pPr algn="ctr" marL="0" indent="0" lvl="0">
                <a:lnSpc>
                  <a:spcPts val="2966"/>
                </a:lnSpc>
                <a:spcBef>
                  <a:spcPct val="0"/>
                </a:spcBef>
              </a:pPr>
              <a:r>
                <a:rPr lang="en-US" sz="2299" spc="-6" strike="noStrike" u="none">
                  <a:solidFill>
                    <a:srgbClr val="000000"/>
                  </a:solidFill>
                  <a:latin typeface="Roboto"/>
                  <a:ea typeface="Roboto"/>
                  <a:cs typeface="Roboto"/>
                  <a:sym typeface="Roboto"/>
                </a:rPr>
                <a:t>Dữ liệu đặt vé 2019–2022 cần phân tích để tăng giao dịch và cải thiện sản phẩm</a:t>
              </a:r>
            </a:p>
          </p:txBody>
        </p:sp>
        <p:grpSp>
          <p:nvGrpSpPr>
            <p:cNvPr name="Group 46" id="46"/>
            <p:cNvGrpSpPr/>
            <p:nvPr/>
          </p:nvGrpSpPr>
          <p:grpSpPr>
            <a:xfrm rot="0">
              <a:off x="0" y="0"/>
              <a:ext cx="9739710" cy="1905000"/>
              <a:chOff x="0" y="0"/>
              <a:chExt cx="3155508" cy="617189"/>
            </a:xfrm>
          </p:grpSpPr>
          <p:sp>
            <p:nvSpPr>
              <p:cNvPr name="Freeform 47" id="47"/>
              <p:cNvSpPr/>
              <p:nvPr/>
            </p:nvSpPr>
            <p:spPr>
              <a:xfrm flipH="false" flipV="false" rot="0">
                <a:off x="0" y="0"/>
                <a:ext cx="3155508" cy="617189"/>
              </a:xfrm>
              <a:custGeom>
                <a:avLst/>
                <a:gdLst/>
                <a:ahLst/>
                <a:cxnLst/>
                <a:rect r="r" b="b" t="t" l="l"/>
                <a:pathLst>
                  <a:path h="617189" w="3155508">
                    <a:moveTo>
                      <a:pt x="45573" y="0"/>
                    </a:moveTo>
                    <a:lnTo>
                      <a:pt x="3109935" y="0"/>
                    </a:lnTo>
                    <a:cubicBezTo>
                      <a:pt x="3135104" y="0"/>
                      <a:pt x="3155508" y="20404"/>
                      <a:pt x="3155508" y="45573"/>
                    </a:cubicBezTo>
                    <a:lnTo>
                      <a:pt x="3155508" y="571616"/>
                    </a:lnTo>
                    <a:cubicBezTo>
                      <a:pt x="3155508" y="596785"/>
                      <a:pt x="3135104" y="617189"/>
                      <a:pt x="3109935" y="617189"/>
                    </a:cubicBezTo>
                    <a:lnTo>
                      <a:pt x="45573" y="617189"/>
                    </a:lnTo>
                    <a:cubicBezTo>
                      <a:pt x="20404" y="617189"/>
                      <a:pt x="0" y="596785"/>
                      <a:pt x="0" y="571616"/>
                    </a:cubicBezTo>
                    <a:lnTo>
                      <a:pt x="0" y="45573"/>
                    </a:lnTo>
                    <a:cubicBezTo>
                      <a:pt x="0" y="20404"/>
                      <a:pt x="20404" y="0"/>
                      <a:pt x="45573" y="0"/>
                    </a:cubicBezTo>
                    <a:close/>
                  </a:path>
                </a:pathLst>
              </a:custGeom>
              <a:ln w="3810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48" id="48"/>
              <p:cNvSpPr txBox="true"/>
              <p:nvPr/>
            </p:nvSpPr>
            <p:spPr>
              <a:xfrm>
                <a:off x="0" y="-47625"/>
                <a:ext cx="3155508" cy="664814"/>
              </a:xfrm>
              <a:prstGeom prst="rect">
                <a:avLst/>
              </a:prstGeom>
            </p:spPr>
            <p:txBody>
              <a:bodyPr anchor="ctr" rtlCol="false" tIns="33379" lIns="33379" bIns="33379" rIns="33379"/>
              <a:lstStyle/>
              <a:p>
                <a:pPr algn="ctr" marL="0" indent="0" lvl="0">
                  <a:lnSpc>
                    <a:spcPts val="2800"/>
                  </a:lnSpc>
                  <a:spcBef>
                    <a:spcPct val="0"/>
                  </a:spcBef>
                </a:pPr>
              </a:p>
            </p:txBody>
          </p:sp>
        </p:grpSp>
      </p:grpSp>
      <p:sp>
        <p:nvSpPr>
          <p:cNvPr name="AutoShape 49" id="49"/>
          <p:cNvSpPr/>
          <p:nvPr/>
        </p:nvSpPr>
        <p:spPr>
          <a:xfrm>
            <a:off x="-156473" y="630601"/>
            <a:ext cx="5472578" cy="0"/>
          </a:xfrm>
          <a:prstGeom prst="line">
            <a:avLst/>
          </a:prstGeom>
          <a:ln cap="rnd" w="314325">
            <a:gradFill>
              <a:gsLst>
                <a:gs pos="0">
                  <a:srgbClr val="3A58E4">
                    <a:alpha val="100000"/>
                  </a:srgbClr>
                </a:gs>
                <a:gs pos="100000">
                  <a:srgbClr val="293E9C">
                    <a:alpha val="100000"/>
                  </a:srgbClr>
                </a:gs>
              </a:gsLst>
              <a:path path="circle">
                <a:fillToRect l="0" r="100000" t="0" b="100000"/>
              </a:path>
              <a:tileRect r="0" l="-100000" b="0" t="-100000"/>
            </a:gradFill>
            <a:prstDash val="solid"/>
            <a:headEnd type="none" len="sm" w="sm"/>
            <a:tailEnd type="none" len="sm" w="sm"/>
          </a:ln>
        </p:spPr>
      </p:sp>
      <p:sp>
        <p:nvSpPr>
          <p:cNvPr name="AutoShape 50" id="50"/>
          <p:cNvSpPr/>
          <p:nvPr/>
        </p:nvSpPr>
        <p:spPr>
          <a:xfrm>
            <a:off x="13378448" y="630601"/>
            <a:ext cx="5066024" cy="0"/>
          </a:xfrm>
          <a:prstGeom prst="line">
            <a:avLst/>
          </a:prstGeom>
          <a:ln cap="rnd" w="314325">
            <a:gradFill>
              <a:gsLst>
                <a:gs pos="0">
                  <a:srgbClr val="3A58E4">
                    <a:alpha val="100000"/>
                  </a:srgbClr>
                </a:gs>
                <a:gs pos="100000">
                  <a:srgbClr val="293E9C">
                    <a:alpha val="100000"/>
                  </a:srgbClr>
                </a:gs>
              </a:gsLst>
              <a:path path="circle">
                <a:fillToRect l="0" r="100000" t="0" b="100000"/>
              </a:path>
              <a:tileRect r="0" l="-100000" b="0" t="-100000"/>
            </a:gradFill>
            <a:prstDash val="solid"/>
            <a:headEnd type="none" len="sm" w="sm"/>
            <a:tailEnd type="none" len="sm" w="sm"/>
          </a:ln>
        </p:spPr>
      </p:sp>
      <p:sp>
        <p:nvSpPr>
          <p:cNvPr name="TextBox 51" id="51"/>
          <p:cNvSpPr txBox="true"/>
          <p:nvPr/>
        </p:nvSpPr>
        <p:spPr>
          <a:xfrm rot="0">
            <a:off x="7856637" y="7474165"/>
            <a:ext cx="2574727" cy="537844"/>
          </a:xfrm>
          <a:prstGeom prst="rect">
            <a:avLst/>
          </a:prstGeom>
        </p:spPr>
        <p:txBody>
          <a:bodyPr anchor="t" rtlCol="false" tIns="0" lIns="0" bIns="0" rIns="0">
            <a:spAutoFit/>
          </a:bodyPr>
          <a:lstStyle/>
          <a:p>
            <a:pPr algn="ctr" marL="0" indent="0" lvl="0">
              <a:lnSpc>
                <a:spcPts val="4480"/>
              </a:lnSpc>
              <a:spcBef>
                <a:spcPct val="0"/>
              </a:spcBef>
            </a:pPr>
            <a:r>
              <a:rPr lang="en-US" b="true" sz="3200">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CHIẾN LƯỢC</a:t>
            </a:r>
          </a:p>
        </p:txBody>
      </p:sp>
      <p:sp>
        <p:nvSpPr>
          <p:cNvPr name="TextBox 52" id="52"/>
          <p:cNvSpPr txBox="true"/>
          <p:nvPr/>
        </p:nvSpPr>
        <p:spPr>
          <a:xfrm rot="0">
            <a:off x="8288536" y="3276921"/>
            <a:ext cx="1710928" cy="537844"/>
          </a:xfrm>
          <a:prstGeom prst="rect">
            <a:avLst/>
          </a:prstGeom>
        </p:spPr>
        <p:txBody>
          <a:bodyPr anchor="t" rtlCol="false" tIns="0" lIns="0" bIns="0" rIns="0">
            <a:spAutoFit/>
          </a:bodyPr>
          <a:lstStyle/>
          <a:p>
            <a:pPr algn="ctr" marL="0" indent="0" lvl="0">
              <a:lnSpc>
                <a:spcPts val="4480"/>
              </a:lnSpc>
              <a:spcBef>
                <a:spcPct val="0"/>
              </a:spcBef>
            </a:pPr>
            <a:r>
              <a:rPr lang="en-US" b="true" sz="3200" strike="noStrike" u="none">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INSIGHT</a:t>
            </a:r>
          </a:p>
        </p:txBody>
      </p:sp>
      <p:sp>
        <p:nvSpPr>
          <p:cNvPr name="TextBox 53" id="53"/>
          <p:cNvSpPr txBox="true"/>
          <p:nvPr/>
        </p:nvSpPr>
        <p:spPr>
          <a:xfrm rot="0">
            <a:off x="5491609" y="158355"/>
            <a:ext cx="7724701" cy="1125466"/>
          </a:xfrm>
          <a:prstGeom prst="rect">
            <a:avLst/>
          </a:prstGeom>
        </p:spPr>
        <p:txBody>
          <a:bodyPr anchor="t" rtlCol="false" tIns="0" lIns="0" bIns="0" rIns="0">
            <a:spAutoFit/>
          </a:bodyPr>
          <a:lstStyle/>
          <a:p>
            <a:pPr algn="r" marL="0" indent="0" lvl="0">
              <a:lnSpc>
                <a:spcPts val="8405"/>
              </a:lnSpc>
            </a:pPr>
            <a:r>
              <a:rPr lang="en-US" b="true" sz="8577" spc="-548">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Tóm tắt báo cáo</a:t>
            </a:r>
          </a:p>
        </p:txBody>
      </p:sp>
      <p:grpSp>
        <p:nvGrpSpPr>
          <p:cNvPr name="Group 54" id="54"/>
          <p:cNvGrpSpPr/>
          <p:nvPr/>
        </p:nvGrpSpPr>
        <p:grpSpPr>
          <a:xfrm rot="0">
            <a:off x="15897199" y="9050272"/>
            <a:ext cx="3086100" cy="3086100"/>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CF1FE">
                <a:alpha val="63922"/>
              </a:srgbClr>
            </a:solidFill>
          </p:spPr>
        </p:sp>
        <p:sp>
          <p:nvSpPr>
            <p:cNvPr name="TextBox 56" id="56"/>
            <p:cNvSpPr txBox="true"/>
            <p:nvPr/>
          </p:nvSpPr>
          <p:spPr>
            <a:xfrm>
              <a:off x="76200" y="9525"/>
              <a:ext cx="660400" cy="727075"/>
            </a:xfrm>
            <a:prstGeom prst="rect">
              <a:avLst/>
            </a:prstGeom>
          </p:spPr>
          <p:txBody>
            <a:bodyPr anchor="ctr" rtlCol="false" tIns="50800" lIns="50800" bIns="50800" rIns="50800"/>
            <a:lstStyle/>
            <a:p>
              <a:pPr algn="ctr">
                <a:lnSpc>
                  <a:spcPts val="3429"/>
                </a:lnSpc>
              </a:pP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2000">
            <a:off x="-17898" y="-31887"/>
            <a:ext cx="18323797" cy="10350774"/>
          </a:xfrm>
          <a:custGeom>
            <a:avLst/>
            <a:gdLst/>
            <a:ahLst/>
            <a:cxnLst/>
            <a:rect r="r" b="b" t="t" l="l"/>
            <a:pathLst>
              <a:path h="10350774" w="18323797">
                <a:moveTo>
                  <a:pt x="35908" y="0"/>
                </a:moveTo>
                <a:lnTo>
                  <a:pt x="18323796" y="63837"/>
                </a:lnTo>
                <a:lnTo>
                  <a:pt x="18287888" y="10350774"/>
                </a:lnTo>
                <a:lnTo>
                  <a:pt x="0" y="10286937"/>
                </a:lnTo>
                <a:lnTo>
                  <a:pt x="35908" y="0"/>
                </a:lnTo>
                <a:close/>
              </a:path>
            </a:pathLst>
          </a:custGeom>
          <a:blipFill>
            <a:blip r:embed="rId2"/>
            <a:stretch>
              <a:fillRect l="-244" t="-3164" r="-3337" b="19"/>
            </a:stretch>
          </a:blipFill>
        </p:spPr>
      </p:sp>
      <p:grpSp>
        <p:nvGrpSpPr>
          <p:cNvPr name="Group 3" id="3"/>
          <p:cNvGrpSpPr/>
          <p:nvPr/>
        </p:nvGrpSpPr>
        <p:grpSpPr>
          <a:xfrm rot="0">
            <a:off x="4730174" y="1624512"/>
            <a:ext cx="4401734" cy="7401631"/>
            <a:chOff x="0" y="0"/>
            <a:chExt cx="905707" cy="1522969"/>
          </a:xfrm>
        </p:grpSpPr>
        <p:sp>
          <p:nvSpPr>
            <p:cNvPr name="Freeform 4" id="4"/>
            <p:cNvSpPr/>
            <p:nvPr/>
          </p:nvSpPr>
          <p:spPr>
            <a:xfrm flipH="false" flipV="false" rot="0">
              <a:off x="0" y="0"/>
              <a:ext cx="905707" cy="1522969"/>
            </a:xfrm>
            <a:custGeom>
              <a:avLst/>
              <a:gdLst/>
              <a:ahLst/>
              <a:cxnLst/>
              <a:rect r="r" b="b" t="t" l="l"/>
              <a:pathLst>
                <a:path h="1522969" w="905707">
                  <a:moveTo>
                    <a:pt x="34352" y="0"/>
                  </a:moveTo>
                  <a:lnTo>
                    <a:pt x="871354" y="0"/>
                  </a:lnTo>
                  <a:cubicBezTo>
                    <a:pt x="890327" y="0"/>
                    <a:pt x="905707" y="15380"/>
                    <a:pt x="905707" y="34352"/>
                  </a:cubicBezTo>
                  <a:lnTo>
                    <a:pt x="905707" y="1488617"/>
                  </a:lnTo>
                  <a:cubicBezTo>
                    <a:pt x="905707" y="1497728"/>
                    <a:pt x="902087" y="1506466"/>
                    <a:pt x="895645" y="1512908"/>
                  </a:cubicBezTo>
                  <a:cubicBezTo>
                    <a:pt x="889203" y="1519350"/>
                    <a:pt x="880465" y="1522969"/>
                    <a:pt x="871354" y="1522969"/>
                  </a:cubicBezTo>
                  <a:lnTo>
                    <a:pt x="34352" y="1522969"/>
                  </a:lnTo>
                  <a:cubicBezTo>
                    <a:pt x="25241" y="1522969"/>
                    <a:pt x="16504" y="1519350"/>
                    <a:pt x="10062" y="1512908"/>
                  </a:cubicBezTo>
                  <a:cubicBezTo>
                    <a:pt x="3619" y="1506466"/>
                    <a:pt x="0" y="1497728"/>
                    <a:pt x="0" y="1488617"/>
                  </a:cubicBezTo>
                  <a:lnTo>
                    <a:pt x="0" y="34352"/>
                  </a:lnTo>
                  <a:cubicBezTo>
                    <a:pt x="0" y="25241"/>
                    <a:pt x="3619" y="16504"/>
                    <a:pt x="10062" y="10062"/>
                  </a:cubicBezTo>
                  <a:cubicBezTo>
                    <a:pt x="16504" y="3619"/>
                    <a:pt x="25241" y="0"/>
                    <a:pt x="34352" y="0"/>
                  </a:cubicBezTo>
                  <a:close/>
                </a:path>
              </a:pathLst>
            </a:custGeom>
            <a:solidFill>
              <a:srgbClr val="FEFEFE">
                <a:alpha val="71765"/>
              </a:srgbClr>
            </a:solidFill>
            <a:ln w="38100" cap="rnd">
              <a:solidFill>
                <a:srgbClr val="AFBEFF">
                  <a:alpha val="71765"/>
                </a:srgbClr>
              </a:solidFill>
              <a:prstDash val="solid"/>
              <a:round/>
            </a:ln>
          </p:spPr>
        </p:sp>
        <p:sp>
          <p:nvSpPr>
            <p:cNvPr name="TextBox 5" id="5"/>
            <p:cNvSpPr txBox="true"/>
            <p:nvPr/>
          </p:nvSpPr>
          <p:spPr>
            <a:xfrm>
              <a:off x="0" y="-76200"/>
              <a:ext cx="905707" cy="1599169"/>
            </a:xfrm>
            <a:prstGeom prst="rect">
              <a:avLst/>
            </a:prstGeom>
          </p:spPr>
          <p:txBody>
            <a:bodyPr anchor="ctr" rtlCol="false" tIns="50800" lIns="50800" bIns="50800" rIns="50800"/>
            <a:lstStyle/>
            <a:p>
              <a:pPr algn="ctr" marL="0" indent="0" lvl="0">
                <a:lnSpc>
                  <a:spcPts val="3040"/>
                </a:lnSpc>
                <a:spcBef>
                  <a:spcPct val="0"/>
                </a:spcBef>
              </a:pPr>
            </a:p>
          </p:txBody>
        </p:sp>
      </p:grpSp>
      <p:grpSp>
        <p:nvGrpSpPr>
          <p:cNvPr name="Group 6" id="6"/>
          <p:cNvGrpSpPr/>
          <p:nvPr/>
        </p:nvGrpSpPr>
        <p:grpSpPr>
          <a:xfrm rot="0">
            <a:off x="9276779" y="1624512"/>
            <a:ext cx="4401734" cy="7401631"/>
            <a:chOff x="0" y="0"/>
            <a:chExt cx="905707" cy="1522969"/>
          </a:xfrm>
        </p:grpSpPr>
        <p:sp>
          <p:nvSpPr>
            <p:cNvPr name="Freeform 7" id="7"/>
            <p:cNvSpPr/>
            <p:nvPr/>
          </p:nvSpPr>
          <p:spPr>
            <a:xfrm flipH="false" flipV="false" rot="0">
              <a:off x="0" y="0"/>
              <a:ext cx="905707" cy="1522969"/>
            </a:xfrm>
            <a:custGeom>
              <a:avLst/>
              <a:gdLst/>
              <a:ahLst/>
              <a:cxnLst/>
              <a:rect r="r" b="b" t="t" l="l"/>
              <a:pathLst>
                <a:path h="1522969" w="905707">
                  <a:moveTo>
                    <a:pt x="34352" y="0"/>
                  </a:moveTo>
                  <a:lnTo>
                    <a:pt x="871354" y="0"/>
                  </a:lnTo>
                  <a:cubicBezTo>
                    <a:pt x="890327" y="0"/>
                    <a:pt x="905707" y="15380"/>
                    <a:pt x="905707" y="34352"/>
                  </a:cubicBezTo>
                  <a:lnTo>
                    <a:pt x="905707" y="1488617"/>
                  </a:lnTo>
                  <a:cubicBezTo>
                    <a:pt x="905707" y="1497728"/>
                    <a:pt x="902087" y="1506466"/>
                    <a:pt x="895645" y="1512908"/>
                  </a:cubicBezTo>
                  <a:cubicBezTo>
                    <a:pt x="889203" y="1519350"/>
                    <a:pt x="880465" y="1522969"/>
                    <a:pt x="871354" y="1522969"/>
                  </a:cubicBezTo>
                  <a:lnTo>
                    <a:pt x="34352" y="1522969"/>
                  </a:lnTo>
                  <a:cubicBezTo>
                    <a:pt x="25241" y="1522969"/>
                    <a:pt x="16504" y="1519350"/>
                    <a:pt x="10062" y="1512908"/>
                  </a:cubicBezTo>
                  <a:cubicBezTo>
                    <a:pt x="3619" y="1506466"/>
                    <a:pt x="0" y="1497728"/>
                    <a:pt x="0" y="1488617"/>
                  </a:cubicBezTo>
                  <a:lnTo>
                    <a:pt x="0" y="34352"/>
                  </a:lnTo>
                  <a:cubicBezTo>
                    <a:pt x="0" y="25241"/>
                    <a:pt x="3619" y="16504"/>
                    <a:pt x="10062" y="10062"/>
                  </a:cubicBezTo>
                  <a:cubicBezTo>
                    <a:pt x="16504" y="3619"/>
                    <a:pt x="25241" y="0"/>
                    <a:pt x="34352" y="0"/>
                  </a:cubicBezTo>
                  <a:close/>
                </a:path>
              </a:pathLst>
            </a:custGeom>
            <a:solidFill>
              <a:srgbClr val="FEFEFE">
                <a:alpha val="71765"/>
              </a:srgbClr>
            </a:solidFill>
            <a:ln w="38100" cap="rnd">
              <a:solidFill>
                <a:srgbClr val="AFBEFF">
                  <a:alpha val="71765"/>
                </a:srgbClr>
              </a:solidFill>
              <a:prstDash val="solid"/>
              <a:round/>
            </a:ln>
          </p:spPr>
        </p:sp>
        <p:sp>
          <p:nvSpPr>
            <p:cNvPr name="TextBox 8" id="8"/>
            <p:cNvSpPr txBox="true"/>
            <p:nvPr/>
          </p:nvSpPr>
          <p:spPr>
            <a:xfrm>
              <a:off x="0" y="-76200"/>
              <a:ext cx="905707" cy="1599169"/>
            </a:xfrm>
            <a:prstGeom prst="rect">
              <a:avLst/>
            </a:prstGeom>
          </p:spPr>
          <p:txBody>
            <a:bodyPr anchor="ctr" rtlCol="false" tIns="50800" lIns="50800" bIns="50800" rIns="50800"/>
            <a:lstStyle/>
            <a:p>
              <a:pPr algn="ctr" marL="0" indent="0" lvl="0">
                <a:lnSpc>
                  <a:spcPts val="3040"/>
                </a:lnSpc>
                <a:spcBef>
                  <a:spcPct val="0"/>
                </a:spcBef>
              </a:pPr>
            </a:p>
          </p:txBody>
        </p:sp>
      </p:grpSp>
      <p:grpSp>
        <p:nvGrpSpPr>
          <p:cNvPr name="Group 9" id="9"/>
          <p:cNvGrpSpPr/>
          <p:nvPr/>
        </p:nvGrpSpPr>
        <p:grpSpPr>
          <a:xfrm rot="0">
            <a:off x="9474060" y="2086523"/>
            <a:ext cx="4200660" cy="3016783"/>
            <a:chOff x="0" y="0"/>
            <a:chExt cx="5600881" cy="4022377"/>
          </a:xfrm>
        </p:grpSpPr>
        <p:grpSp>
          <p:nvGrpSpPr>
            <p:cNvPr name="Group 10" id="10"/>
            <p:cNvGrpSpPr/>
            <p:nvPr/>
          </p:nvGrpSpPr>
          <p:grpSpPr>
            <a:xfrm rot="0">
              <a:off x="1740130" y="241843"/>
              <a:ext cx="2120621" cy="212062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CECFD"/>
              </a:solidFill>
            </p:spPr>
          </p:sp>
          <p:sp>
            <p:nvSpPr>
              <p:cNvPr name="TextBox 12" id="12"/>
              <p:cNvSpPr txBox="true"/>
              <p:nvPr/>
            </p:nvSpPr>
            <p:spPr>
              <a:xfrm>
                <a:off x="76200" y="-9525"/>
                <a:ext cx="660400" cy="746125"/>
              </a:xfrm>
              <a:prstGeom prst="rect">
                <a:avLst/>
              </a:prstGeom>
            </p:spPr>
            <p:txBody>
              <a:bodyPr anchor="ctr" rtlCol="false" tIns="50800" lIns="50800" bIns="50800" rIns="50800"/>
              <a:lstStyle/>
              <a:p>
                <a:pPr algn="ctr" marL="0" indent="0" lvl="0">
                  <a:lnSpc>
                    <a:spcPts val="3040"/>
                  </a:lnSpc>
                  <a:spcBef>
                    <a:spcPct val="0"/>
                  </a:spcBef>
                </a:pPr>
              </a:p>
            </p:txBody>
          </p:sp>
        </p:grpSp>
        <p:sp>
          <p:nvSpPr>
            <p:cNvPr name="Freeform 13" id="13"/>
            <p:cNvSpPr/>
            <p:nvPr/>
          </p:nvSpPr>
          <p:spPr>
            <a:xfrm flipH="false" flipV="false" rot="0">
              <a:off x="2262089" y="496148"/>
              <a:ext cx="1076702" cy="1612011"/>
            </a:xfrm>
            <a:custGeom>
              <a:avLst/>
              <a:gdLst/>
              <a:ahLst/>
              <a:cxnLst/>
              <a:rect r="r" b="b" t="t" l="l"/>
              <a:pathLst>
                <a:path h="1612011" w="1076702">
                  <a:moveTo>
                    <a:pt x="0" y="0"/>
                  </a:moveTo>
                  <a:lnTo>
                    <a:pt x="1076702" y="0"/>
                  </a:lnTo>
                  <a:lnTo>
                    <a:pt x="1076702" y="1612011"/>
                  </a:lnTo>
                  <a:lnTo>
                    <a:pt x="0" y="1612011"/>
                  </a:lnTo>
                  <a:lnTo>
                    <a:pt x="0" y="0"/>
                  </a:lnTo>
                  <a:close/>
                </a:path>
              </a:pathLst>
            </a:custGeom>
            <a:blipFill>
              <a:blip r:embed="rId3"/>
              <a:stretch>
                <a:fillRect l="0" t="0" r="0" b="0"/>
              </a:stretch>
            </a:blipFill>
          </p:spPr>
        </p:sp>
        <p:sp>
          <p:nvSpPr>
            <p:cNvPr name="Freeform 14" id="14"/>
            <p:cNvSpPr/>
            <p:nvPr/>
          </p:nvSpPr>
          <p:spPr>
            <a:xfrm flipH="false" flipV="false" rot="0">
              <a:off x="1498287" y="0"/>
              <a:ext cx="2604307" cy="2604307"/>
            </a:xfrm>
            <a:custGeom>
              <a:avLst/>
              <a:gdLst/>
              <a:ahLst/>
              <a:cxnLst/>
              <a:rect r="r" b="b" t="t" l="l"/>
              <a:pathLst>
                <a:path h="2604307" w="2604307">
                  <a:moveTo>
                    <a:pt x="0" y="0"/>
                  </a:moveTo>
                  <a:lnTo>
                    <a:pt x="2604307" y="0"/>
                  </a:lnTo>
                  <a:lnTo>
                    <a:pt x="2604307" y="2604307"/>
                  </a:lnTo>
                  <a:lnTo>
                    <a:pt x="0" y="26043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5" id="15"/>
            <p:cNvSpPr/>
            <p:nvPr/>
          </p:nvSpPr>
          <p:spPr>
            <a:xfrm>
              <a:off x="2253478" y="3958486"/>
              <a:ext cx="1093925" cy="0"/>
            </a:xfrm>
            <a:prstGeom prst="line">
              <a:avLst/>
            </a:prstGeom>
            <a:ln cap="flat" w="12280">
              <a:solidFill>
                <a:srgbClr val="0847D6"/>
              </a:solidFill>
              <a:prstDash val="solid"/>
              <a:headEnd type="none" len="sm" w="sm"/>
              <a:tailEnd type="none" len="sm" w="sm"/>
            </a:ln>
          </p:spPr>
        </p:sp>
        <p:sp>
          <p:nvSpPr>
            <p:cNvPr name="Freeform 16" id="16"/>
            <p:cNvSpPr/>
            <p:nvPr/>
          </p:nvSpPr>
          <p:spPr>
            <a:xfrm flipH="false" flipV="false" rot="0">
              <a:off x="2736549" y="3894595"/>
              <a:ext cx="127782" cy="127782"/>
            </a:xfrm>
            <a:custGeom>
              <a:avLst/>
              <a:gdLst/>
              <a:ahLst/>
              <a:cxnLst/>
              <a:rect r="r" b="b" t="t" l="l"/>
              <a:pathLst>
                <a:path h="127782" w="127782">
                  <a:moveTo>
                    <a:pt x="0" y="0"/>
                  </a:moveTo>
                  <a:lnTo>
                    <a:pt x="127782" y="0"/>
                  </a:lnTo>
                  <a:lnTo>
                    <a:pt x="127782" y="127782"/>
                  </a:lnTo>
                  <a:lnTo>
                    <a:pt x="0" y="1277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7" id="17"/>
            <p:cNvSpPr txBox="true"/>
            <p:nvPr/>
          </p:nvSpPr>
          <p:spPr>
            <a:xfrm rot="0">
              <a:off x="0" y="2902932"/>
              <a:ext cx="5600881" cy="604381"/>
            </a:xfrm>
            <a:prstGeom prst="rect">
              <a:avLst/>
            </a:prstGeom>
          </p:spPr>
          <p:txBody>
            <a:bodyPr anchor="t" rtlCol="false" tIns="0" lIns="0" bIns="0" rIns="0">
              <a:spAutoFit/>
            </a:bodyPr>
            <a:lstStyle/>
            <a:p>
              <a:pPr algn="ctr" marL="0" indent="0" lvl="0">
                <a:lnSpc>
                  <a:spcPts val="3774"/>
                </a:lnSpc>
                <a:spcBef>
                  <a:spcPct val="0"/>
                </a:spcBef>
              </a:pPr>
              <a:r>
                <a:rPr lang="en-US" b="true" sz="2695" spc="-172" strike="noStrike" u="none">
                  <a:gradFill>
                    <a:gsLst>
                      <a:gs pos="0">
                        <a:srgbClr val="3A58E4">
                          <a:alpha val="100000"/>
                        </a:srgbClr>
                      </a:gs>
                      <a:gs pos="100000">
                        <a:srgbClr val="293E9C">
                          <a:alpha val="100000"/>
                        </a:srgbClr>
                      </a:gs>
                    </a:gsLst>
                    <a:path path="circle">
                      <a:fillToRect l="0" r="100000" t="0" b="100000"/>
                    </a:path>
                    <a:tileRect r="0" l="-100000" b="0" t="-100000"/>
                  </a:gradFill>
                  <a:latin typeface="Noto Sans Bold"/>
                  <a:ea typeface="Noto Sans Bold"/>
                  <a:cs typeface="Noto Sans Bold"/>
                  <a:sym typeface="Noto Sans Bold"/>
                </a:rPr>
                <a:t>KHUYẾN MÃI &amp; QUAY LẠI</a:t>
              </a:r>
            </a:p>
          </p:txBody>
        </p:sp>
      </p:grpSp>
      <p:grpSp>
        <p:nvGrpSpPr>
          <p:cNvPr name="Group 18" id="18"/>
          <p:cNvGrpSpPr/>
          <p:nvPr/>
        </p:nvGrpSpPr>
        <p:grpSpPr>
          <a:xfrm rot="0">
            <a:off x="13819591" y="1624512"/>
            <a:ext cx="4401734" cy="7401631"/>
            <a:chOff x="0" y="0"/>
            <a:chExt cx="905707" cy="1522969"/>
          </a:xfrm>
        </p:grpSpPr>
        <p:sp>
          <p:nvSpPr>
            <p:cNvPr name="Freeform 19" id="19"/>
            <p:cNvSpPr/>
            <p:nvPr/>
          </p:nvSpPr>
          <p:spPr>
            <a:xfrm flipH="false" flipV="false" rot="0">
              <a:off x="0" y="0"/>
              <a:ext cx="905707" cy="1522969"/>
            </a:xfrm>
            <a:custGeom>
              <a:avLst/>
              <a:gdLst/>
              <a:ahLst/>
              <a:cxnLst/>
              <a:rect r="r" b="b" t="t" l="l"/>
              <a:pathLst>
                <a:path h="1522969" w="905707">
                  <a:moveTo>
                    <a:pt x="34352" y="0"/>
                  </a:moveTo>
                  <a:lnTo>
                    <a:pt x="871354" y="0"/>
                  </a:lnTo>
                  <a:cubicBezTo>
                    <a:pt x="890327" y="0"/>
                    <a:pt x="905707" y="15380"/>
                    <a:pt x="905707" y="34352"/>
                  </a:cubicBezTo>
                  <a:lnTo>
                    <a:pt x="905707" y="1488617"/>
                  </a:lnTo>
                  <a:cubicBezTo>
                    <a:pt x="905707" y="1497728"/>
                    <a:pt x="902087" y="1506466"/>
                    <a:pt x="895645" y="1512908"/>
                  </a:cubicBezTo>
                  <a:cubicBezTo>
                    <a:pt x="889203" y="1519350"/>
                    <a:pt x="880465" y="1522969"/>
                    <a:pt x="871354" y="1522969"/>
                  </a:cubicBezTo>
                  <a:lnTo>
                    <a:pt x="34352" y="1522969"/>
                  </a:lnTo>
                  <a:cubicBezTo>
                    <a:pt x="25241" y="1522969"/>
                    <a:pt x="16504" y="1519350"/>
                    <a:pt x="10062" y="1512908"/>
                  </a:cubicBezTo>
                  <a:cubicBezTo>
                    <a:pt x="3619" y="1506466"/>
                    <a:pt x="0" y="1497728"/>
                    <a:pt x="0" y="1488617"/>
                  </a:cubicBezTo>
                  <a:lnTo>
                    <a:pt x="0" y="34352"/>
                  </a:lnTo>
                  <a:cubicBezTo>
                    <a:pt x="0" y="25241"/>
                    <a:pt x="3619" y="16504"/>
                    <a:pt x="10062" y="10062"/>
                  </a:cubicBezTo>
                  <a:cubicBezTo>
                    <a:pt x="16504" y="3619"/>
                    <a:pt x="25241" y="0"/>
                    <a:pt x="34352" y="0"/>
                  </a:cubicBezTo>
                  <a:close/>
                </a:path>
              </a:pathLst>
            </a:custGeom>
            <a:solidFill>
              <a:srgbClr val="FEFEFE">
                <a:alpha val="71765"/>
              </a:srgbClr>
            </a:solidFill>
            <a:ln w="38100" cap="rnd">
              <a:solidFill>
                <a:srgbClr val="AFBEFF">
                  <a:alpha val="71765"/>
                </a:srgbClr>
              </a:solidFill>
              <a:prstDash val="solid"/>
              <a:round/>
            </a:ln>
          </p:spPr>
        </p:sp>
        <p:sp>
          <p:nvSpPr>
            <p:cNvPr name="TextBox 20" id="20"/>
            <p:cNvSpPr txBox="true"/>
            <p:nvPr/>
          </p:nvSpPr>
          <p:spPr>
            <a:xfrm>
              <a:off x="0" y="-76200"/>
              <a:ext cx="905707" cy="1599169"/>
            </a:xfrm>
            <a:prstGeom prst="rect">
              <a:avLst/>
            </a:prstGeom>
          </p:spPr>
          <p:txBody>
            <a:bodyPr anchor="ctr" rtlCol="false" tIns="50800" lIns="50800" bIns="50800" rIns="50800"/>
            <a:lstStyle/>
            <a:p>
              <a:pPr algn="ctr" marL="0" indent="0" lvl="0">
                <a:lnSpc>
                  <a:spcPts val="3040"/>
                </a:lnSpc>
                <a:spcBef>
                  <a:spcPct val="0"/>
                </a:spcBef>
              </a:pPr>
            </a:p>
          </p:txBody>
        </p:sp>
      </p:grpSp>
      <p:grpSp>
        <p:nvGrpSpPr>
          <p:cNvPr name="Group 21" id="21"/>
          <p:cNvGrpSpPr/>
          <p:nvPr/>
        </p:nvGrpSpPr>
        <p:grpSpPr>
          <a:xfrm rot="0">
            <a:off x="13766580" y="1983224"/>
            <a:ext cx="4661082" cy="3120082"/>
            <a:chOff x="0" y="0"/>
            <a:chExt cx="6214777" cy="4160109"/>
          </a:xfrm>
        </p:grpSpPr>
        <p:grpSp>
          <p:nvGrpSpPr>
            <p:cNvPr name="Group 22" id="22"/>
            <p:cNvGrpSpPr/>
            <p:nvPr/>
          </p:nvGrpSpPr>
          <p:grpSpPr>
            <a:xfrm rot="0">
              <a:off x="2010771" y="250124"/>
              <a:ext cx="2193234" cy="2193234"/>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CECFD"/>
              </a:solidFill>
            </p:spPr>
          </p:sp>
          <p:sp>
            <p:nvSpPr>
              <p:cNvPr name="TextBox 24" id="24"/>
              <p:cNvSpPr txBox="true"/>
              <p:nvPr/>
            </p:nvSpPr>
            <p:spPr>
              <a:xfrm>
                <a:off x="76200" y="-9525"/>
                <a:ext cx="660400" cy="746125"/>
              </a:xfrm>
              <a:prstGeom prst="rect">
                <a:avLst/>
              </a:prstGeom>
            </p:spPr>
            <p:txBody>
              <a:bodyPr anchor="ctr" rtlCol="false" tIns="50800" lIns="50800" bIns="50800" rIns="50800"/>
              <a:lstStyle/>
              <a:p>
                <a:pPr algn="ctr" marL="0" indent="0" lvl="0">
                  <a:lnSpc>
                    <a:spcPts val="3040"/>
                  </a:lnSpc>
                  <a:spcBef>
                    <a:spcPct val="0"/>
                  </a:spcBef>
                </a:pPr>
              </a:p>
            </p:txBody>
          </p:sp>
        </p:grpSp>
        <p:sp>
          <p:nvSpPr>
            <p:cNvPr name="Freeform 25" id="25"/>
            <p:cNvSpPr/>
            <p:nvPr/>
          </p:nvSpPr>
          <p:spPr>
            <a:xfrm flipH="false" flipV="false" rot="-5400000">
              <a:off x="2394348" y="647283"/>
              <a:ext cx="1426080" cy="1398916"/>
            </a:xfrm>
            <a:custGeom>
              <a:avLst/>
              <a:gdLst/>
              <a:ahLst/>
              <a:cxnLst/>
              <a:rect r="r" b="b" t="t" l="l"/>
              <a:pathLst>
                <a:path h="1398916" w="1426080">
                  <a:moveTo>
                    <a:pt x="0" y="0"/>
                  </a:moveTo>
                  <a:lnTo>
                    <a:pt x="1426080" y="0"/>
                  </a:lnTo>
                  <a:lnTo>
                    <a:pt x="1426080" y="1398916"/>
                  </a:lnTo>
                  <a:lnTo>
                    <a:pt x="0" y="1398916"/>
                  </a:lnTo>
                  <a:lnTo>
                    <a:pt x="0" y="0"/>
                  </a:lnTo>
                  <a:close/>
                </a:path>
              </a:pathLst>
            </a:custGeom>
            <a:blipFill>
              <a:blip r:embed="rId8"/>
              <a:stretch>
                <a:fillRect l="0" t="0" r="0" b="0"/>
              </a:stretch>
            </a:blipFill>
          </p:spPr>
        </p:sp>
        <p:sp>
          <p:nvSpPr>
            <p:cNvPr name="Freeform 26" id="26"/>
            <p:cNvSpPr/>
            <p:nvPr/>
          </p:nvSpPr>
          <p:spPr>
            <a:xfrm flipH="false" flipV="false" rot="0">
              <a:off x="1760647" y="0"/>
              <a:ext cx="2693482" cy="2693482"/>
            </a:xfrm>
            <a:custGeom>
              <a:avLst/>
              <a:gdLst/>
              <a:ahLst/>
              <a:cxnLst/>
              <a:rect r="r" b="b" t="t" l="l"/>
              <a:pathLst>
                <a:path h="2693482" w="2693482">
                  <a:moveTo>
                    <a:pt x="0" y="0"/>
                  </a:moveTo>
                  <a:lnTo>
                    <a:pt x="2693482" y="0"/>
                  </a:lnTo>
                  <a:lnTo>
                    <a:pt x="2693482" y="2693482"/>
                  </a:lnTo>
                  <a:lnTo>
                    <a:pt x="0" y="2693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27" id="27"/>
            <p:cNvSpPr/>
            <p:nvPr/>
          </p:nvSpPr>
          <p:spPr>
            <a:xfrm>
              <a:off x="2541697" y="4094031"/>
              <a:ext cx="1131383" cy="0"/>
            </a:xfrm>
            <a:prstGeom prst="line">
              <a:avLst/>
            </a:prstGeom>
            <a:ln cap="flat" w="12700">
              <a:solidFill>
                <a:srgbClr val="0847D6"/>
              </a:solidFill>
              <a:prstDash val="solid"/>
              <a:headEnd type="none" len="sm" w="sm"/>
              <a:tailEnd type="none" len="sm" w="sm"/>
            </a:ln>
          </p:spPr>
        </p:sp>
        <p:sp>
          <p:nvSpPr>
            <p:cNvPr name="Freeform 28" id="28"/>
            <p:cNvSpPr/>
            <p:nvPr/>
          </p:nvSpPr>
          <p:spPr>
            <a:xfrm flipH="false" flipV="false" rot="0">
              <a:off x="3041310" y="4027952"/>
              <a:ext cx="132157" cy="132157"/>
            </a:xfrm>
            <a:custGeom>
              <a:avLst/>
              <a:gdLst/>
              <a:ahLst/>
              <a:cxnLst/>
              <a:rect r="r" b="b" t="t" l="l"/>
              <a:pathLst>
                <a:path h="132157" w="132157">
                  <a:moveTo>
                    <a:pt x="0" y="0"/>
                  </a:moveTo>
                  <a:lnTo>
                    <a:pt x="132157" y="0"/>
                  </a:lnTo>
                  <a:lnTo>
                    <a:pt x="132157" y="132157"/>
                  </a:lnTo>
                  <a:lnTo>
                    <a:pt x="0" y="1321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9" id="29"/>
            <p:cNvSpPr txBox="true"/>
            <p:nvPr/>
          </p:nvSpPr>
          <p:spPr>
            <a:xfrm rot="0">
              <a:off x="0" y="3004289"/>
              <a:ext cx="6214777" cy="623119"/>
            </a:xfrm>
            <a:prstGeom prst="rect">
              <a:avLst/>
            </a:prstGeom>
          </p:spPr>
          <p:txBody>
            <a:bodyPr anchor="t" rtlCol="false" tIns="0" lIns="0" bIns="0" rIns="0">
              <a:spAutoFit/>
            </a:bodyPr>
            <a:lstStyle/>
            <a:p>
              <a:pPr algn="ctr" marL="0" indent="0" lvl="0">
                <a:lnSpc>
                  <a:spcPts val="3903"/>
                </a:lnSpc>
                <a:spcBef>
                  <a:spcPct val="0"/>
                </a:spcBef>
              </a:pPr>
              <a:r>
                <a:rPr lang="en-US" b="true" sz="2788" spc="-178" strike="noStrike" u="none">
                  <a:gradFill>
                    <a:gsLst>
                      <a:gs pos="0">
                        <a:srgbClr val="3A58E4">
                          <a:alpha val="100000"/>
                        </a:srgbClr>
                      </a:gs>
                      <a:gs pos="100000">
                        <a:srgbClr val="293E9C">
                          <a:alpha val="100000"/>
                        </a:srgbClr>
                      </a:gs>
                    </a:gsLst>
                    <a:path path="circle">
                      <a:fillToRect l="0" r="100000" t="0" b="100000"/>
                    </a:path>
                    <a:tileRect r="0" l="-100000" b="0" t="-100000"/>
                  </a:gradFill>
                  <a:latin typeface="Noto Sans Bold"/>
                  <a:ea typeface="Noto Sans Bold"/>
                  <a:cs typeface="Noto Sans Bold"/>
                  <a:sym typeface="Noto Sans Bold"/>
                </a:rPr>
                <a:t>SẢN PHẨM &amp; THANH TOÁN</a:t>
              </a:r>
            </a:p>
          </p:txBody>
        </p:sp>
      </p:grpSp>
      <p:grpSp>
        <p:nvGrpSpPr>
          <p:cNvPr name="Group 30" id="30"/>
          <p:cNvGrpSpPr/>
          <p:nvPr/>
        </p:nvGrpSpPr>
        <p:grpSpPr>
          <a:xfrm rot="0">
            <a:off x="171224" y="1624512"/>
            <a:ext cx="4401503" cy="7401878"/>
            <a:chOff x="0" y="0"/>
            <a:chExt cx="907470" cy="1526065"/>
          </a:xfrm>
        </p:grpSpPr>
        <p:sp>
          <p:nvSpPr>
            <p:cNvPr name="Freeform 31" id="31"/>
            <p:cNvSpPr/>
            <p:nvPr/>
          </p:nvSpPr>
          <p:spPr>
            <a:xfrm flipH="false" flipV="false" rot="0">
              <a:off x="0" y="0"/>
              <a:ext cx="907470" cy="1526065"/>
            </a:xfrm>
            <a:custGeom>
              <a:avLst/>
              <a:gdLst/>
              <a:ahLst/>
              <a:cxnLst/>
              <a:rect r="r" b="b" t="t" l="l"/>
              <a:pathLst>
                <a:path h="1526065" w="907470">
                  <a:moveTo>
                    <a:pt x="34354" y="0"/>
                  </a:moveTo>
                  <a:lnTo>
                    <a:pt x="873116" y="0"/>
                  </a:lnTo>
                  <a:cubicBezTo>
                    <a:pt x="892089" y="0"/>
                    <a:pt x="907470" y="15381"/>
                    <a:pt x="907470" y="34354"/>
                  </a:cubicBezTo>
                  <a:lnTo>
                    <a:pt x="907470" y="1491711"/>
                  </a:lnTo>
                  <a:cubicBezTo>
                    <a:pt x="907470" y="1510685"/>
                    <a:pt x="892089" y="1526065"/>
                    <a:pt x="873116" y="1526065"/>
                  </a:cubicBezTo>
                  <a:lnTo>
                    <a:pt x="34354" y="1526065"/>
                  </a:lnTo>
                  <a:cubicBezTo>
                    <a:pt x="25243" y="1526065"/>
                    <a:pt x="16505" y="1522446"/>
                    <a:pt x="10062" y="1516003"/>
                  </a:cubicBezTo>
                  <a:cubicBezTo>
                    <a:pt x="3619" y="1509561"/>
                    <a:pt x="0" y="1500823"/>
                    <a:pt x="0" y="1491711"/>
                  </a:cubicBezTo>
                  <a:lnTo>
                    <a:pt x="0" y="34354"/>
                  </a:lnTo>
                  <a:cubicBezTo>
                    <a:pt x="0" y="15381"/>
                    <a:pt x="15381" y="0"/>
                    <a:pt x="34354" y="0"/>
                  </a:cubicBezTo>
                  <a:close/>
                </a:path>
              </a:pathLst>
            </a:custGeom>
            <a:solidFill>
              <a:srgbClr val="FEFEFE">
                <a:alpha val="71765"/>
              </a:srgbClr>
            </a:solidFill>
            <a:ln w="38100" cap="rnd">
              <a:solidFill>
                <a:srgbClr val="AFBEFF">
                  <a:alpha val="71765"/>
                </a:srgbClr>
              </a:solidFill>
              <a:prstDash val="solid"/>
              <a:round/>
            </a:ln>
          </p:spPr>
        </p:sp>
        <p:sp>
          <p:nvSpPr>
            <p:cNvPr name="TextBox 32" id="32"/>
            <p:cNvSpPr txBox="true"/>
            <p:nvPr/>
          </p:nvSpPr>
          <p:spPr>
            <a:xfrm>
              <a:off x="0" y="-76200"/>
              <a:ext cx="907470" cy="1602265"/>
            </a:xfrm>
            <a:prstGeom prst="rect">
              <a:avLst/>
            </a:prstGeom>
          </p:spPr>
          <p:txBody>
            <a:bodyPr anchor="ctr" rtlCol="false" tIns="50800" lIns="50800" bIns="50800" rIns="50800"/>
            <a:lstStyle/>
            <a:p>
              <a:pPr algn="ctr">
                <a:lnSpc>
                  <a:spcPts val="3040"/>
                </a:lnSpc>
              </a:pPr>
            </a:p>
          </p:txBody>
        </p:sp>
      </p:grpSp>
      <p:grpSp>
        <p:nvGrpSpPr>
          <p:cNvPr name="Group 33" id="33"/>
          <p:cNvGrpSpPr/>
          <p:nvPr/>
        </p:nvGrpSpPr>
        <p:grpSpPr>
          <a:xfrm rot="0">
            <a:off x="669018" y="1983224"/>
            <a:ext cx="3438193" cy="3120082"/>
            <a:chOff x="0" y="0"/>
            <a:chExt cx="4584257" cy="4160109"/>
          </a:xfrm>
        </p:grpSpPr>
        <p:grpSp>
          <p:nvGrpSpPr>
            <p:cNvPr name="Group 34" id="34"/>
            <p:cNvGrpSpPr/>
            <p:nvPr/>
          </p:nvGrpSpPr>
          <p:grpSpPr>
            <a:xfrm rot="0">
              <a:off x="1195512" y="250124"/>
              <a:ext cx="2193234" cy="2193234"/>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CECFD"/>
              </a:solidFill>
            </p:spPr>
          </p:sp>
          <p:sp>
            <p:nvSpPr>
              <p:cNvPr name="TextBox 36" id="36"/>
              <p:cNvSpPr txBox="true"/>
              <p:nvPr/>
            </p:nvSpPr>
            <p:spPr>
              <a:xfrm>
                <a:off x="76200" y="-9525"/>
                <a:ext cx="660400" cy="746125"/>
              </a:xfrm>
              <a:prstGeom prst="rect">
                <a:avLst/>
              </a:prstGeom>
            </p:spPr>
            <p:txBody>
              <a:bodyPr anchor="ctr" rtlCol="false" tIns="50800" lIns="50800" bIns="50800" rIns="50800"/>
              <a:lstStyle/>
              <a:p>
                <a:pPr algn="ctr">
                  <a:lnSpc>
                    <a:spcPts val="3040"/>
                  </a:lnSpc>
                </a:pPr>
              </a:p>
            </p:txBody>
          </p:sp>
        </p:grpSp>
        <p:sp>
          <p:nvSpPr>
            <p:cNvPr name="Freeform 37" id="37"/>
            <p:cNvSpPr/>
            <p:nvPr/>
          </p:nvSpPr>
          <p:spPr>
            <a:xfrm flipH="false" flipV="false" rot="0">
              <a:off x="1650339" y="675059"/>
              <a:ext cx="1283580" cy="1343363"/>
            </a:xfrm>
            <a:custGeom>
              <a:avLst/>
              <a:gdLst/>
              <a:ahLst/>
              <a:cxnLst/>
              <a:rect r="r" b="b" t="t" l="l"/>
              <a:pathLst>
                <a:path h="1343363" w="1283580">
                  <a:moveTo>
                    <a:pt x="0" y="0"/>
                  </a:moveTo>
                  <a:lnTo>
                    <a:pt x="1283580" y="0"/>
                  </a:lnTo>
                  <a:lnTo>
                    <a:pt x="1283580" y="1343364"/>
                  </a:lnTo>
                  <a:lnTo>
                    <a:pt x="0" y="1343364"/>
                  </a:lnTo>
                  <a:lnTo>
                    <a:pt x="0" y="0"/>
                  </a:lnTo>
                  <a:close/>
                </a:path>
              </a:pathLst>
            </a:custGeom>
            <a:blipFill>
              <a:blip r:embed="rId9"/>
              <a:stretch>
                <a:fillRect l="0" t="0" r="0" b="0"/>
              </a:stretch>
            </a:blipFill>
          </p:spPr>
        </p:sp>
        <p:sp>
          <p:nvSpPr>
            <p:cNvPr name="Freeform 38" id="38"/>
            <p:cNvSpPr/>
            <p:nvPr/>
          </p:nvSpPr>
          <p:spPr>
            <a:xfrm flipH="false" flipV="false" rot="0">
              <a:off x="945388" y="0"/>
              <a:ext cx="2693482" cy="2693482"/>
            </a:xfrm>
            <a:custGeom>
              <a:avLst/>
              <a:gdLst/>
              <a:ahLst/>
              <a:cxnLst/>
              <a:rect r="r" b="b" t="t" l="l"/>
              <a:pathLst>
                <a:path h="2693482" w="2693482">
                  <a:moveTo>
                    <a:pt x="0" y="0"/>
                  </a:moveTo>
                  <a:lnTo>
                    <a:pt x="2693482" y="0"/>
                  </a:lnTo>
                  <a:lnTo>
                    <a:pt x="2693482" y="2693482"/>
                  </a:lnTo>
                  <a:lnTo>
                    <a:pt x="0" y="2693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39" id="39"/>
            <p:cNvSpPr/>
            <p:nvPr/>
          </p:nvSpPr>
          <p:spPr>
            <a:xfrm>
              <a:off x="1726437" y="4094031"/>
              <a:ext cx="1131383" cy="0"/>
            </a:xfrm>
            <a:prstGeom prst="line">
              <a:avLst/>
            </a:prstGeom>
            <a:ln cap="flat" w="12700">
              <a:solidFill>
                <a:srgbClr val="0847D6"/>
              </a:solidFill>
              <a:prstDash val="solid"/>
              <a:headEnd type="none" len="sm" w="sm"/>
              <a:tailEnd type="none" len="sm" w="sm"/>
            </a:ln>
          </p:spPr>
        </p:sp>
        <p:sp>
          <p:nvSpPr>
            <p:cNvPr name="Freeform 40" id="40"/>
            <p:cNvSpPr/>
            <p:nvPr/>
          </p:nvSpPr>
          <p:spPr>
            <a:xfrm flipH="false" flipV="false" rot="0">
              <a:off x="2226050" y="4027952"/>
              <a:ext cx="132157" cy="132157"/>
            </a:xfrm>
            <a:custGeom>
              <a:avLst/>
              <a:gdLst/>
              <a:ahLst/>
              <a:cxnLst/>
              <a:rect r="r" b="b" t="t" l="l"/>
              <a:pathLst>
                <a:path h="132157" w="132157">
                  <a:moveTo>
                    <a:pt x="0" y="0"/>
                  </a:moveTo>
                  <a:lnTo>
                    <a:pt x="132157" y="0"/>
                  </a:lnTo>
                  <a:lnTo>
                    <a:pt x="132157" y="132157"/>
                  </a:lnTo>
                  <a:lnTo>
                    <a:pt x="0" y="1321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41" id="41"/>
            <p:cNvSpPr txBox="true"/>
            <p:nvPr/>
          </p:nvSpPr>
          <p:spPr>
            <a:xfrm rot="0">
              <a:off x="0" y="3004289"/>
              <a:ext cx="4584257" cy="623119"/>
            </a:xfrm>
            <a:prstGeom prst="rect">
              <a:avLst/>
            </a:prstGeom>
          </p:spPr>
          <p:txBody>
            <a:bodyPr anchor="t" rtlCol="false" tIns="0" lIns="0" bIns="0" rIns="0">
              <a:spAutoFit/>
            </a:bodyPr>
            <a:lstStyle/>
            <a:p>
              <a:pPr algn="ctr" marL="0" indent="0" lvl="0">
                <a:lnSpc>
                  <a:spcPts val="3903"/>
                </a:lnSpc>
                <a:spcBef>
                  <a:spcPct val="0"/>
                </a:spcBef>
              </a:pPr>
              <a:r>
                <a:rPr lang="en-US" b="true" sz="2788" spc="-178">
                  <a:gradFill>
                    <a:gsLst>
                      <a:gs pos="0">
                        <a:srgbClr val="3A58E4">
                          <a:alpha val="100000"/>
                        </a:srgbClr>
                      </a:gs>
                      <a:gs pos="100000">
                        <a:srgbClr val="293E9C">
                          <a:alpha val="100000"/>
                        </a:srgbClr>
                      </a:gs>
                    </a:gsLst>
                    <a:path path="circle">
                      <a:fillToRect l="0" r="100000" t="0" b="100000"/>
                    </a:path>
                    <a:tileRect r="0" l="-100000" b="0" t="-100000"/>
                  </a:gradFill>
                  <a:latin typeface="Noto Sans Bold"/>
                  <a:ea typeface="Noto Sans Bold"/>
                  <a:cs typeface="Noto Sans Bold"/>
                  <a:sym typeface="Noto Sans Bold"/>
                </a:rPr>
                <a:t>KHÁCH HÀNG</a:t>
              </a:r>
            </a:p>
          </p:txBody>
        </p:sp>
      </p:grpSp>
      <p:grpSp>
        <p:nvGrpSpPr>
          <p:cNvPr name="Group 42" id="42"/>
          <p:cNvGrpSpPr/>
          <p:nvPr/>
        </p:nvGrpSpPr>
        <p:grpSpPr>
          <a:xfrm rot="0">
            <a:off x="5091856" y="1983224"/>
            <a:ext cx="3438193" cy="3120082"/>
            <a:chOff x="0" y="0"/>
            <a:chExt cx="4584257" cy="4160109"/>
          </a:xfrm>
        </p:grpSpPr>
        <p:grpSp>
          <p:nvGrpSpPr>
            <p:cNvPr name="Group 43" id="43"/>
            <p:cNvGrpSpPr/>
            <p:nvPr/>
          </p:nvGrpSpPr>
          <p:grpSpPr>
            <a:xfrm rot="0">
              <a:off x="1195512" y="250124"/>
              <a:ext cx="2193234" cy="2193234"/>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CECFD"/>
              </a:solidFill>
            </p:spPr>
          </p:sp>
          <p:sp>
            <p:nvSpPr>
              <p:cNvPr name="TextBox 45" id="45"/>
              <p:cNvSpPr txBox="true"/>
              <p:nvPr/>
            </p:nvSpPr>
            <p:spPr>
              <a:xfrm>
                <a:off x="76200" y="-9525"/>
                <a:ext cx="660400" cy="746125"/>
              </a:xfrm>
              <a:prstGeom prst="rect">
                <a:avLst/>
              </a:prstGeom>
            </p:spPr>
            <p:txBody>
              <a:bodyPr anchor="ctr" rtlCol="false" tIns="50800" lIns="50800" bIns="50800" rIns="50800"/>
              <a:lstStyle/>
              <a:p>
                <a:pPr algn="ctr" marL="0" indent="0" lvl="0">
                  <a:lnSpc>
                    <a:spcPts val="3040"/>
                  </a:lnSpc>
                  <a:spcBef>
                    <a:spcPct val="0"/>
                  </a:spcBef>
                </a:pPr>
              </a:p>
            </p:txBody>
          </p:sp>
        </p:grpSp>
        <p:sp>
          <p:nvSpPr>
            <p:cNvPr name="Freeform 46" id="46"/>
            <p:cNvSpPr/>
            <p:nvPr/>
          </p:nvSpPr>
          <p:spPr>
            <a:xfrm flipH="false" flipV="false" rot="0">
              <a:off x="1486792" y="539109"/>
              <a:ext cx="1610674" cy="1615263"/>
            </a:xfrm>
            <a:custGeom>
              <a:avLst/>
              <a:gdLst/>
              <a:ahLst/>
              <a:cxnLst/>
              <a:rect r="r" b="b" t="t" l="l"/>
              <a:pathLst>
                <a:path h="1615263" w="1610674">
                  <a:moveTo>
                    <a:pt x="0" y="0"/>
                  </a:moveTo>
                  <a:lnTo>
                    <a:pt x="1610674" y="0"/>
                  </a:lnTo>
                  <a:lnTo>
                    <a:pt x="1610674" y="1615263"/>
                  </a:lnTo>
                  <a:lnTo>
                    <a:pt x="0" y="1615263"/>
                  </a:lnTo>
                  <a:lnTo>
                    <a:pt x="0" y="0"/>
                  </a:lnTo>
                  <a:close/>
                </a:path>
              </a:pathLst>
            </a:custGeom>
            <a:blipFill>
              <a:blip r:embed="rId10"/>
              <a:stretch>
                <a:fillRect l="0" t="0" r="0" b="0"/>
              </a:stretch>
            </a:blipFill>
          </p:spPr>
        </p:sp>
        <p:sp>
          <p:nvSpPr>
            <p:cNvPr name="Freeform 47" id="47"/>
            <p:cNvSpPr/>
            <p:nvPr/>
          </p:nvSpPr>
          <p:spPr>
            <a:xfrm flipH="false" flipV="false" rot="0">
              <a:off x="945388" y="0"/>
              <a:ext cx="2693482" cy="2693482"/>
            </a:xfrm>
            <a:custGeom>
              <a:avLst/>
              <a:gdLst/>
              <a:ahLst/>
              <a:cxnLst/>
              <a:rect r="r" b="b" t="t" l="l"/>
              <a:pathLst>
                <a:path h="2693482" w="2693482">
                  <a:moveTo>
                    <a:pt x="0" y="0"/>
                  </a:moveTo>
                  <a:lnTo>
                    <a:pt x="2693482" y="0"/>
                  </a:lnTo>
                  <a:lnTo>
                    <a:pt x="2693482" y="2693482"/>
                  </a:lnTo>
                  <a:lnTo>
                    <a:pt x="0" y="2693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48" id="48"/>
            <p:cNvSpPr/>
            <p:nvPr/>
          </p:nvSpPr>
          <p:spPr>
            <a:xfrm>
              <a:off x="1726437" y="4094031"/>
              <a:ext cx="1131383" cy="0"/>
            </a:xfrm>
            <a:prstGeom prst="line">
              <a:avLst/>
            </a:prstGeom>
            <a:ln cap="flat" w="12700">
              <a:solidFill>
                <a:srgbClr val="0847D6"/>
              </a:solidFill>
              <a:prstDash val="solid"/>
              <a:headEnd type="none" len="sm" w="sm"/>
              <a:tailEnd type="none" len="sm" w="sm"/>
            </a:ln>
          </p:spPr>
        </p:sp>
        <p:sp>
          <p:nvSpPr>
            <p:cNvPr name="Freeform 49" id="49"/>
            <p:cNvSpPr/>
            <p:nvPr/>
          </p:nvSpPr>
          <p:spPr>
            <a:xfrm flipH="false" flipV="false" rot="0">
              <a:off x="2226050" y="4027952"/>
              <a:ext cx="132157" cy="132157"/>
            </a:xfrm>
            <a:custGeom>
              <a:avLst/>
              <a:gdLst/>
              <a:ahLst/>
              <a:cxnLst/>
              <a:rect r="r" b="b" t="t" l="l"/>
              <a:pathLst>
                <a:path h="132157" w="132157">
                  <a:moveTo>
                    <a:pt x="0" y="0"/>
                  </a:moveTo>
                  <a:lnTo>
                    <a:pt x="132157" y="0"/>
                  </a:lnTo>
                  <a:lnTo>
                    <a:pt x="132157" y="132157"/>
                  </a:lnTo>
                  <a:lnTo>
                    <a:pt x="0" y="1321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0" id="50"/>
            <p:cNvSpPr txBox="true"/>
            <p:nvPr/>
          </p:nvSpPr>
          <p:spPr>
            <a:xfrm rot="0">
              <a:off x="0" y="3004289"/>
              <a:ext cx="4584257" cy="623119"/>
            </a:xfrm>
            <a:prstGeom prst="rect">
              <a:avLst/>
            </a:prstGeom>
          </p:spPr>
          <p:txBody>
            <a:bodyPr anchor="t" rtlCol="false" tIns="0" lIns="0" bIns="0" rIns="0">
              <a:spAutoFit/>
            </a:bodyPr>
            <a:lstStyle/>
            <a:p>
              <a:pPr algn="ctr" marL="0" indent="0" lvl="0">
                <a:lnSpc>
                  <a:spcPts val="3903"/>
                </a:lnSpc>
                <a:spcBef>
                  <a:spcPct val="0"/>
                </a:spcBef>
              </a:pPr>
              <a:r>
                <a:rPr lang="en-US" b="true" sz="2788" spc="-178" strike="noStrike" u="none">
                  <a:gradFill>
                    <a:gsLst>
                      <a:gs pos="0">
                        <a:srgbClr val="3A58E4">
                          <a:alpha val="100000"/>
                        </a:srgbClr>
                      </a:gs>
                      <a:gs pos="100000">
                        <a:srgbClr val="293E9C">
                          <a:alpha val="100000"/>
                        </a:srgbClr>
                      </a:gs>
                    </a:gsLst>
                    <a:path path="circle">
                      <a:fillToRect l="0" r="100000" t="0" b="100000"/>
                    </a:path>
                    <a:tileRect r="0" l="-100000" b="0" t="-100000"/>
                  </a:gradFill>
                  <a:latin typeface="Noto Sans Bold"/>
                  <a:ea typeface="Noto Sans Bold"/>
                  <a:cs typeface="Noto Sans Bold"/>
                  <a:sym typeface="Noto Sans Bold"/>
                </a:rPr>
                <a:t>THỜI ĐIỂM</a:t>
              </a:r>
            </a:p>
          </p:txBody>
        </p:sp>
      </p:grpSp>
      <p:sp>
        <p:nvSpPr>
          <p:cNvPr name="Freeform 51" id="51"/>
          <p:cNvSpPr/>
          <p:nvPr/>
        </p:nvSpPr>
        <p:spPr>
          <a:xfrm flipH="false" flipV="false" rot="0">
            <a:off x="9272986" y="7939264"/>
            <a:ext cx="4405527" cy="1602010"/>
          </a:xfrm>
          <a:custGeom>
            <a:avLst/>
            <a:gdLst/>
            <a:ahLst/>
            <a:cxnLst/>
            <a:rect r="r" b="b" t="t" l="l"/>
            <a:pathLst>
              <a:path h="1602010" w="4405527">
                <a:moveTo>
                  <a:pt x="0" y="0"/>
                </a:moveTo>
                <a:lnTo>
                  <a:pt x="4405527" y="0"/>
                </a:lnTo>
                <a:lnTo>
                  <a:pt x="4405527" y="1602010"/>
                </a:lnTo>
                <a:lnTo>
                  <a:pt x="0" y="160201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52" id="52"/>
          <p:cNvSpPr/>
          <p:nvPr/>
        </p:nvSpPr>
        <p:spPr>
          <a:xfrm flipH="false" flipV="false" rot="0">
            <a:off x="13815798" y="7939264"/>
            <a:ext cx="4405527" cy="1602010"/>
          </a:xfrm>
          <a:custGeom>
            <a:avLst/>
            <a:gdLst/>
            <a:ahLst/>
            <a:cxnLst/>
            <a:rect r="r" b="b" t="t" l="l"/>
            <a:pathLst>
              <a:path h="1602010" w="4405527">
                <a:moveTo>
                  <a:pt x="0" y="0"/>
                </a:moveTo>
                <a:lnTo>
                  <a:pt x="4405527" y="0"/>
                </a:lnTo>
                <a:lnTo>
                  <a:pt x="4405527" y="1602010"/>
                </a:lnTo>
                <a:lnTo>
                  <a:pt x="0" y="160201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53" id="53"/>
          <p:cNvSpPr/>
          <p:nvPr/>
        </p:nvSpPr>
        <p:spPr>
          <a:xfrm flipH="false" flipV="false" rot="0">
            <a:off x="4726381" y="7939264"/>
            <a:ext cx="4405527" cy="1602010"/>
          </a:xfrm>
          <a:custGeom>
            <a:avLst/>
            <a:gdLst/>
            <a:ahLst/>
            <a:cxnLst/>
            <a:rect r="r" b="b" t="t" l="l"/>
            <a:pathLst>
              <a:path h="1602010" w="4405527">
                <a:moveTo>
                  <a:pt x="0" y="0"/>
                </a:moveTo>
                <a:lnTo>
                  <a:pt x="4405527" y="0"/>
                </a:lnTo>
                <a:lnTo>
                  <a:pt x="4405527" y="1602010"/>
                </a:lnTo>
                <a:lnTo>
                  <a:pt x="0" y="160201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54" id="54"/>
          <p:cNvSpPr/>
          <p:nvPr/>
        </p:nvSpPr>
        <p:spPr>
          <a:xfrm flipH="false" flipV="false" rot="0">
            <a:off x="167200" y="7939264"/>
            <a:ext cx="4405527" cy="1602010"/>
          </a:xfrm>
          <a:custGeom>
            <a:avLst/>
            <a:gdLst/>
            <a:ahLst/>
            <a:cxnLst/>
            <a:rect r="r" b="b" t="t" l="l"/>
            <a:pathLst>
              <a:path h="1602010" w="4405527">
                <a:moveTo>
                  <a:pt x="0" y="0"/>
                </a:moveTo>
                <a:lnTo>
                  <a:pt x="4405527" y="0"/>
                </a:lnTo>
                <a:lnTo>
                  <a:pt x="4405527" y="1602010"/>
                </a:lnTo>
                <a:lnTo>
                  <a:pt x="0" y="160201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55" id="55"/>
          <p:cNvGrpSpPr/>
          <p:nvPr/>
        </p:nvGrpSpPr>
        <p:grpSpPr>
          <a:xfrm rot="0">
            <a:off x="2390801" y="-263801"/>
            <a:ext cx="13506397" cy="1472753"/>
            <a:chOff x="0" y="0"/>
            <a:chExt cx="2779094" cy="303036"/>
          </a:xfrm>
        </p:grpSpPr>
        <p:sp>
          <p:nvSpPr>
            <p:cNvPr name="Freeform 56" id="56"/>
            <p:cNvSpPr/>
            <p:nvPr/>
          </p:nvSpPr>
          <p:spPr>
            <a:xfrm flipH="false" flipV="false" rot="0">
              <a:off x="0" y="0"/>
              <a:ext cx="2779094" cy="303036"/>
            </a:xfrm>
            <a:custGeom>
              <a:avLst/>
              <a:gdLst/>
              <a:ahLst/>
              <a:cxnLst/>
              <a:rect r="r" b="b" t="t" l="l"/>
              <a:pathLst>
                <a:path h="303036" w="2779094">
                  <a:moveTo>
                    <a:pt x="11195" y="0"/>
                  </a:moveTo>
                  <a:lnTo>
                    <a:pt x="2767899" y="0"/>
                  </a:lnTo>
                  <a:cubicBezTo>
                    <a:pt x="2774082" y="0"/>
                    <a:pt x="2779094" y="5012"/>
                    <a:pt x="2779094" y="11195"/>
                  </a:cubicBezTo>
                  <a:lnTo>
                    <a:pt x="2779094" y="291840"/>
                  </a:lnTo>
                  <a:cubicBezTo>
                    <a:pt x="2779094" y="298023"/>
                    <a:pt x="2774082" y="303036"/>
                    <a:pt x="2767899" y="303036"/>
                  </a:cubicBezTo>
                  <a:lnTo>
                    <a:pt x="11195" y="303036"/>
                  </a:lnTo>
                  <a:cubicBezTo>
                    <a:pt x="5012" y="303036"/>
                    <a:pt x="0" y="298023"/>
                    <a:pt x="0" y="291840"/>
                  </a:cubicBezTo>
                  <a:lnTo>
                    <a:pt x="0" y="11195"/>
                  </a:lnTo>
                  <a:cubicBezTo>
                    <a:pt x="0" y="5012"/>
                    <a:pt x="5012" y="0"/>
                    <a:pt x="11195" y="0"/>
                  </a:cubicBezTo>
                  <a:close/>
                </a:path>
              </a:pathLst>
            </a:custGeom>
            <a:gradFill rotWithShape="true">
              <a:gsLst>
                <a:gs pos="0">
                  <a:srgbClr val="001F65">
                    <a:alpha val="100000"/>
                  </a:srgbClr>
                </a:gs>
                <a:gs pos="100000">
                  <a:srgbClr val="6895FD">
                    <a:alpha val="100000"/>
                  </a:srgbClr>
                </a:gs>
              </a:gsLst>
              <a:lin ang="5400000"/>
            </a:gradFill>
          </p:spPr>
        </p:sp>
        <p:sp>
          <p:nvSpPr>
            <p:cNvPr name="TextBox 57" id="57"/>
            <p:cNvSpPr txBox="true"/>
            <p:nvPr/>
          </p:nvSpPr>
          <p:spPr>
            <a:xfrm>
              <a:off x="0" y="-76200"/>
              <a:ext cx="2779094" cy="379236"/>
            </a:xfrm>
            <a:prstGeom prst="rect">
              <a:avLst/>
            </a:prstGeom>
          </p:spPr>
          <p:txBody>
            <a:bodyPr anchor="ctr" rtlCol="false" tIns="50800" lIns="50800" bIns="50800" rIns="50800"/>
            <a:lstStyle/>
            <a:p>
              <a:pPr algn="ctr">
                <a:lnSpc>
                  <a:spcPts val="3040"/>
                </a:lnSpc>
              </a:pPr>
            </a:p>
          </p:txBody>
        </p:sp>
      </p:grpSp>
      <p:sp>
        <p:nvSpPr>
          <p:cNvPr name="TextBox 58" id="58"/>
          <p:cNvSpPr txBox="true"/>
          <p:nvPr/>
        </p:nvSpPr>
        <p:spPr>
          <a:xfrm rot="0">
            <a:off x="14113257" y="5865306"/>
            <a:ext cx="3967728" cy="1841132"/>
          </a:xfrm>
          <a:prstGeom prst="rect">
            <a:avLst/>
          </a:prstGeom>
        </p:spPr>
        <p:txBody>
          <a:bodyPr anchor="t" rtlCol="false" tIns="0" lIns="0" bIns="0" rIns="0">
            <a:spAutoFit/>
          </a:bodyPr>
          <a:lstStyle/>
          <a:p>
            <a:pPr algn="l" marL="0" indent="0" lvl="0">
              <a:lnSpc>
                <a:spcPts val="3612"/>
              </a:lnSpc>
              <a:spcBef>
                <a:spcPct val="0"/>
              </a:spcBef>
            </a:pPr>
            <a:r>
              <a:rPr lang="en-US" sz="2778" spc="-8" strike="noStrike" u="none">
                <a:solidFill>
                  <a:srgbClr val="3A58E4"/>
                </a:solidFill>
                <a:latin typeface="Roboto"/>
                <a:ea typeface="Roboto"/>
                <a:cs typeface="Roboto"/>
                <a:sym typeface="Roboto"/>
              </a:rPr>
              <a:t>Phân tích kênh mobile với website, phương thức thanh toán và tỷ lệ lỗi giao dịch.</a:t>
            </a:r>
          </a:p>
        </p:txBody>
      </p:sp>
      <p:sp>
        <p:nvSpPr>
          <p:cNvPr name="TextBox 59" id="59"/>
          <p:cNvSpPr txBox="true"/>
          <p:nvPr/>
        </p:nvSpPr>
        <p:spPr>
          <a:xfrm rot="0">
            <a:off x="4938116" y="5849516"/>
            <a:ext cx="3978264" cy="1841132"/>
          </a:xfrm>
          <a:prstGeom prst="rect">
            <a:avLst/>
          </a:prstGeom>
        </p:spPr>
        <p:txBody>
          <a:bodyPr anchor="t" rtlCol="false" tIns="0" lIns="0" bIns="0" rIns="0">
            <a:spAutoFit/>
          </a:bodyPr>
          <a:lstStyle/>
          <a:p>
            <a:pPr algn="just" marL="0" indent="0" lvl="0">
              <a:lnSpc>
                <a:spcPts val="3612"/>
              </a:lnSpc>
              <a:spcBef>
                <a:spcPct val="0"/>
              </a:spcBef>
            </a:pPr>
            <a:r>
              <a:rPr lang="en-US" sz="2778" spc="-8" strike="noStrike" u="none">
                <a:solidFill>
                  <a:srgbClr val="3A58E4"/>
                </a:solidFill>
                <a:latin typeface="Roboto"/>
                <a:ea typeface="Roboto"/>
                <a:cs typeface="Roboto"/>
                <a:sym typeface="Roboto"/>
              </a:rPr>
              <a:t>Xác định mùa cao điểm, cuối tuần và khung giờ đặt vé</a:t>
            </a:r>
          </a:p>
          <a:p>
            <a:pPr algn="just" marL="0" indent="0" lvl="0">
              <a:lnSpc>
                <a:spcPts val="3612"/>
              </a:lnSpc>
              <a:spcBef>
                <a:spcPct val="0"/>
              </a:spcBef>
            </a:pPr>
          </a:p>
        </p:txBody>
      </p:sp>
      <p:sp>
        <p:nvSpPr>
          <p:cNvPr name="TextBox 60" id="60"/>
          <p:cNvSpPr txBox="true"/>
          <p:nvPr/>
        </p:nvSpPr>
        <p:spPr>
          <a:xfrm rot="0">
            <a:off x="807491" y="5849516"/>
            <a:ext cx="3566466" cy="928589"/>
          </a:xfrm>
          <a:prstGeom prst="rect">
            <a:avLst/>
          </a:prstGeom>
        </p:spPr>
        <p:txBody>
          <a:bodyPr anchor="t" rtlCol="false" tIns="0" lIns="0" bIns="0" rIns="0">
            <a:spAutoFit/>
          </a:bodyPr>
          <a:lstStyle/>
          <a:p>
            <a:pPr algn="just" marL="0" indent="0" lvl="0">
              <a:lnSpc>
                <a:spcPts val="3612"/>
              </a:lnSpc>
            </a:pPr>
            <a:r>
              <a:rPr lang="en-US" sz="2778" spc="-8">
                <a:solidFill>
                  <a:srgbClr val="3A58E4"/>
                </a:solidFill>
                <a:latin typeface="Roboto"/>
                <a:ea typeface="Roboto"/>
                <a:cs typeface="Roboto"/>
                <a:sym typeface="Roboto"/>
              </a:rPr>
              <a:t>Phân tích theo độ tuổi và giới tính</a:t>
            </a:r>
          </a:p>
        </p:txBody>
      </p:sp>
      <p:sp>
        <p:nvSpPr>
          <p:cNvPr name="TextBox 61" id="61"/>
          <p:cNvSpPr txBox="true"/>
          <p:nvPr/>
        </p:nvSpPr>
        <p:spPr>
          <a:xfrm rot="0">
            <a:off x="9905997" y="5865306"/>
            <a:ext cx="3336787" cy="1383932"/>
          </a:xfrm>
          <a:prstGeom prst="rect">
            <a:avLst/>
          </a:prstGeom>
        </p:spPr>
        <p:txBody>
          <a:bodyPr anchor="t" rtlCol="false" tIns="0" lIns="0" bIns="0" rIns="0">
            <a:spAutoFit/>
          </a:bodyPr>
          <a:lstStyle/>
          <a:p>
            <a:pPr algn="just" marL="0" indent="0" lvl="0">
              <a:lnSpc>
                <a:spcPts val="3612"/>
              </a:lnSpc>
              <a:spcBef>
                <a:spcPct val="0"/>
              </a:spcBef>
            </a:pPr>
            <a:r>
              <a:rPr lang="en-US" sz="2778" spc="-8" strike="noStrike" u="none">
                <a:solidFill>
                  <a:srgbClr val="3A58E4"/>
                </a:solidFill>
                <a:latin typeface="Roboto"/>
                <a:ea typeface="Roboto"/>
                <a:cs typeface="Roboto"/>
                <a:sym typeface="Roboto"/>
              </a:rPr>
              <a:t>Đánh giá hiệu quả khuyến mãi, tỷ lệ khách quay lại</a:t>
            </a:r>
          </a:p>
        </p:txBody>
      </p:sp>
      <p:sp>
        <p:nvSpPr>
          <p:cNvPr name="TextBox 62" id="62"/>
          <p:cNvSpPr txBox="true"/>
          <p:nvPr/>
        </p:nvSpPr>
        <p:spPr>
          <a:xfrm rot="0">
            <a:off x="5556265" y="213728"/>
            <a:ext cx="7175469" cy="834328"/>
          </a:xfrm>
          <a:prstGeom prst="rect">
            <a:avLst/>
          </a:prstGeom>
        </p:spPr>
        <p:txBody>
          <a:bodyPr anchor="t" rtlCol="false" tIns="0" lIns="0" bIns="0" rIns="0">
            <a:spAutoFit/>
          </a:bodyPr>
          <a:lstStyle/>
          <a:p>
            <a:pPr algn="l" marL="0" indent="0" lvl="0">
              <a:lnSpc>
                <a:spcPts val="6211"/>
              </a:lnSpc>
            </a:pPr>
            <a:r>
              <a:rPr lang="en-US" b="true" sz="6338" spc="-405">
                <a:solidFill>
                  <a:srgbClr val="FEFEFE"/>
                </a:solidFill>
                <a:latin typeface="Noto Sans Bold"/>
                <a:ea typeface="Noto Sans Bold"/>
                <a:cs typeface="Noto Sans Bold"/>
                <a:sym typeface="Noto Sans Bold"/>
              </a:rPr>
              <a:t>KHUNG PHÂN TÍCH</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45147" y="1478918"/>
            <a:ext cx="6275767" cy="5477882"/>
            <a:chOff x="0" y="0"/>
            <a:chExt cx="1389464" cy="1212811"/>
          </a:xfrm>
        </p:grpSpPr>
        <p:sp>
          <p:nvSpPr>
            <p:cNvPr name="Freeform 4" id="4"/>
            <p:cNvSpPr/>
            <p:nvPr/>
          </p:nvSpPr>
          <p:spPr>
            <a:xfrm flipH="false" flipV="false" rot="0">
              <a:off x="0" y="0"/>
              <a:ext cx="1389464" cy="1212811"/>
            </a:xfrm>
            <a:custGeom>
              <a:avLst/>
              <a:gdLst/>
              <a:ahLst/>
              <a:cxnLst/>
              <a:rect r="r" b="b" t="t" l="l"/>
              <a:pathLst>
                <a:path h="1212811" w="1389464">
                  <a:moveTo>
                    <a:pt x="24094" y="0"/>
                  </a:moveTo>
                  <a:lnTo>
                    <a:pt x="1365370" y="0"/>
                  </a:lnTo>
                  <a:cubicBezTo>
                    <a:pt x="1378677" y="0"/>
                    <a:pt x="1389464" y="10787"/>
                    <a:pt x="1389464" y="24094"/>
                  </a:cubicBezTo>
                  <a:lnTo>
                    <a:pt x="1389464" y="1188717"/>
                  </a:lnTo>
                  <a:cubicBezTo>
                    <a:pt x="1389464" y="1202024"/>
                    <a:pt x="1378677" y="1212811"/>
                    <a:pt x="1365370" y="1212811"/>
                  </a:cubicBezTo>
                  <a:lnTo>
                    <a:pt x="24094" y="1212811"/>
                  </a:lnTo>
                  <a:cubicBezTo>
                    <a:pt x="10787" y="1212811"/>
                    <a:pt x="0" y="1202024"/>
                    <a:pt x="0" y="1188717"/>
                  </a:cubicBezTo>
                  <a:lnTo>
                    <a:pt x="0" y="24094"/>
                  </a:lnTo>
                  <a:cubicBezTo>
                    <a:pt x="0" y="10787"/>
                    <a:pt x="10787" y="0"/>
                    <a:pt x="24094" y="0"/>
                  </a:cubicBezTo>
                  <a:close/>
                </a:path>
              </a:pathLst>
            </a:custGeom>
            <a:solidFill>
              <a:srgbClr val="FEFEFE"/>
            </a:solidFill>
            <a:ln w="9525" cap="rnd">
              <a:solidFill>
                <a:srgbClr val="FFFFFF"/>
              </a:solidFill>
              <a:prstDash val="solid"/>
              <a:round/>
            </a:ln>
          </p:spPr>
        </p:sp>
        <p:sp>
          <p:nvSpPr>
            <p:cNvPr name="TextBox 5" id="5"/>
            <p:cNvSpPr txBox="true"/>
            <p:nvPr/>
          </p:nvSpPr>
          <p:spPr>
            <a:xfrm>
              <a:off x="0" y="-47625"/>
              <a:ext cx="1389464" cy="1260436"/>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0">
            <a:off x="0" y="400569"/>
            <a:ext cx="6273550" cy="941289"/>
            <a:chOff x="0" y="0"/>
            <a:chExt cx="8364734" cy="1255052"/>
          </a:xfrm>
        </p:grpSpPr>
        <p:grpSp>
          <p:nvGrpSpPr>
            <p:cNvPr name="Group 7" id="7"/>
            <p:cNvGrpSpPr/>
            <p:nvPr/>
          </p:nvGrpSpPr>
          <p:grpSpPr>
            <a:xfrm rot="-5400000">
              <a:off x="3554841" y="-3554841"/>
              <a:ext cx="1255052" cy="8364734"/>
              <a:chOff x="0" y="0"/>
              <a:chExt cx="189807" cy="1265037"/>
            </a:xfrm>
          </p:grpSpPr>
          <p:sp>
            <p:nvSpPr>
              <p:cNvPr name="Freeform 8" id="8"/>
              <p:cNvSpPr/>
              <p:nvPr/>
            </p:nvSpPr>
            <p:spPr>
              <a:xfrm flipH="false" flipV="false" rot="0">
                <a:off x="0" y="0"/>
                <a:ext cx="189807" cy="1265037"/>
              </a:xfrm>
              <a:custGeom>
                <a:avLst/>
                <a:gdLst/>
                <a:ahLst/>
                <a:cxnLst/>
                <a:rect r="r" b="b" t="t" l="l"/>
                <a:pathLst>
                  <a:path h="1265037" w="189807">
                    <a:moveTo>
                      <a:pt x="189807" y="57692"/>
                    </a:moveTo>
                    <a:lnTo>
                      <a:pt x="189807" y="1096127"/>
                    </a:lnTo>
                    <a:lnTo>
                      <a:pt x="94904" y="1265037"/>
                    </a:lnTo>
                    <a:lnTo>
                      <a:pt x="0" y="1096127"/>
                    </a:lnTo>
                    <a:lnTo>
                      <a:pt x="0" y="57692"/>
                    </a:lnTo>
                    <a:cubicBezTo>
                      <a:pt x="0" y="22860"/>
                      <a:pt x="11388" y="0"/>
                      <a:pt x="24675" y="0"/>
                    </a:cubicBezTo>
                    <a:lnTo>
                      <a:pt x="165132" y="0"/>
                    </a:lnTo>
                    <a:cubicBezTo>
                      <a:pt x="178419" y="0"/>
                      <a:pt x="189807" y="22860"/>
                      <a:pt x="189807" y="57692"/>
                    </a:cubicBezTo>
                    <a:close/>
                  </a:path>
                </a:pathLst>
              </a:custGeom>
              <a:gradFill rotWithShape="true">
                <a:gsLst>
                  <a:gs pos="0">
                    <a:srgbClr val="001F65">
                      <a:alpha val="100000"/>
                    </a:srgbClr>
                  </a:gs>
                  <a:gs pos="100000">
                    <a:srgbClr val="6895FD">
                      <a:alpha val="100000"/>
                    </a:srgbClr>
                  </a:gs>
                </a:gsLst>
                <a:lin ang="5400000"/>
              </a:gradFill>
            </p:spPr>
          </p:sp>
          <p:sp>
            <p:nvSpPr>
              <p:cNvPr name="TextBox 9" id="9"/>
              <p:cNvSpPr txBox="true"/>
              <p:nvPr/>
            </p:nvSpPr>
            <p:spPr>
              <a:xfrm>
                <a:off x="0" y="-38100"/>
                <a:ext cx="189807" cy="11266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403224" y="163180"/>
              <a:ext cx="6124580" cy="1037577"/>
            </a:xfrm>
            <a:prstGeom prst="rect">
              <a:avLst/>
            </a:prstGeom>
          </p:spPr>
          <p:txBody>
            <a:bodyPr anchor="t" rtlCol="false" tIns="0" lIns="0" bIns="0" rIns="0">
              <a:spAutoFit/>
            </a:bodyPr>
            <a:lstStyle/>
            <a:p>
              <a:pPr algn="l" marL="0" indent="0" lvl="0">
                <a:lnSpc>
                  <a:spcPts val="5578"/>
                </a:lnSpc>
              </a:pPr>
              <a:r>
                <a:rPr lang="en-US" b="true" sz="5692" spc="-364">
                  <a:solidFill>
                    <a:srgbClr val="FFFFFF"/>
                  </a:solidFill>
                  <a:latin typeface="Noto Sans Bold"/>
                  <a:ea typeface="Noto Sans Bold"/>
                  <a:cs typeface="Noto Sans Bold"/>
                  <a:sym typeface="Noto Sans Bold"/>
                </a:rPr>
                <a:t>Khách Hàng</a:t>
              </a:r>
            </a:p>
          </p:txBody>
        </p:sp>
      </p:grpSp>
      <p:grpSp>
        <p:nvGrpSpPr>
          <p:cNvPr name="Group 11" id="11"/>
          <p:cNvGrpSpPr/>
          <p:nvPr/>
        </p:nvGrpSpPr>
        <p:grpSpPr>
          <a:xfrm rot="0">
            <a:off x="7030514" y="1478918"/>
            <a:ext cx="6377603" cy="5477882"/>
            <a:chOff x="0" y="0"/>
            <a:chExt cx="1360311" cy="1168405"/>
          </a:xfrm>
        </p:grpSpPr>
        <p:sp>
          <p:nvSpPr>
            <p:cNvPr name="Freeform 12" id="12"/>
            <p:cNvSpPr/>
            <p:nvPr/>
          </p:nvSpPr>
          <p:spPr>
            <a:xfrm flipH="false" flipV="false" rot="0">
              <a:off x="0" y="0"/>
              <a:ext cx="1360311" cy="1168405"/>
            </a:xfrm>
            <a:custGeom>
              <a:avLst/>
              <a:gdLst/>
              <a:ahLst/>
              <a:cxnLst/>
              <a:rect r="r" b="b" t="t" l="l"/>
              <a:pathLst>
                <a:path h="1168405" w="1360311">
                  <a:moveTo>
                    <a:pt x="23709" y="0"/>
                  </a:moveTo>
                  <a:lnTo>
                    <a:pt x="1336602" y="0"/>
                  </a:lnTo>
                  <a:cubicBezTo>
                    <a:pt x="1342890" y="0"/>
                    <a:pt x="1348921" y="2498"/>
                    <a:pt x="1353367" y="6944"/>
                  </a:cubicBezTo>
                  <a:cubicBezTo>
                    <a:pt x="1357814" y="11391"/>
                    <a:pt x="1360311" y="17421"/>
                    <a:pt x="1360311" y="23709"/>
                  </a:cubicBezTo>
                  <a:lnTo>
                    <a:pt x="1360311" y="1144696"/>
                  </a:lnTo>
                  <a:cubicBezTo>
                    <a:pt x="1360311" y="1150984"/>
                    <a:pt x="1357814" y="1157015"/>
                    <a:pt x="1353367" y="1161461"/>
                  </a:cubicBezTo>
                  <a:cubicBezTo>
                    <a:pt x="1348921" y="1165907"/>
                    <a:pt x="1342890" y="1168405"/>
                    <a:pt x="1336602" y="1168405"/>
                  </a:cubicBezTo>
                  <a:lnTo>
                    <a:pt x="23709" y="1168405"/>
                  </a:lnTo>
                  <a:cubicBezTo>
                    <a:pt x="17421" y="1168405"/>
                    <a:pt x="11391" y="1165907"/>
                    <a:pt x="6944" y="1161461"/>
                  </a:cubicBezTo>
                  <a:cubicBezTo>
                    <a:pt x="2498" y="1157015"/>
                    <a:pt x="0" y="1150984"/>
                    <a:pt x="0" y="1144696"/>
                  </a:cubicBezTo>
                  <a:lnTo>
                    <a:pt x="0" y="23709"/>
                  </a:lnTo>
                  <a:cubicBezTo>
                    <a:pt x="0" y="17421"/>
                    <a:pt x="2498" y="11391"/>
                    <a:pt x="6944" y="6944"/>
                  </a:cubicBezTo>
                  <a:cubicBezTo>
                    <a:pt x="11391" y="2498"/>
                    <a:pt x="17421" y="0"/>
                    <a:pt x="23709" y="0"/>
                  </a:cubicBezTo>
                  <a:close/>
                </a:path>
              </a:pathLst>
            </a:custGeom>
            <a:solidFill>
              <a:srgbClr val="FEFEFE"/>
            </a:solidFill>
            <a:ln w="9525" cap="rnd">
              <a:solidFill>
                <a:srgbClr val="FFFFFF"/>
              </a:solidFill>
              <a:prstDash val="solid"/>
              <a:round/>
            </a:ln>
          </p:spPr>
        </p:sp>
        <p:sp>
          <p:nvSpPr>
            <p:cNvPr name="TextBox 13" id="13"/>
            <p:cNvSpPr txBox="true"/>
            <p:nvPr/>
          </p:nvSpPr>
          <p:spPr>
            <a:xfrm>
              <a:off x="0" y="-47625"/>
              <a:ext cx="1360311" cy="1216030"/>
            </a:xfrm>
            <a:prstGeom prst="rect">
              <a:avLst/>
            </a:prstGeom>
          </p:spPr>
          <p:txBody>
            <a:bodyPr anchor="ctr" rtlCol="false" tIns="50800" lIns="50800" bIns="50800" rIns="50800"/>
            <a:lstStyle/>
            <a:p>
              <a:pPr algn="ctr">
                <a:lnSpc>
                  <a:spcPts val="2800"/>
                </a:lnSpc>
              </a:pPr>
            </a:p>
          </p:txBody>
        </p:sp>
      </p:grpSp>
      <p:pic>
        <p:nvPicPr>
          <p:cNvPr name="Picture 14" id="14"/>
          <p:cNvPicPr>
            <a:picLocks noChangeAspect="true"/>
          </p:cNvPicPr>
          <p:nvPr/>
        </p:nvPicPr>
        <p:blipFill>
          <a:blip r:embed="rId3"/>
          <a:stretch>
            <a:fillRect/>
          </a:stretch>
        </p:blipFill>
        <p:spPr>
          <a:xfrm rot="0">
            <a:off x="7546695" y="2668866"/>
            <a:ext cx="5030818" cy="4523189"/>
          </a:xfrm>
          <a:prstGeom prst="rect">
            <a:avLst/>
          </a:prstGeom>
        </p:spPr>
      </p:pic>
      <p:pic>
        <p:nvPicPr>
          <p:cNvPr name="Picture 15" id="15"/>
          <p:cNvPicPr>
            <a:picLocks noChangeAspect="true"/>
          </p:cNvPicPr>
          <p:nvPr/>
        </p:nvPicPr>
        <p:blipFill>
          <a:blip r:embed="rId4"/>
          <a:stretch>
            <a:fillRect/>
          </a:stretch>
        </p:blipFill>
        <p:spPr>
          <a:xfrm rot="0">
            <a:off x="702411" y="2595162"/>
            <a:ext cx="4868729" cy="4670598"/>
          </a:xfrm>
          <a:prstGeom prst="rect">
            <a:avLst/>
          </a:prstGeom>
        </p:spPr>
      </p:pic>
      <p:grpSp>
        <p:nvGrpSpPr>
          <p:cNvPr name="Group 16" id="16"/>
          <p:cNvGrpSpPr/>
          <p:nvPr/>
        </p:nvGrpSpPr>
        <p:grpSpPr>
          <a:xfrm rot="0">
            <a:off x="1995355" y="7090150"/>
            <a:ext cx="9178036" cy="3110783"/>
            <a:chOff x="0" y="0"/>
            <a:chExt cx="12237381" cy="4147711"/>
          </a:xfrm>
        </p:grpSpPr>
        <p:grpSp>
          <p:nvGrpSpPr>
            <p:cNvPr name="Group 17" id="17"/>
            <p:cNvGrpSpPr/>
            <p:nvPr/>
          </p:nvGrpSpPr>
          <p:grpSpPr>
            <a:xfrm rot="0">
              <a:off x="0" y="0"/>
              <a:ext cx="12237381" cy="4147711"/>
              <a:chOff x="0" y="0"/>
              <a:chExt cx="1196219" cy="405444"/>
            </a:xfrm>
          </p:grpSpPr>
          <p:sp>
            <p:nvSpPr>
              <p:cNvPr name="Freeform 18" id="18"/>
              <p:cNvSpPr/>
              <p:nvPr/>
            </p:nvSpPr>
            <p:spPr>
              <a:xfrm flipH="false" flipV="false" rot="0">
                <a:off x="0" y="0"/>
                <a:ext cx="1196219" cy="405444"/>
              </a:xfrm>
              <a:custGeom>
                <a:avLst/>
                <a:gdLst/>
                <a:ahLst/>
                <a:cxnLst/>
                <a:rect r="r" b="b" t="t" l="l"/>
                <a:pathLst>
                  <a:path h="405444" w="1196219">
                    <a:moveTo>
                      <a:pt x="16475" y="0"/>
                    </a:moveTo>
                    <a:lnTo>
                      <a:pt x="1179743" y="0"/>
                    </a:lnTo>
                    <a:cubicBezTo>
                      <a:pt x="1188842" y="0"/>
                      <a:pt x="1196219" y="7376"/>
                      <a:pt x="1196219" y="16475"/>
                    </a:cubicBezTo>
                    <a:lnTo>
                      <a:pt x="1196219" y="388969"/>
                    </a:lnTo>
                    <a:cubicBezTo>
                      <a:pt x="1196219" y="398067"/>
                      <a:pt x="1188842" y="405444"/>
                      <a:pt x="1179743" y="405444"/>
                    </a:cubicBezTo>
                    <a:lnTo>
                      <a:pt x="16475" y="405444"/>
                    </a:lnTo>
                    <a:cubicBezTo>
                      <a:pt x="7376" y="405444"/>
                      <a:pt x="0" y="398067"/>
                      <a:pt x="0" y="388969"/>
                    </a:cubicBezTo>
                    <a:lnTo>
                      <a:pt x="0" y="16475"/>
                    </a:lnTo>
                    <a:cubicBezTo>
                      <a:pt x="0" y="7376"/>
                      <a:pt x="7376" y="0"/>
                      <a:pt x="16475" y="0"/>
                    </a:cubicBezTo>
                    <a:close/>
                  </a:path>
                </a:pathLst>
              </a:custGeom>
              <a:ln w="28575" cap="rnd">
                <a:gradFill>
                  <a:gsLst>
                    <a:gs pos="0">
                      <a:srgbClr val="293E9C">
                        <a:alpha val="100000"/>
                      </a:srgbClr>
                    </a:gs>
                    <a:gs pos="100000">
                      <a:srgbClr val="3A58E4">
                        <a:alpha val="100000"/>
                      </a:srgbClr>
                    </a:gs>
                  </a:gsLst>
                  <a:path path="circle">
                    <a:fillToRect l="0" r="100000" t="0" b="100000"/>
                  </a:path>
                  <a:tileRect r="0" l="-100000" b="0" t="-100000"/>
                </a:gradFill>
                <a:prstDash val="dash"/>
                <a:round/>
              </a:ln>
            </p:spPr>
          </p:sp>
          <p:sp>
            <p:nvSpPr>
              <p:cNvPr name="TextBox 19" id="19"/>
              <p:cNvSpPr txBox="true"/>
              <p:nvPr/>
            </p:nvSpPr>
            <p:spPr>
              <a:xfrm>
                <a:off x="0" y="-47625"/>
                <a:ext cx="1196219" cy="453069"/>
              </a:xfrm>
              <a:prstGeom prst="rect">
                <a:avLst/>
              </a:prstGeom>
            </p:spPr>
            <p:txBody>
              <a:bodyPr anchor="ctr" rtlCol="false" tIns="50800" lIns="50800" bIns="50800" rIns="50800"/>
              <a:lstStyle/>
              <a:p>
                <a:pPr algn="ctr">
                  <a:lnSpc>
                    <a:spcPts val="2800"/>
                  </a:lnSpc>
                </a:pPr>
              </a:p>
            </p:txBody>
          </p:sp>
        </p:grpSp>
        <p:sp>
          <p:nvSpPr>
            <p:cNvPr name="TextBox 20" id="20"/>
            <p:cNvSpPr txBox="true"/>
            <p:nvPr/>
          </p:nvSpPr>
          <p:spPr>
            <a:xfrm rot="0">
              <a:off x="6016990" y="1069648"/>
              <a:ext cx="5915981" cy="1581254"/>
            </a:xfrm>
            <a:prstGeom prst="rect">
              <a:avLst/>
            </a:prstGeom>
          </p:spPr>
          <p:txBody>
            <a:bodyPr anchor="t" rtlCol="false" tIns="0" lIns="0" bIns="0" rIns="0">
              <a:spAutoFit/>
            </a:bodyPr>
            <a:lstStyle/>
            <a:p>
              <a:pPr algn="just" marL="0" indent="0" lvl="0">
                <a:lnSpc>
                  <a:spcPts val="3491"/>
                </a:lnSpc>
                <a:spcBef>
                  <a:spcPct val="0"/>
                </a:spcBef>
              </a:pPr>
              <a:r>
                <a:rPr lang="en-US" sz="2493" spc="-7" strike="noStrike" u="none">
                  <a:solidFill>
                    <a:srgbClr val="000000"/>
                  </a:solidFill>
                  <a:latin typeface="Roboto"/>
                  <a:ea typeface="Roboto"/>
                  <a:cs typeface="Roboto"/>
                  <a:sym typeface="Roboto"/>
                </a:rPr>
                <a:t>Phần lớn khách hàng nằm trong </a:t>
              </a:r>
              <a:r>
                <a:rPr lang="en-US" b="true" sz="2493" spc="-7" strike="noStrike" u="none">
                  <a:solidFill>
                    <a:srgbClr val="000000"/>
                  </a:solidFill>
                  <a:latin typeface="Roboto Bold"/>
                  <a:ea typeface="Roboto Bold"/>
                  <a:cs typeface="Roboto Bold"/>
                  <a:sym typeface="Roboto Bold"/>
                </a:rPr>
                <a:t>độ tuổi </a:t>
              </a:r>
              <a:r>
                <a:rPr lang="en-US" sz="2493" spc="-7" strike="noStrike" u="none">
                  <a:solidFill>
                    <a:srgbClr val="000000"/>
                  </a:solidFill>
                  <a:latin typeface="Roboto"/>
                  <a:ea typeface="Roboto"/>
                  <a:cs typeface="Roboto"/>
                  <a:sym typeface="Roboto"/>
                </a:rPr>
                <a:t>từ</a:t>
              </a:r>
              <a:r>
                <a:rPr lang="en-US" b="true" sz="2493" spc="-7" strike="noStrike" u="none">
                  <a:solidFill>
                    <a:srgbClr val="000000"/>
                  </a:solidFill>
                  <a:latin typeface="Roboto Bold"/>
                  <a:ea typeface="Roboto Bold"/>
                  <a:cs typeface="Roboto Bold"/>
                  <a:sym typeface="Roboto Bold"/>
                </a:rPr>
                <a:t> 20 - 40</a:t>
              </a:r>
            </a:p>
            <a:p>
              <a:pPr algn="just" marL="0" indent="0" lvl="0">
                <a:lnSpc>
                  <a:spcPts val="2586"/>
                </a:lnSpc>
                <a:spcBef>
                  <a:spcPct val="0"/>
                </a:spcBef>
              </a:pPr>
            </a:p>
          </p:txBody>
        </p:sp>
        <p:sp>
          <p:nvSpPr>
            <p:cNvPr name="Freeform 21" id="21"/>
            <p:cNvSpPr/>
            <p:nvPr/>
          </p:nvSpPr>
          <p:spPr>
            <a:xfrm flipH="false" flipV="false" rot="0">
              <a:off x="193519" y="135273"/>
              <a:ext cx="5823471" cy="3890320"/>
            </a:xfrm>
            <a:custGeom>
              <a:avLst/>
              <a:gdLst/>
              <a:ahLst/>
              <a:cxnLst/>
              <a:rect r="r" b="b" t="t" l="l"/>
              <a:pathLst>
                <a:path h="3890320" w="5823471">
                  <a:moveTo>
                    <a:pt x="0" y="0"/>
                  </a:moveTo>
                  <a:lnTo>
                    <a:pt x="5823471" y="0"/>
                  </a:lnTo>
                  <a:lnTo>
                    <a:pt x="5823471" y="3890320"/>
                  </a:lnTo>
                  <a:lnTo>
                    <a:pt x="0" y="3890320"/>
                  </a:lnTo>
                  <a:lnTo>
                    <a:pt x="0" y="0"/>
                  </a:lnTo>
                  <a:close/>
                </a:path>
              </a:pathLst>
            </a:custGeom>
            <a:blipFill>
              <a:blip r:embed="rId5"/>
              <a:stretch>
                <a:fillRect l="0" t="-5337" r="-3510" b="-985"/>
              </a:stretch>
            </a:blipFill>
          </p:spPr>
        </p:sp>
      </p:grpSp>
      <p:sp>
        <p:nvSpPr>
          <p:cNvPr name="Freeform 22" id="22"/>
          <p:cNvSpPr/>
          <p:nvPr/>
        </p:nvSpPr>
        <p:spPr>
          <a:xfrm flipH="false" flipV="false" rot="0">
            <a:off x="13488632" y="4747922"/>
            <a:ext cx="4027204" cy="536430"/>
          </a:xfrm>
          <a:custGeom>
            <a:avLst/>
            <a:gdLst/>
            <a:ahLst/>
            <a:cxnLst/>
            <a:rect r="r" b="b" t="t" l="l"/>
            <a:pathLst>
              <a:path h="536430" w="4027204">
                <a:moveTo>
                  <a:pt x="0" y="0"/>
                </a:moveTo>
                <a:lnTo>
                  <a:pt x="4027203" y="0"/>
                </a:lnTo>
                <a:lnTo>
                  <a:pt x="4027203" y="536429"/>
                </a:lnTo>
                <a:lnTo>
                  <a:pt x="0" y="536429"/>
                </a:lnTo>
                <a:lnTo>
                  <a:pt x="0" y="0"/>
                </a:lnTo>
                <a:close/>
              </a:path>
            </a:pathLst>
          </a:custGeom>
          <a:blipFill>
            <a:blip r:embed="rId6"/>
            <a:stretch>
              <a:fillRect l="0" t="-23026" r="0" b="-23026"/>
            </a:stretch>
          </a:blipFill>
        </p:spPr>
      </p:sp>
      <p:sp>
        <p:nvSpPr>
          <p:cNvPr name="TextBox 23" id="23"/>
          <p:cNvSpPr txBox="true"/>
          <p:nvPr/>
        </p:nvSpPr>
        <p:spPr>
          <a:xfrm rot="0">
            <a:off x="14217302" y="3062145"/>
            <a:ext cx="2569862" cy="583342"/>
          </a:xfrm>
          <a:prstGeom prst="rect">
            <a:avLst/>
          </a:prstGeom>
        </p:spPr>
        <p:txBody>
          <a:bodyPr anchor="t" rtlCol="false" tIns="0" lIns="0" bIns="0" rIns="0">
            <a:spAutoFit/>
          </a:bodyPr>
          <a:lstStyle/>
          <a:p>
            <a:pPr algn="ctr" marL="0" indent="0" lvl="0">
              <a:lnSpc>
                <a:spcPts val="4310"/>
              </a:lnSpc>
            </a:pPr>
          </a:p>
        </p:txBody>
      </p:sp>
      <p:grpSp>
        <p:nvGrpSpPr>
          <p:cNvPr name="Group 24" id="24"/>
          <p:cNvGrpSpPr/>
          <p:nvPr/>
        </p:nvGrpSpPr>
        <p:grpSpPr>
          <a:xfrm rot="0">
            <a:off x="13936846" y="2985945"/>
            <a:ext cx="3857127" cy="6714081"/>
            <a:chOff x="0" y="0"/>
            <a:chExt cx="5142836" cy="8952108"/>
          </a:xfrm>
        </p:grpSpPr>
        <p:grpSp>
          <p:nvGrpSpPr>
            <p:cNvPr name="Group 25" id="25"/>
            <p:cNvGrpSpPr/>
            <p:nvPr/>
          </p:nvGrpSpPr>
          <p:grpSpPr>
            <a:xfrm rot="0">
              <a:off x="0" y="0"/>
              <a:ext cx="5142836" cy="8952108"/>
              <a:chOff x="0" y="0"/>
              <a:chExt cx="867208" cy="1509545"/>
            </a:xfrm>
          </p:grpSpPr>
          <p:sp>
            <p:nvSpPr>
              <p:cNvPr name="Freeform 26" id="26"/>
              <p:cNvSpPr/>
              <p:nvPr/>
            </p:nvSpPr>
            <p:spPr>
              <a:xfrm flipH="false" flipV="false" rot="0">
                <a:off x="0" y="0"/>
                <a:ext cx="867208" cy="1509545"/>
              </a:xfrm>
              <a:custGeom>
                <a:avLst/>
                <a:gdLst/>
                <a:ahLst/>
                <a:cxnLst/>
                <a:rect r="r" b="b" t="t" l="l"/>
                <a:pathLst>
                  <a:path h="1509545" w="867208">
                    <a:moveTo>
                      <a:pt x="90323" y="0"/>
                    </a:moveTo>
                    <a:lnTo>
                      <a:pt x="776886" y="0"/>
                    </a:lnTo>
                    <a:cubicBezTo>
                      <a:pt x="826769" y="0"/>
                      <a:pt x="867208" y="40439"/>
                      <a:pt x="867208" y="90323"/>
                    </a:cubicBezTo>
                    <a:lnTo>
                      <a:pt x="867208" y="1419222"/>
                    </a:lnTo>
                    <a:cubicBezTo>
                      <a:pt x="867208" y="1443178"/>
                      <a:pt x="857692" y="1466151"/>
                      <a:pt x="840753" y="1483090"/>
                    </a:cubicBezTo>
                    <a:cubicBezTo>
                      <a:pt x="823815" y="1500029"/>
                      <a:pt x="800841" y="1509545"/>
                      <a:pt x="776886" y="1509545"/>
                    </a:cubicBezTo>
                    <a:lnTo>
                      <a:pt x="90323" y="1509545"/>
                    </a:lnTo>
                    <a:cubicBezTo>
                      <a:pt x="40439" y="1509545"/>
                      <a:pt x="0" y="1469106"/>
                      <a:pt x="0" y="1419222"/>
                    </a:cubicBezTo>
                    <a:lnTo>
                      <a:pt x="0" y="90323"/>
                    </a:lnTo>
                    <a:cubicBezTo>
                      <a:pt x="0" y="40439"/>
                      <a:pt x="40439" y="0"/>
                      <a:pt x="90323"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w="19050"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27" id="27"/>
              <p:cNvSpPr txBox="true"/>
              <p:nvPr/>
            </p:nvSpPr>
            <p:spPr>
              <a:xfrm>
                <a:off x="0" y="28575"/>
                <a:ext cx="867208" cy="1480970"/>
              </a:xfrm>
              <a:prstGeom prst="rect">
                <a:avLst/>
              </a:prstGeom>
            </p:spPr>
            <p:txBody>
              <a:bodyPr anchor="ctr" rtlCol="false" tIns="56830" lIns="56830" bIns="56830" rIns="56830"/>
              <a:lstStyle/>
              <a:p>
                <a:pPr algn="ctr" marL="0" indent="0" lvl="0">
                  <a:lnSpc>
                    <a:spcPts val="2460"/>
                  </a:lnSpc>
                </a:pPr>
              </a:p>
            </p:txBody>
          </p:sp>
        </p:grpSp>
        <p:sp>
          <p:nvSpPr>
            <p:cNvPr name="TextBox 28" id="28"/>
            <p:cNvSpPr txBox="true"/>
            <p:nvPr/>
          </p:nvSpPr>
          <p:spPr>
            <a:xfrm rot="0">
              <a:off x="244283" y="476883"/>
              <a:ext cx="4654269" cy="8197785"/>
            </a:xfrm>
            <a:prstGeom prst="rect">
              <a:avLst/>
            </a:prstGeom>
          </p:spPr>
          <p:txBody>
            <a:bodyPr anchor="t" rtlCol="false" tIns="0" lIns="0" bIns="0" rIns="0">
              <a:spAutoFit/>
            </a:bodyPr>
            <a:lstStyle/>
            <a:p>
              <a:pPr algn="ctr" marL="0" indent="0" lvl="0">
                <a:lnSpc>
                  <a:spcPts val="4071"/>
                </a:lnSpc>
              </a:pPr>
              <a:r>
                <a:rPr lang="en-US" b="true" sz="2908" spc="-72">
                  <a:solidFill>
                    <a:srgbClr val="FFFFFF"/>
                  </a:solidFill>
                  <a:latin typeface="Roboto Bold"/>
                  <a:ea typeface="Roboto Bold"/>
                  <a:cs typeface="Roboto Bold"/>
                  <a:sym typeface="Roboto Bold"/>
                </a:rPr>
                <a:t>GEN Y VÀ GEN Z LÀ NHÓM KHÁCH HÀNG TRỌNG TÂM, CHO THẤY CƠ HỘI TĂNG TRƯỞNG NÊN TẬP TRUNG VÀO CÁC CHIẾN DỊCH ĐẶT VÉ NHANH, ƯU ĐÃI THEO PHIM HOT VÀ TRẢI NGHIỆM PHÙ HỢP VỚI HÀNH VI SỐ.</a:t>
              </a:r>
            </a:p>
          </p:txBody>
        </p:sp>
      </p:grpSp>
      <p:grpSp>
        <p:nvGrpSpPr>
          <p:cNvPr name="Group 29" id="29"/>
          <p:cNvGrpSpPr/>
          <p:nvPr/>
        </p:nvGrpSpPr>
        <p:grpSpPr>
          <a:xfrm rot="0">
            <a:off x="15368225" y="2321347"/>
            <a:ext cx="994369" cy="994369"/>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a:ln w="38100" cap="sq">
              <a:solidFill>
                <a:srgbClr val="FEFEFE"/>
              </a:solidFill>
              <a:prstDash val="solid"/>
              <a:miter/>
            </a:ln>
          </p:spPr>
        </p:sp>
        <p:sp>
          <p:nvSpPr>
            <p:cNvPr name="TextBox 31" id="31"/>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sp>
        <p:nvSpPr>
          <p:cNvPr name="Freeform 32" id="32"/>
          <p:cNvSpPr/>
          <p:nvPr/>
        </p:nvSpPr>
        <p:spPr>
          <a:xfrm flipH="false" flipV="false" rot="0">
            <a:off x="15556335" y="2514866"/>
            <a:ext cx="618149" cy="607332"/>
          </a:xfrm>
          <a:custGeom>
            <a:avLst/>
            <a:gdLst/>
            <a:ahLst/>
            <a:cxnLst/>
            <a:rect r="r" b="b" t="t" l="l"/>
            <a:pathLst>
              <a:path h="607332" w="618149">
                <a:moveTo>
                  <a:pt x="0" y="0"/>
                </a:moveTo>
                <a:lnTo>
                  <a:pt x="618149" y="0"/>
                </a:lnTo>
                <a:lnTo>
                  <a:pt x="618149" y="607331"/>
                </a:lnTo>
                <a:lnTo>
                  <a:pt x="0" y="60733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33" id="33"/>
          <p:cNvSpPr/>
          <p:nvPr/>
        </p:nvSpPr>
        <p:spPr>
          <a:xfrm>
            <a:off x="14217302" y="2818532"/>
            <a:ext cx="977337" cy="0"/>
          </a:xfrm>
          <a:prstGeom prst="line">
            <a:avLst/>
          </a:prstGeom>
          <a:ln cap="flat" w="19050">
            <a:solidFill>
              <a:srgbClr val="3A58E4"/>
            </a:solidFill>
            <a:prstDash val="solid"/>
            <a:headEnd type="none" len="sm" w="sm"/>
            <a:tailEnd type="none" len="sm" w="sm"/>
          </a:ln>
        </p:spPr>
      </p:sp>
      <p:sp>
        <p:nvSpPr>
          <p:cNvPr name="AutoShape 34" id="34"/>
          <p:cNvSpPr/>
          <p:nvPr/>
        </p:nvSpPr>
        <p:spPr>
          <a:xfrm>
            <a:off x="16298496" y="2818532"/>
            <a:ext cx="1217339" cy="0"/>
          </a:xfrm>
          <a:prstGeom prst="line">
            <a:avLst/>
          </a:prstGeom>
          <a:ln cap="flat" w="19050">
            <a:solidFill>
              <a:srgbClr val="4369F8"/>
            </a:solidFill>
            <a:prstDash val="solid"/>
            <a:headEnd type="none" len="sm" w="sm"/>
            <a:tailEnd type="none" len="sm" w="sm"/>
          </a:ln>
        </p:spPr>
      </p:sp>
      <p:sp>
        <p:nvSpPr>
          <p:cNvPr name="TextBox 35" id="35"/>
          <p:cNvSpPr txBox="true"/>
          <p:nvPr/>
        </p:nvSpPr>
        <p:spPr>
          <a:xfrm rot="0">
            <a:off x="7067527" y="1534256"/>
            <a:ext cx="6222706" cy="1553845"/>
          </a:xfrm>
          <a:prstGeom prst="rect">
            <a:avLst/>
          </a:prstGeom>
        </p:spPr>
        <p:txBody>
          <a:bodyPr anchor="t" rtlCol="false" tIns="0" lIns="0" bIns="0" rIns="0">
            <a:spAutoFit/>
          </a:bodyPr>
          <a:lstStyle/>
          <a:p>
            <a:pPr algn="just" marL="0" indent="0" lvl="0">
              <a:lnSpc>
                <a:spcPts val="3079"/>
              </a:lnSpc>
            </a:pPr>
            <a:r>
              <a:rPr lang="en-US" b="true" sz="2199" spc="-6">
                <a:gradFill>
                  <a:gsLst>
                    <a:gs pos="0">
                      <a:srgbClr val="3A58E4">
                        <a:alpha val="100000"/>
                      </a:srgbClr>
                    </a:gs>
                    <a:gs pos="100000">
                      <a:srgbClr val="293E9C">
                        <a:alpha val="100000"/>
                      </a:srgbClr>
                    </a:gs>
                  </a:gsLst>
                  <a:path path="circle">
                    <a:fillToRect l="0" r="100000" t="0" b="100000"/>
                  </a:path>
                  <a:tileRect r="0" l="-100000" b="0" t="-100000"/>
                </a:gradFill>
                <a:latin typeface="Roboto Bold"/>
                <a:ea typeface="Roboto Bold"/>
                <a:cs typeface="Roboto Bold"/>
                <a:sym typeface="Roboto Bold"/>
              </a:rPr>
              <a:t>Giới tính tương đối cân bằng</a:t>
            </a:r>
          </a:p>
          <a:p>
            <a:pPr algn="just" marL="0" indent="0" lvl="0">
              <a:lnSpc>
                <a:spcPts val="3079"/>
              </a:lnSpc>
            </a:pPr>
            <a:r>
              <a:rPr lang="en-US" sz="2199" spc="-6">
                <a:solidFill>
                  <a:srgbClr val="000000"/>
                </a:solidFill>
                <a:latin typeface="Roboto"/>
                <a:ea typeface="Roboto"/>
                <a:cs typeface="Roboto"/>
                <a:sym typeface="Roboto"/>
              </a:rPr>
              <a:t>Tỷ lệ nam và nữ không chênh lệch quá lớn, nên chiến dịch không cần nghiêng mạnh về một giới tính cụ thể.</a:t>
            </a:r>
          </a:p>
        </p:txBody>
      </p:sp>
      <p:sp>
        <p:nvSpPr>
          <p:cNvPr name="TextBox 36" id="36"/>
          <p:cNvSpPr txBox="true"/>
          <p:nvPr/>
        </p:nvSpPr>
        <p:spPr>
          <a:xfrm rot="0">
            <a:off x="159606" y="1504953"/>
            <a:ext cx="5984487" cy="1480185"/>
          </a:xfrm>
          <a:prstGeom prst="rect">
            <a:avLst/>
          </a:prstGeom>
        </p:spPr>
        <p:txBody>
          <a:bodyPr anchor="t" rtlCol="false" tIns="0" lIns="0" bIns="0" rIns="0">
            <a:spAutoFit/>
          </a:bodyPr>
          <a:lstStyle/>
          <a:p>
            <a:pPr algn="just" marL="0" indent="0" lvl="0">
              <a:lnSpc>
                <a:spcPts val="2940"/>
              </a:lnSpc>
            </a:pPr>
            <a:r>
              <a:rPr lang="en-US" b="true" sz="2100" spc="-6">
                <a:gradFill>
                  <a:gsLst>
                    <a:gs pos="0">
                      <a:srgbClr val="3A58E4">
                        <a:alpha val="100000"/>
                      </a:srgbClr>
                    </a:gs>
                    <a:gs pos="100000">
                      <a:srgbClr val="293E9C">
                        <a:alpha val="100000"/>
                      </a:srgbClr>
                    </a:gs>
                  </a:gsLst>
                  <a:path path="circle">
                    <a:fillToRect l="0" r="100000" t="0" b="100000"/>
                  </a:path>
                  <a:tileRect r="0" l="-100000" b="0" t="-100000"/>
                </a:gradFill>
                <a:latin typeface="Roboto Bold"/>
                <a:ea typeface="Roboto Bold"/>
                <a:cs typeface="Roboto Bold"/>
                <a:sym typeface="Roboto Bold"/>
              </a:rPr>
              <a:t>Gen Y và Gen Z là nhóm khách hàng chính</a:t>
            </a:r>
          </a:p>
          <a:p>
            <a:pPr algn="just" marL="0" indent="0" lvl="0">
              <a:lnSpc>
                <a:spcPts val="2940"/>
              </a:lnSpc>
            </a:pPr>
            <a:r>
              <a:rPr lang="en-US" sz="2100" spc="-6">
                <a:solidFill>
                  <a:srgbClr val="000000"/>
                </a:solidFill>
                <a:latin typeface="Roboto"/>
                <a:ea typeface="Roboto"/>
                <a:cs typeface="Roboto"/>
                <a:sym typeface="Roboto"/>
              </a:rPr>
              <a:t>Hai nhóm này chiếm tỷ trọng lớn nhất, cho thấy tệp khách hàng đặt vé online tập trung ở nhóm trẻ và quen với nền tảng số.</a:t>
            </a:r>
          </a:p>
        </p:txBody>
      </p:sp>
      <p:sp>
        <p:nvSpPr>
          <p:cNvPr name="TextBox 37" id="37"/>
          <p:cNvSpPr txBox="true"/>
          <p:nvPr/>
        </p:nvSpPr>
        <p:spPr>
          <a:xfrm rot="0">
            <a:off x="14075915" y="1341236"/>
            <a:ext cx="3578989" cy="928373"/>
          </a:xfrm>
          <a:prstGeom prst="rect">
            <a:avLst/>
          </a:prstGeom>
        </p:spPr>
        <p:txBody>
          <a:bodyPr anchor="t" rtlCol="false" tIns="0" lIns="0" bIns="0" rIns="0">
            <a:spAutoFit/>
          </a:bodyPr>
          <a:lstStyle/>
          <a:p>
            <a:pPr algn="ctr" marL="0" indent="0" lvl="0">
              <a:lnSpc>
                <a:spcPts val="7629"/>
              </a:lnSpc>
              <a:spcBef>
                <a:spcPct val="0"/>
              </a:spcBef>
            </a:pPr>
            <a:r>
              <a:rPr lang="en-US" b="true" sz="5449">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KẾT LUẬN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15830"/>
            <a:ext cx="12771240" cy="10402830"/>
          </a:xfrm>
          <a:custGeom>
            <a:avLst/>
            <a:gdLst/>
            <a:ahLst/>
            <a:cxnLst/>
            <a:rect r="r" b="b" t="t" l="l"/>
            <a:pathLst>
              <a:path h="10402830" w="12771240">
                <a:moveTo>
                  <a:pt x="0" y="0"/>
                </a:moveTo>
                <a:lnTo>
                  <a:pt x="12771240" y="0"/>
                </a:lnTo>
                <a:lnTo>
                  <a:pt x="12771240" y="10402830"/>
                </a:lnTo>
                <a:lnTo>
                  <a:pt x="0" y="10402830"/>
                </a:lnTo>
                <a:lnTo>
                  <a:pt x="0" y="0"/>
                </a:lnTo>
                <a:close/>
              </a:path>
            </a:pathLst>
          </a:custGeom>
          <a:blipFill>
            <a:blip r:embed="rId2">
              <a:alphaModFix amt="35000"/>
            </a:blip>
            <a:stretch>
              <a:fillRect l="-13203" t="0" r="-31605" b="0"/>
            </a:stretch>
          </a:blipFill>
        </p:spPr>
      </p:sp>
      <p:grpSp>
        <p:nvGrpSpPr>
          <p:cNvPr name="Group 3" id="3"/>
          <p:cNvGrpSpPr/>
          <p:nvPr/>
        </p:nvGrpSpPr>
        <p:grpSpPr>
          <a:xfrm rot="0">
            <a:off x="179008" y="1600624"/>
            <a:ext cx="8818600" cy="7185299"/>
            <a:chOff x="0" y="0"/>
            <a:chExt cx="635000" cy="517391"/>
          </a:xfrm>
        </p:grpSpPr>
        <p:sp>
          <p:nvSpPr>
            <p:cNvPr name="Freeform 4" id="4"/>
            <p:cNvSpPr/>
            <p:nvPr/>
          </p:nvSpPr>
          <p:spPr>
            <a:xfrm flipH="false" flipV="false" rot="0">
              <a:off x="0" y="0"/>
              <a:ext cx="635000" cy="517391"/>
            </a:xfrm>
            <a:custGeom>
              <a:avLst/>
              <a:gdLst/>
              <a:ahLst/>
              <a:cxnLst/>
              <a:rect r="r" b="b" t="t" l="l"/>
              <a:pathLst>
                <a:path h="517391" w="635000">
                  <a:moveTo>
                    <a:pt x="17147" y="0"/>
                  </a:moveTo>
                  <a:lnTo>
                    <a:pt x="617853" y="0"/>
                  </a:lnTo>
                  <a:cubicBezTo>
                    <a:pt x="627323" y="0"/>
                    <a:pt x="635000" y="7677"/>
                    <a:pt x="635000" y="17147"/>
                  </a:cubicBezTo>
                  <a:lnTo>
                    <a:pt x="635000" y="500245"/>
                  </a:lnTo>
                  <a:cubicBezTo>
                    <a:pt x="635000" y="509714"/>
                    <a:pt x="627323" y="517391"/>
                    <a:pt x="617853" y="517391"/>
                  </a:cubicBezTo>
                  <a:lnTo>
                    <a:pt x="17147" y="517391"/>
                  </a:lnTo>
                  <a:cubicBezTo>
                    <a:pt x="7677" y="517391"/>
                    <a:pt x="0" y="509714"/>
                    <a:pt x="0" y="500245"/>
                  </a:cubicBezTo>
                  <a:lnTo>
                    <a:pt x="0" y="17147"/>
                  </a:lnTo>
                  <a:cubicBezTo>
                    <a:pt x="0" y="7677"/>
                    <a:pt x="7677" y="0"/>
                    <a:pt x="17147" y="0"/>
                  </a:cubicBezTo>
                  <a:close/>
                </a:path>
              </a:pathLst>
            </a:custGeom>
            <a:solidFill>
              <a:srgbClr val="FEFEFE"/>
            </a:solidFill>
            <a:ln w="28575" cap="rnd">
              <a:solidFill>
                <a:srgbClr val="4369F8"/>
              </a:solidFill>
              <a:prstDash val="dash"/>
              <a:round/>
            </a:ln>
          </p:spPr>
        </p:sp>
        <p:sp>
          <p:nvSpPr>
            <p:cNvPr name="TextBox 5" id="5"/>
            <p:cNvSpPr txBox="true"/>
            <p:nvPr/>
          </p:nvSpPr>
          <p:spPr>
            <a:xfrm>
              <a:off x="0" y="-76200"/>
              <a:ext cx="635000" cy="593591"/>
            </a:xfrm>
            <a:prstGeom prst="rect">
              <a:avLst/>
            </a:prstGeom>
          </p:spPr>
          <p:txBody>
            <a:bodyPr anchor="ctr" rtlCol="false" tIns="50800" lIns="50800" bIns="50800" rIns="50800"/>
            <a:lstStyle/>
            <a:p>
              <a:pPr algn="ctr" marL="0" indent="0" lvl="0">
                <a:lnSpc>
                  <a:spcPts val="3040"/>
                </a:lnSpc>
                <a:spcBef>
                  <a:spcPct val="0"/>
                </a:spcBef>
              </a:pPr>
            </a:p>
          </p:txBody>
        </p:sp>
      </p:grpSp>
      <p:sp>
        <p:nvSpPr>
          <p:cNvPr name="Freeform 6" id="6"/>
          <p:cNvSpPr/>
          <p:nvPr/>
        </p:nvSpPr>
        <p:spPr>
          <a:xfrm flipH="false" flipV="false" rot="0">
            <a:off x="271815" y="2171719"/>
            <a:ext cx="8631200" cy="6459602"/>
          </a:xfrm>
          <a:custGeom>
            <a:avLst/>
            <a:gdLst/>
            <a:ahLst/>
            <a:cxnLst/>
            <a:rect r="r" b="b" t="t" l="l"/>
            <a:pathLst>
              <a:path h="6459602" w="8631200">
                <a:moveTo>
                  <a:pt x="0" y="0"/>
                </a:moveTo>
                <a:lnTo>
                  <a:pt x="8631201" y="0"/>
                </a:lnTo>
                <a:lnTo>
                  <a:pt x="8631201" y="6459602"/>
                </a:lnTo>
                <a:lnTo>
                  <a:pt x="0" y="6459602"/>
                </a:lnTo>
                <a:lnTo>
                  <a:pt x="0" y="0"/>
                </a:lnTo>
                <a:close/>
              </a:path>
            </a:pathLst>
          </a:custGeom>
          <a:blipFill>
            <a:blip r:embed="rId3"/>
            <a:stretch>
              <a:fillRect l="-557" t="0" r="-2493" b="-2754"/>
            </a:stretch>
          </a:blipFill>
          <a:ln cap="sq">
            <a:noFill/>
            <a:prstDash val="solid"/>
            <a:miter/>
          </a:ln>
        </p:spPr>
      </p:sp>
      <p:grpSp>
        <p:nvGrpSpPr>
          <p:cNvPr name="Group 7" id="7"/>
          <p:cNvGrpSpPr/>
          <p:nvPr/>
        </p:nvGrpSpPr>
        <p:grpSpPr>
          <a:xfrm rot="0">
            <a:off x="12771240" y="-350209"/>
            <a:ext cx="5309744" cy="10847629"/>
            <a:chOff x="0" y="0"/>
            <a:chExt cx="1092540" cy="2232022"/>
          </a:xfrm>
        </p:grpSpPr>
        <p:sp>
          <p:nvSpPr>
            <p:cNvPr name="Freeform 8" id="8"/>
            <p:cNvSpPr/>
            <p:nvPr/>
          </p:nvSpPr>
          <p:spPr>
            <a:xfrm flipH="false" flipV="false" rot="0">
              <a:off x="0" y="0"/>
              <a:ext cx="1092540" cy="2232022"/>
            </a:xfrm>
            <a:custGeom>
              <a:avLst/>
              <a:gdLst/>
              <a:ahLst/>
              <a:cxnLst/>
              <a:rect r="r" b="b" t="t" l="l"/>
              <a:pathLst>
                <a:path h="2232022" w="1092540">
                  <a:moveTo>
                    <a:pt x="28478" y="0"/>
                  </a:moveTo>
                  <a:lnTo>
                    <a:pt x="1064062" y="0"/>
                  </a:lnTo>
                  <a:cubicBezTo>
                    <a:pt x="1071615" y="0"/>
                    <a:pt x="1078858" y="3000"/>
                    <a:pt x="1084199" y="8341"/>
                  </a:cubicBezTo>
                  <a:cubicBezTo>
                    <a:pt x="1089540" y="13682"/>
                    <a:pt x="1092540" y="20925"/>
                    <a:pt x="1092540" y="28478"/>
                  </a:cubicBezTo>
                  <a:lnTo>
                    <a:pt x="1092540" y="2203545"/>
                  </a:lnTo>
                  <a:cubicBezTo>
                    <a:pt x="1092540" y="2219273"/>
                    <a:pt x="1079790" y="2232022"/>
                    <a:pt x="1064062" y="2232022"/>
                  </a:cubicBezTo>
                  <a:lnTo>
                    <a:pt x="28478" y="2232022"/>
                  </a:lnTo>
                  <a:cubicBezTo>
                    <a:pt x="12750" y="2232022"/>
                    <a:pt x="0" y="2219273"/>
                    <a:pt x="0" y="2203545"/>
                  </a:cubicBezTo>
                  <a:lnTo>
                    <a:pt x="0" y="28478"/>
                  </a:lnTo>
                  <a:cubicBezTo>
                    <a:pt x="0" y="20925"/>
                    <a:pt x="3000" y="13682"/>
                    <a:pt x="8341" y="8341"/>
                  </a:cubicBezTo>
                  <a:cubicBezTo>
                    <a:pt x="13682" y="3000"/>
                    <a:pt x="20925" y="0"/>
                    <a:pt x="28478" y="0"/>
                  </a:cubicBezTo>
                  <a:close/>
                </a:path>
              </a:pathLst>
            </a:custGeom>
            <a:solidFill>
              <a:srgbClr val="C2DCFF">
                <a:alpha val="47843"/>
              </a:srgbClr>
            </a:solidFill>
          </p:spPr>
        </p:sp>
        <p:sp>
          <p:nvSpPr>
            <p:cNvPr name="TextBox 9" id="9"/>
            <p:cNvSpPr txBox="true"/>
            <p:nvPr/>
          </p:nvSpPr>
          <p:spPr>
            <a:xfrm>
              <a:off x="0" y="-76200"/>
              <a:ext cx="1092540" cy="2308222"/>
            </a:xfrm>
            <a:prstGeom prst="rect">
              <a:avLst/>
            </a:prstGeom>
          </p:spPr>
          <p:txBody>
            <a:bodyPr anchor="ctr" rtlCol="false" tIns="50800" lIns="50800" bIns="50800" rIns="50800"/>
            <a:lstStyle/>
            <a:p>
              <a:pPr algn="ctr">
                <a:lnSpc>
                  <a:spcPts val="3040"/>
                </a:lnSpc>
              </a:pPr>
            </a:p>
          </p:txBody>
        </p:sp>
      </p:grpSp>
      <p:graphicFrame>
        <p:nvGraphicFramePr>
          <p:cNvPr name="Table 10" id="10"/>
          <p:cNvGraphicFramePr>
            <a:graphicFrameLocks noGrp="true"/>
          </p:cNvGraphicFramePr>
          <p:nvPr/>
        </p:nvGraphicFramePr>
        <p:xfrm>
          <a:off x="13180878" y="1499345"/>
          <a:ext cx="4614478" cy="6991945"/>
        </p:xfrm>
        <a:graphic>
          <a:graphicData uri="http://schemas.openxmlformats.org/drawingml/2006/table">
            <a:tbl>
              <a:tblPr/>
              <a:tblGrid>
                <a:gridCol w="2214572"/>
                <a:gridCol w="2399906"/>
              </a:tblGrid>
              <a:tr h="1511126">
                <a:tc>
                  <a:txBody>
                    <a:bodyPr anchor="t" rtlCol="false"/>
                    <a:lstStyle/>
                    <a:p>
                      <a:pPr algn="ctr">
                        <a:lnSpc>
                          <a:spcPts val="2799"/>
                        </a:lnSpc>
                        <a:defRPr/>
                      </a:pPr>
                      <a:endParaRPr lang="en-US" sz="1100"/>
                    </a:p>
                    <a:p>
                      <a:pPr algn="ctr">
                        <a:lnSpc>
                          <a:spcPts val="2799"/>
                        </a:lnSpc>
                      </a:pPr>
                      <a:r>
                        <a:rPr lang="en-US" b="true" sz="1999">
                          <a:gradFill>
                            <a:gsLst>
                              <a:gs pos="0">
                                <a:srgbClr val="293E9C">
                                  <a:alpha val="100000"/>
                                </a:srgbClr>
                              </a:gs>
                              <a:gs pos="100000">
                                <a:srgbClr val="3A58E4">
                                  <a:alpha val="100000"/>
                                </a:srgbClr>
                              </a:gs>
                            </a:gsLst>
                            <a:path path="circle">
                              <a:fillToRect l="0" r="100000" t="0" b="100000"/>
                            </a:path>
                            <a:tileRect r="0" l="-100000" b="0" t="-100000"/>
                          </a:gradFill>
                          <a:latin typeface="Roboto Bold"/>
                          <a:ea typeface="Roboto Bold"/>
                          <a:cs typeface="Roboto Bold"/>
                          <a:sym typeface="Roboto Bold"/>
                        </a:rPr>
                        <a:t>Thời điểm</a:t>
                      </a:r>
                    </a:p>
                    <a:p>
                      <a:pPr algn="ctr">
                        <a:lnSpc>
                          <a:spcPts val="2799"/>
                        </a:lnSpc>
                      </a:pPr>
                    </a:p>
                  </a:txBody>
                  <a:tcPr marL="190500" marR="190500" marT="190500" marB="190500" anchor="ctr">
                    <a:lnL cmpd="sng" algn="ctr" cap="flat" w="28575">
                      <a:solidFill>
                        <a:srgbClr val="9AADFF"/>
                      </a:solidFill>
                      <a:prstDash val="solid"/>
                      <a:round/>
                      <a:headEnd type="none" w="med" len="med"/>
                      <a:tailEnd type="none" w="med" len="med"/>
                    </a:lnL>
                    <a:lnR cmpd="sng" algn="ctr" cap="flat" w="28575">
                      <a:solidFill>
                        <a:srgbClr val="9AADFF"/>
                      </a:solidFill>
                      <a:prstDash val="solid"/>
                      <a:round/>
                      <a:headEnd type="none" w="med" len="med"/>
                      <a:tailEnd type="none" w="med" len="med"/>
                    </a:lnR>
                    <a:lnT cmpd="sng" algn="ctr" cap="flat" w="28575">
                      <a:solidFill>
                        <a:srgbClr val="9AADFF"/>
                      </a:solidFill>
                      <a:prstDash val="solid"/>
                      <a:round/>
                      <a:headEnd type="none" w="med" len="med"/>
                      <a:tailEnd type="none" w="med" len="med"/>
                    </a:lnT>
                    <a:lnB cmpd="sng" algn="ctr" cap="flat" w="28575">
                      <a:solidFill>
                        <a:srgbClr val="9AADFF"/>
                      </a:solidFill>
                      <a:prstDash val="solid"/>
                      <a:round/>
                      <a:headEnd type="none" w="med" len="med"/>
                      <a:tailEnd type="none" w="med" len="med"/>
                    </a:lnB>
                  </a:tcPr>
                </a:tc>
                <a:tc>
                  <a:txBody>
                    <a:bodyPr anchor="t" rtlCol="false"/>
                    <a:lstStyle/>
                    <a:p>
                      <a:pPr algn="ctr">
                        <a:lnSpc>
                          <a:spcPts val="2799"/>
                        </a:lnSpc>
                        <a:defRPr/>
                      </a:pPr>
                      <a:r>
                        <a:rPr lang="en-US" b="true" sz="1999">
                          <a:gradFill>
                            <a:gsLst>
                              <a:gs pos="0">
                                <a:srgbClr val="293E9C">
                                  <a:alpha val="100000"/>
                                </a:srgbClr>
                              </a:gs>
                              <a:gs pos="100000">
                                <a:srgbClr val="3A58E4">
                                  <a:alpha val="100000"/>
                                </a:srgbClr>
                              </a:gs>
                            </a:gsLst>
                            <a:path path="circle">
                              <a:fillToRect l="0" r="100000" t="0" b="100000"/>
                            </a:path>
                            <a:tileRect r="0" l="-100000" b="0" t="-100000"/>
                          </a:gradFill>
                          <a:latin typeface="Roboto Bold"/>
                          <a:ea typeface="Roboto Bold"/>
                          <a:cs typeface="Roboto Bold"/>
                          <a:sym typeface="Roboto Bold"/>
                        </a:rPr>
                        <a:t>Khuyến nghị </a:t>
                      </a:r>
                      <a:endParaRPr lang="en-US" sz="1100"/>
                    </a:p>
                  </a:txBody>
                  <a:tcPr marL="190500" marR="190500" marT="190500" marB="190500" anchor="ctr">
                    <a:lnL cmpd="sng" algn="ctr" cap="flat" w="28575">
                      <a:solidFill>
                        <a:srgbClr val="9AADFF"/>
                      </a:solidFill>
                      <a:prstDash val="solid"/>
                      <a:round/>
                      <a:headEnd type="none" w="med" len="med"/>
                      <a:tailEnd type="none" w="med" len="med"/>
                    </a:lnL>
                    <a:lnR cmpd="sng" algn="ctr" cap="flat" w="28575">
                      <a:solidFill>
                        <a:srgbClr val="9AADFF"/>
                      </a:solidFill>
                      <a:prstDash val="solid"/>
                      <a:round/>
                      <a:headEnd type="none" w="med" len="med"/>
                      <a:tailEnd type="none" w="med" len="med"/>
                    </a:lnR>
                    <a:lnT cmpd="sng" algn="ctr" cap="flat" w="28575">
                      <a:solidFill>
                        <a:srgbClr val="9AADFF"/>
                      </a:solidFill>
                      <a:prstDash val="solid"/>
                      <a:round/>
                      <a:headEnd type="none" w="med" len="med"/>
                      <a:tailEnd type="none" w="med" len="med"/>
                    </a:lnT>
                    <a:lnB cmpd="sng" algn="ctr" cap="flat" w="28575">
                      <a:solidFill>
                        <a:srgbClr val="9AADFF"/>
                      </a:solidFill>
                      <a:prstDash val="solid"/>
                      <a:round/>
                      <a:headEnd type="none" w="med" len="med"/>
                      <a:tailEnd type="none" w="med" len="med"/>
                    </a:lnB>
                  </a:tcPr>
                </a:tc>
              </a:tr>
              <a:tr h="2572739">
                <a:tc>
                  <a:txBody>
                    <a:bodyPr anchor="t" rtlCol="false"/>
                    <a:lstStyle/>
                    <a:p>
                      <a:pPr algn="ctr">
                        <a:lnSpc>
                          <a:spcPts val="2799"/>
                        </a:lnSpc>
                        <a:defRPr/>
                      </a:pPr>
                      <a:r>
                        <a:rPr lang="en-US" sz="1999">
                          <a:solidFill>
                            <a:srgbClr val="000000"/>
                          </a:solidFill>
                          <a:latin typeface="Roboto"/>
                          <a:ea typeface="Roboto"/>
                          <a:cs typeface="Roboto"/>
                          <a:sym typeface="Roboto"/>
                        </a:rPr>
                        <a:t>Cuối tuần / buổi tối</a:t>
                      </a:r>
                      <a:endParaRPr lang="en-US" sz="1100"/>
                    </a:p>
                  </a:txBody>
                  <a:tcPr marL="190500" marR="190500" marT="190500" marB="190500" anchor="ctr">
                    <a:lnL cmpd="sng" algn="ctr" cap="flat" w="28575">
                      <a:solidFill>
                        <a:srgbClr val="9AADFF"/>
                      </a:solidFill>
                      <a:prstDash val="solid"/>
                      <a:round/>
                      <a:headEnd type="none" w="med" len="med"/>
                      <a:tailEnd type="none" w="med" len="med"/>
                    </a:lnL>
                    <a:lnR cmpd="sng" algn="ctr" cap="flat" w="28575">
                      <a:solidFill>
                        <a:srgbClr val="9AADFF"/>
                      </a:solidFill>
                      <a:prstDash val="solid"/>
                      <a:round/>
                      <a:headEnd type="none" w="med" len="med"/>
                      <a:tailEnd type="none" w="med" len="med"/>
                    </a:lnR>
                    <a:lnT cmpd="sng" algn="ctr" cap="flat" w="28575">
                      <a:solidFill>
                        <a:srgbClr val="9AADFF"/>
                      </a:solidFill>
                      <a:prstDash val="solid"/>
                      <a:round/>
                      <a:headEnd type="none" w="med" len="med"/>
                      <a:tailEnd type="none" w="med" len="med"/>
                    </a:lnT>
                    <a:lnB cmpd="sng" algn="ctr" cap="flat" w="28575">
                      <a:solidFill>
                        <a:srgbClr val="9AADFF"/>
                      </a:solidFill>
                      <a:prstDash val="solid"/>
                      <a:round/>
                      <a:headEnd type="none" w="med" len="med"/>
                      <a:tailEnd type="none" w="med" len="med"/>
                    </a:lnB>
                  </a:tcPr>
                </a:tc>
                <a:tc>
                  <a:txBody>
                    <a:bodyPr anchor="t" rtlCol="false"/>
                    <a:lstStyle/>
                    <a:p>
                      <a:pPr algn="l">
                        <a:lnSpc>
                          <a:spcPts val="2799"/>
                        </a:lnSpc>
                        <a:defRPr/>
                      </a:pPr>
                      <a:endParaRPr lang="en-US" sz="1100"/>
                    </a:p>
                    <a:p>
                      <a:pPr algn="l">
                        <a:lnSpc>
                          <a:spcPts val="2799"/>
                        </a:lnSpc>
                      </a:pPr>
                      <a:r>
                        <a:rPr lang="en-US" sz="1999">
                          <a:solidFill>
                            <a:srgbClr val="000000"/>
                          </a:solidFill>
                          <a:latin typeface="Roboto"/>
                          <a:ea typeface="Roboto"/>
                          <a:cs typeface="Roboto"/>
                          <a:sym typeface="Roboto"/>
                        </a:rPr>
                        <a:t>Tập trung combo, cross-sell bắp nước, không cần giảm sâu</a:t>
                      </a:r>
                    </a:p>
                    <a:p>
                      <a:pPr algn="l">
                        <a:lnSpc>
                          <a:spcPts val="2799"/>
                        </a:lnSpc>
                      </a:pPr>
                    </a:p>
                  </a:txBody>
                  <a:tcPr marL="190500" marR="190500" marT="190500" marB="190500" anchor="ctr">
                    <a:lnL cmpd="sng" algn="ctr" cap="flat" w="28575">
                      <a:solidFill>
                        <a:srgbClr val="9AADFF"/>
                      </a:solidFill>
                      <a:prstDash val="solid"/>
                      <a:round/>
                      <a:headEnd type="none" w="med" len="med"/>
                      <a:tailEnd type="none" w="med" len="med"/>
                    </a:lnL>
                    <a:lnR cmpd="sng" algn="ctr" cap="flat" w="28575">
                      <a:solidFill>
                        <a:srgbClr val="9AADFF"/>
                      </a:solidFill>
                      <a:prstDash val="solid"/>
                      <a:round/>
                      <a:headEnd type="none" w="med" len="med"/>
                      <a:tailEnd type="none" w="med" len="med"/>
                    </a:lnR>
                    <a:lnT cmpd="sng" algn="ctr" cap="flat" w="28575">
                      <a:solidFill>
                        <a:srgbClr val="9AADFF"/>
                      </a:solidFill>
                      <a:prstDash val="solid"/>
                      <a:round/>
                      <a:headEnd type="none" w="med" len="med"/>
                      <a:tailEnd type="none" w="med" len="med"/>
                    </a:lnT>
                    <a:lnB cmpd="sng" algn="ctr" cap="flat" w="28575">
                      <a:solidFill>
                        <a:srgbClr val="9AADFF"/>
                      </a:solidFill>
                      <a:prstDash val="solid"/>
                      <a:round/>
                      <a:headEnd type="none" w="med" len="med"/>
                      <a:tailEnd type="none" w="med" len="med"/>
                    </a:lnB>
                  </a:tcPr>
                </a:tc>
              </a:tr>
              <a:tr h="2908080">
                <a:tc>
                  <a:txBody>
                    <a:bodyPr anchor="t" rtlCol="false"/>
                    <a:lstStyle/>
                    <a:p>
                      <a:pPr algn="ctr">
                        <a:lnSpc>
                          <a:spcPts val="2799"/>
                        </a:lnSpc>
                        <a:defRPr/>
                      </a:pPr>
                      <a:r>
                        <a:rPr lang="en-US" sz="1999">
                          <a:solidFill>
                            <a:srgbClr val="000000"/>
                          </a:solidFill>
                          <a:latin typeface="Roboto"/>
                          <a:ea typeface="Roboto"/>
                          <a:cs typeface="Roboto"/>
                          <a:sym typeface="Roboto"/>
                        </a:rPr>
                        <a:t>Ngày thấp điểm / sau mùa cao điểm</a:t>
                      </a:r>
                      <a:endParaRPr lang="en-US" sz="1100"/>
                    </a:p>
                  </a:txBody>
                  <a:tcPr marL="190500" marR="190500" marT="190500" marB="190500" anchor="ctr">
                    <a:lnL cmpd="sng" algn="ctr" cap="flat" w="28575">
                      <a:solidFill>
                        <a:srgbClr val="9AADFF"/>
                      </a:solidFill>
                      <a:prstDash val="solid"/>
                      <a:round/>
                      <a:headEnd type="none" w="med" len="med"/>
                      <a:tailEnd type="none" w="med" len="med"/>
                    </a:lnL>
                    <a:lnR cmpd="sng" algn="ctr" cap="flat" w="28575">
                      <a:solidFill>
                        <a:srgbClr val="9AADFF"/>
                      </a:solidFill>
                      <a:prstDash val="solid"/>
                      <a:round/>
                      <a:headEnd type="none" w="med" len="med"/>
                      <a:tailEnd type="none" w="med" len="med"/>
                    </a:lnR>
                    <a:lnT cmpd="sng" algn="ctr" cap="flat" w="28575">
                      <a:solidFill>
                        <a:srgbClr val="9AADFF"/>
                      </a:solidFill>
                      <a:prstDash val="solid"/>
                      <a:round/>
                      <a:headEnd type="none" w="med" len="med"/>
                      <a:tailEnd type="none" w="med" len="med"/>
                    </a:lnT>
                    <a:lnB cmpd="sng" algn="ctr" cap="flat" w="28575">
                      <a:solidFill>
                        <a:srgbClr val="9AADFF"/>
                      </a:solidFill>
                      <a:prstDash val="solid"/>
                      <a:round/>
                      <a:headEnd type="none" w="med" len="med"/>
                      <a:tailEnd type="none" w="med" len="med"/>
                    </a:lnB>
                  </a:tcPr>
                </a:tc>
                <a:tc>
                  <a:txBody>
                    <a:bodyPr anchor="t" rtlCol="false"/>
                    <a:lstStyle/>
                    <a:p>
                      <a:pPr algn="l">
                        <a:lnSpc>
                          <a:spcPts val="2799"/>
                        </a:lnSpc>
                        <a:defRPr/>
                      </a:pPr>
                      <a:r>
                        <a:rPr lang="en-US" sz="1999">
                          <a:solidFill>
                            <a:srgbClr val="000000"/>
                          </a:solidFill>
                          <a:latin typeface="Roboto"/>
                          <a:ea typeface="Roboto"/>
                          <a:cs typeface="Roboto"/>
                          <a:sym typeface="Roboto"/>
                        </a:rPr>
                        <a:t>Flash sale nhẹ, coupon lần mua tiếp theo để kéo khách quay lại</a:t>
                      </a:r>
                      <a:endParaRPr lang="en-US" sz="1100"/>
                    </a:p>
                  </a:txBody>
                  <a:tcPr marL="190500" marR="190500" marT="190500" marB="190500" anchor="ctr">
                    <a:lnL cmpd="sng" algn="ctr" cap="flat" w="28575">
                      <a:solidFill>
                        <a:srgbClr val="9AADFF"/>
                      </a:solidFill>
                      <a:prstDash val="solid"/>
                      <a:round/>
                      <a:headEnd type="none" w="med" len="med"/>
                      <a:tailEnd type="none" w="med" len="med"/>
                    </a:lnL>
                    <a:lnR cmpd="sng" algn="ctr" cap="flat" w="28575">
                      <a:solidFill>
                        <a:srgbClr val="9AADFF"/>
                      </a:solidFill>
                      <a:prstDash val="solid"/>
                      <a:round/>
                      <a:headEnd type="none" w="med" len="med"/>
                      <a:tailEnd type="none" w="med" len="med"/>
                    </a:lnR>
                    <a:lnT cmpd="sng" algn="ctr" cap="flat" w="28575">
                      <a:solidFill>
                        <a:srgbClr val="9AADFF"/>
                      </a:solidFill>
                      <a:prstDash val="solid"/>
                      <a:round/>
                      <a:headEnd type="none" w="med" len="med"/>
                      <a:tailEnd type="none" w="med" len="med"/>
                    </a:lnT>
                    <a:lnB cmpd="sng" algn="ctr" cap="flat" w="28575">
                      <a:solidFill>
                        <a:srgbClr val="9AADFF"/>
                      </a:solidFill>
                      <a:prstDash val="solid"/>
                      <a:round/>
                      <a:headEnd type="none" w="med" len="med"/>
                      <a:tailEnd type="none" w="med" len="med"/>
                    </a:lnB>
                  </a:tcPr>
                </a:tc>
              </a:tr>
            </a:tbl>
          </a:graphicData>
        </a:graphic>
      </p:graphicFrame>
      <p:grpSp>
        <p:nvGrpSpPr>
          <p:cNvPr name="Group 11" id="11"/>
          <p:cNvGrpSpPr/>
          <p:nvPr/>
        </p:nvGrpSpPr>
        <p:grpSpPr>
          <a:xfrm rot="0">
            <a:off x="179008" y="9258300"/>
            <a:ext cx="17901977" cy="1593100"/>
            <a:chOff x="0" y="0"/>
            <a:chExt cx="7733267" cy="688185"/>
          </a:xfrm>
        </p:grpSpPr>
        <p:sp>
          <p:nvSpPr>
            <p:cNvPr name="Freeform 12" id="12"/>
            <p:cNvSpPr/>
            <p:nvPr/>
          </p:nvSpPr>
          <p:spPr>
            <a:xfrm flipH="false" flipV="false" rot="0">
              <a:off x="0" y="0"/>
              <a:ext cx="7733267" cy="688185"/>
            </a:xfrm>
            <a:custGeom>
              <a:avLst/>
              <a:gdLst/>
              <a:ahLst/>
              <a:cxnLst/>
              <a:rect r="r" b="b" t="t" l="l"/>
              <a:pathLst>
                <a:path h="688185" w="7733267">
                  <a:moveTo>
                    <a:pt x="18596" y="0"/>
                  </a:moveTo>
                  <a:lnTo>
                    <a:pt x="7714671" y="0"/>
                  </a:lnTo>
                  <a:cubicBezTo>
                    <a:pt x="7719602" y="0"/>
                    <a:pt x="7724332" y="1959"/>
                    <a:pt x="7727820" y="5447"/>
                  </a:cubicBezTo>
                  <a:cubicBezTo>
                    <a:pt x="7731307" y="8934"/>
                    <a:pt x="7733267" y="13664"/>
                    <a:pt x="7733267" y="18596"/>
                  </a:cubicBezTo>
                  <a:lnTo>
                    <a:pt x="7733267" y="669589"/>
                  </a:lnTo>
                  <a:cubicBezTo>
                    <a:pt x="7733267" y="679859"/>
                    <a:pt x="7724941" y="688185"/>
                    <a:pt x="7714671" y="688185"/>
                  </a:cubicBezTo>
                  <a:lnTo>
                    <a:pt x="18596" y="688185"/>
                  </a:lnTo>
                  <a:cubicBezTo>
                    <a:pt x="8326" y="688185"/>
                    <a:pt x="0" y="679859"/>
                    <a:pt x="0" y="669589"/>
                  </a:cubicBezTo>
                  <a:lnTo>
                    <a:pt x="0" y="18596"/>
                  </a:lnTo>
                  <a:cubicBezTo>
                    <a:pt x="0" y="8326"/>
                    <a:pt x="8326" y="0"/>
                    <a:pt x="18596" y="0"/>
                  </a:cubicBezTo>
                  <a:close/>
                </a:path>
              </a:pathLst>
            </a:custGeom>
            <a:gradFill rotWithShape="true">
              <a:gsLst>
                <a:gs pos="0">
                  <a:srgbClr val="001F65">
                    <a:alpha val="100000"/>
                  </a:srgbClr>
                </a:gs>
                <a:gs pos="100000">
                  <a:srgbClr val="6895FD">
                    <a:alpha val="100000"/>
                  </a:srgbClr>
                </a:gs>
              </a:gsLst>
              <a:lin ang="5400000"/>
            </a:gradFill>
          </p:spPr>
        </p:sp>
        <p:sp>
          <p:nvSpPr>
            <p:cNvPr name="TextBox 13" id="13"/>
            <p:cNvSpPr txBox="true"/>
            <p:nvPr/>
          </p:nvSpPr>
          <p:spPr>
            <a:xfrm>
              <a:off x="0" y="-47625"/>
              <a:ext cx="7733267" cy="735810"/>
            </a:xfrm>
            <a:prstGeom prst="rect">
              <a:avLst/>
            </a:prstGeom>
          </p:spPr>
          <p:txBody>
            <a:bodyPr anchor="ctr" rtlCol="false" tIns="33379" lIns="33379" bIns="33379" rIns="33379"/>
            <a:lstStyle/>
            <a:p>
              <a:pPr algn="l" marL="0" indent="0" lvl="0">
                <a:lnSpc>
                  <a:spcPts val="3080"/>
                </a:lnSpc>
                <a:spcBef>
                  <a:spcPct val="0"/>
                </a:spcBef>
              </a:pPr>
            </a:p>
          </p:txBody>
        </p:sp>
      </p:grpSp>
      <p:grpSp>
        <p:nvGrpSpPr>
          <p:cNvPr name="Group 14" id="14"/>
          <p:cNvGrpSpPr/>
          <p:nvPr/>
        </p:nvGrpSpPr>
        <p:grpSpPr>
          <a:xfrm rot="0">
            <a:off x="0" y="558055"/>
            <a:ext cx="6273550" cy="941289"/>
            <a:chOff x="0" y="0"/>
            <a:chExt cx="8364734" cy="1255052"/>
          </a:xfrm>
        </p:grpSpPr>
        <p:grpSp>
          <p:nvGrpSpPr>
            <p:cNvPr name="Group 15" id="15"/>
            <p:cNvGrpSpPr/>
            <p:nvPr/>
          </p:nvGrpSpPr>
          <p:grpSpPr>
            <a:xfrm rot="-5400000">
              <a:off x="3554841" y="-3554841"/>
              <a:ext cx="1255052" cy="8364734"/>
              <a:chOff x="0" y="0"/>
              <a:chExt cx="189807" cy="1265037"/>
            </a:xfrm>
          </p:grpSpPr>
          <p:sp>
            <p:nvSpPr>
              <p:cNvPr name="Freeform 16" id="16"/>
              <p:cNvSpPr/>
              <p:nvPr/>
            </p:nvSpPr>
            <p:spPr>
              <a:xfrm flipH="false" flipV="false" rot="0">
                <a:off x="0" y="0"/>
                <a:ext cx="189807" cy="1265037"/>
              </a:xfrm>
              <a:custGeom>
                <a:avLst/>
                <a:gdLst/>
                <a:ahLst/>
                <a:cxnLst/>
                <a:rect r="r" b="b" t="t" l="l"/>
                <a:pathLst>
                  <a:path h="1265037" w="189807">
                    <a:moveTo>
                      <a:pt x="189807" y="57692"/>
                    </a:moveTo>
                    <a:lnTo>
                      <a:pt x="189807" y="1096127"/>
                    </a:lnTo>
                    <a:lnTo>
                      <a:pt x="94904" y="1265037"/>
                    </a:lnTo>
                    <a:lnTo>
                      <a:pt x="0" y="1096127"/>
                    </a:lnTo>
                    <a:lnTo>
                      <a:pt x="0" y="57692"/>
                    </a:lnTo>
                    <a:cubicBezTo>
                      <a:pt x="0" y="22860"/>
                      <a:pt x="11388" y="0"/>
                      <a:pt x="24675" y="0"/>
                    </a:cubicBezTo>
                    <a:lnTo>
                      <a:pt x="165132" y="0"/>
                    </a:lnTo>
                    <a:cubicBezTo>
                      <a:pt x="178419" y="0"/>
                      <a:pt x="189807" y="22860"/>
                      <a:pt x="189807" y="57692"/>
                    </a:cubicBezTo>
                    <a:close/>
                  </a:path>
                </a:pathLst>
              </a:custGeom>
              <a:gradFill rotWithShape="true">
                <a:gsLst>
                  <a:gs pos="0">
                    <a:srgbClr val="001F65">
                      <a:alpha val="100000"/>
                    </a:srgbClr>
                  </a:gs>
                  <a:gs pos="100000">
                    <a:srgbClr val="6895FD">
                      <a:alpha val="100000"/>
                    </a:srgbClr>
                  </a:gs>
                </a:gsLst>
                <a:lin ang="5400000"/>
              </a:gradFill>
            </p:spPr>
          </p:sp>
          <p:sp>
            <p:nvSpPr>
              <p:cNvPr name="TextBox 17" id="17"/>
              <p:cNvSpPr txBox="true"/>
              <p:nvPr/>
            </p:nvSpPr>
            <p:spPr>
              <a:xfrm>
                <a:off x="0" y="-38100"/>
                <a:ext cx="189807" cy="1126607"/>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8" id="18"/>
            <p:cNvSpPr txBox="true"/>
            <p:nvPr/>
          </p:nvSpPr>
          <p:spPr>
            <a:xfrm rot="0">
              <a:off x="403224" y="163180"/>
              <a:ext cx="6124580" cy="1037577"/>
            </a:xfrm>
            <a:prstGeom prst="rect">
              <a:avLst/>
            </a:prstGeom>
          </p:spPr>
          <p:txBody>
            <a:bodyPr anchor="t" rtlCol="false" tIns="0" lIns="0" bIns="0" rIns="0">
              <a:spAutoFit/>
            </a:bodyPr>
            <a:lstStyle/>
            <a:p>
              <a:pPr algn="l" marL="0" indent="0" lvl="0">
                <a:lnSpc>
                  <a:spcPts val="5578"/>
                </a:lnSpc>
              </a:pPr>
              <a:r>
                <a:rPr lang="en-US" b="true" sz="5692" spc="-364">
                  <a:solidFill>
                    <a:srgbClr val="FFFFFF"/>
                  </a:solidFill>
                  <a:latin typeface="Noto Sans Bold"/>
                  <a:ea typeface="Noto Sans Bold"/>
                  <a:cs typeface="Noto Sans Bold"/>
                  <a:sym typeface="Noto Sans Bold"/>
                </a:rPr>
                <a:t>Thời Điểm</a:t>
              </a:r>
            </a:p>
          </p:txBody>
        </p:sp>
      </p:grpSp>
      <p:grpSp>
        <p:nvGrpSpPr>
          <p:cNvPr name="Group 19" id="19"/>
          <p:cNvGrpSpPr/>
          <p:nvPr/>
        </p:nvGrpSpPr>
        <p:grpSpPr>
          <a:xfrm rot="0">
            <a:off x="9244654" y="1600624"/>
            <a:ext cx="3278936" cy="1293876"/>
            <a:chOff x="0" y="0"/>
            <a:chExt cx="4371915" cy="1725168"/>
          </a:xfrm>
        </p:grpSpPr>
        <p:grpSp>
          <p:nvGrpSpPr>
            <p:cNvPr name="Group 20" id="20"/>
            <p:cNvGrpSpPr/>
            <p:nvPr/>
          </p:nvGrpSpPr>
          <p:grpSpPr>
            <a:xfrm rot="0">
              <a:off x="0" y="0"/>
              <a:ext cx="4371915" cy="1725168"/>
              <a:chOff x="0" y="0"/>
              <a:chExt cx="674678" cy="266230"/>
            </a:xfrm>
          </p:grpSpPr>
          <p:sp>
            <p:nvSpPr>
              <p:cNvPr name="Freeform 21" id="21"/>
              <p:cNvSpPr/>
              <p:nvPr/>
            </p:nvSpPr>
            <p:spPr>
              <a:xfrm flipH="false" flipV="false" rot="0">
                <a:off x="0" y="0"/>
                <a:ext cx="674678" cy="266230"/>
              </a:xfrm>
              <a:custGeom>
                <a:avLst/>
                <a:gdLst/>
                <a:ahLst/>
                <a:cxnLst/>
                <a:rect r="r" b="b" t="t" l="l"/>
                <a:pathLst>
                  <a:path h="266230" w="674678">
                    <a:moveTo>
                      <a:pt x="46115" y="0"/>
                    </a:moveTo>
                    <a:lnTo>
                      <a:pt x="628563" y="0"/>
                    </a:lnTo>
                    <a:cubicBezTo>
                      <a:pt x="640793" y="0"/>
                      <a:pt x="652523" y="4859"/>
                      <a:pt x="661171" y="13507"/>
                    </a:cubicBezTo>
                    <a:cubicBezTo>
                      <a:pt x="669820" y="22155"/>
                      <a:pt x="674678" y="33885"/>
                      <a:pt x="674678" y="46115"/>
                    </a:cubicBezTo>
                    <a:lnTo>
                      <a:pt x="674678" y="220114"/>
                    </a:lnTo>
                    <a:cubicBezTo>
                      <a:pt x="674678" y="232345"/>
                      <a:pt x="669820" y="244074"/>
                      <a:pt x="661171" y="252723"/>
                    </a:cubicBezTo>
                    <a:cubicBezTo>
                      <a:pt x="652523" y="261371"/>
                      <a:pt x="640793" y="266230"/>
                      <a:pt x="628563" y="266230"/>
                    </a:cubicBezTo>
                    <a:lnTo>
                      <a:pt x="46115" y="266230"/>
                    </a:lnTo>
                    <a:cubicBezTo>
                      <a:pt x="33885" y="266230"/>
                      <a:pt x="22155" y="261371"/>
                      <a:pt x="13507" y="252723"/>
                    </a:cubicBezTo>
                    <a:cubicBezTo>
                      <a:pt x="4859" y="244074"/>
                      <a:pt x="0" y="232345"/>
                      <a:pt x="0" y="220114"/>
                    </a:cubicBezTo>
                    <a:lnTo>
                      <a:pt x="0" y="46115"/>
                    </a:lnTo>
                    <a:cubicBezTo>
                      <a:pt x="0" y="33885"/>
                      <a:pt x="4859" y="22155"/>
                      <a:pt x="13507" y="13507"/>
                    </a:cubicBezTo>
                    <a:cubicBezTo>
                      <a:pt x="22155" y="4859"/>
                      <a:pt x="33885" y="0"/>
                      <a:pt x="46115" y="0"/>
                    </a:cubicBezTo>
                    <a:close/>
                  </a:path>
                </a:pathLst>
              </a:custGeom>
              <a:solidFill>
                <a:srgbClr val="FEFEFE"/>
              </a:solidFill>
              <a:ln w="28575" cap="rnd">
                <a:solidFill>
                  <a:srgbClr val="4369F8"/>
                </a:solidFill>
                <a:prstDash val="dash"/>
                <a:round/>
              </a:ln>
            </p:spPr>
          </p:sp>
          <p:sp>
            <p:nvSpPr>
              <p:cNvPr name="TextBox 22" id="22"/>
              <p:cNvSpPr txBox="true"/>
              <p:nvPr/>
            </p:nvSpPr>
            <p:spPr>
              <a:xfrm>
                <a:off x="0" y="-85725"/>
                <a:ext cx="674678" cy="351955"/>
              </a:xfrm>
              <a:prstGeom prst="rect">
                <a:avLst/>
              </a:prstGeom>
            </p:spPr>
            <p:txBody>
              <a:bodyPr anchor="ctr" rtlCol="false" tIns="50800" lIns="50800" bIns="50800" rIns="50800"/>
              <a:lstStyle/>
              <a:p>
                <a:pPr algn="ctr">
                  <a:lnSpc>
                    <a:spcPts val="3040"/>
                  </a:lnSpc>
                </a:pPr>
              </a:p>
            </p:txBody>
          </p:sp>
        </p:grpSp>
        <p:sp>
          <p:nvSpPr>
            <p:cNvPr name="TextBox 23" id="23"/>
            <p:cNvSpPr txBox="true"/>
            <p:nvPr/>
          </p:nvSpPr>
          <p:spPr>
            <a:xfrm rot="0">
              <a:off x="147392" y="238209"/>
              <a:ext cx="4141356" cy="449792"/>
            </a:xfrm>
            <a:prstGeom prst="rect">
              <a:avLst/>
            </a:prstGeom>
          </p:spPr>
          <p:txBody>
            <a:bodyPr anchor="t" rtlCol="false" tIns="0" lIns="0" bIns="0" rIns="0">
              <a:spAutoFit/>
            </a:bodyPr>
            <a:lstStyle/>
            <a:p>
              <a:pPr algn="just" marL="0" indent="0" lvl="0">
                <a:lnSpc>
                  <a:spcPts val="2799"/>
                </a:lnSpc>
              </a:pPr>
              <a:r>
                <a:rPr lang="en-US" b="true" sz="1999" spc="-49">
                  <a:gradFill>
                    <a:gsLst>
                      <a:gs pos="0">
                        <a:srgbClr val="293E9C">
                          <a:alpha val="100000"/>
                        </a:srgbClr>
                      </a:gs>
                      <a:gs pos="100000">
                        <a:srgbClr val="3A58E4">
                          <a:alpha val="100000"/>
                        </a:srgbClr>
                      </a:gs>
                    </a:gsLst>
                    <a:path path="circle">
                      <a:fillToRect l="0" r="100000" t="0" b="100000"/>
                    </a:path>
                    <a:tileRect r="0" l="-100000" b="0" t="-100000"/>
                  </a:gradFill>
                  <a:latin typeface="Roboto Bold"/>
                  <a:ea typeface="Roboto Bold"/>
                  <a:cs typeface="Roboto Bold"/>
                  <a:sym typeface="Roboto Bold"/>
                </a:rPr>
                <a:t>XU HƯỚNG THEO THÁNG</a:t>
              </a:r>
            </a:p>
          </p:txBody>
        </p:sp>
        <p:sp>
          <p:nvSpPr>
            <p:cNvPr name="TextBox 24" id="24"/>
            <p:cNvSpPr txBox="true"/>
            <p:nvPr/>
          </p:nvSpPr>
          <p:spPr>
            <a:xfrm rot="0">
              <a:off x="115280" y="678476"/>
              <a:ext cx="4141356" cy="919692"/>
            </a:xfrm>
            <a:prstGeom prst="rect">
              <a:avLst/>
            </a:prstGeom>
          </p:spPr>
          <p:txBody>
            <a:bodyPr anchor="t" rtlCol="false" tIns="0" lIns="0" bIns="0" rIns="0">
              <a:spAutoFit/>
            </a:bodyPr>
            <a:lstStyle/>
            <a:p>
              <a:pPr algn="l" marL="0" indent="0" lvl="0">
                <a:lnSpc>
                  <a:spcPts val="2799"/>
                </a:lnSpc>
              </a:pPr>
              <a:r>
                <a:rPr lang="en-US" sz="1999">
                  <a:solidFill>
                    <a:srgbClr val="000000"/>
                  </a:solidFill>
                  <a:latin typeface="Roboto"/>
                  <a:ea typeface="Roboto"/>
                  <a:cs typeface="Roboto"/>
                  <a:sym typeface="Roboto"/>
                </a:rPr>
                <a:t>Lượng đặt vé tăng mạnh vào </a:t>
              </a:r>
              <a:r>
                <a:rPr lang="en-US" b="true" sz="1999">
                  <a:solidFill>
                    <a:srgbClr val="000000"/>
                  </a:solidFill>
                  <a:latin typeface="Roboto Bold"/>
                  <a:ea typeface="Roboto Bold"/>
                  <a:cs typeface="Roboto Bold"/>
                  <a:sym typeface="Roboto Bold"/>
                </a:rPr>
                <a:t>mùa hè</a:t>
              </a:r>
              <a:r>
                <a:rPr lang="en-US" sz="1999">
                  <a:solidFill>
                    <a:srgbClr val="000000"/>
                  </a:solidFill>
                  <a:latin typeface="Roboto"/>
                  <a:ea typeface="Roboto"/>
                  <a:cs typeface="Roboto"/>
                  <a:sym typeface="Roboto"/>
                </a:rPr>
                <a:t> (tháng 5-7)</a:t>
              </a:r>
            </a:p>
          </p:txBody>
        </p:sp>
      </p:grpSp>
      <p:grpSp>
        <p:nvGrpSpPr>
          <p:cNvPr name="Group 25" id="25"/>
          <p:cNvGrpSpPr/>
          <p:nvPr/>
        </p:nvGrpSpPr>
        <p:grpSpPr>
          <a:xfrm rot="0">
            <a:off x="9244654" y="6486564"/>
            <a:ext cx="3278936" cy="2299360"/>
            <a:chOff x="0" y="0"/>
            <a:chExt cx="4371915" cy="3065813"/>
          </a:xfrm>
        </p:grpSpPr>
        <p:grpSp>
          <p:nvGrpSpPr>
            <p:cNvPr name="Group 26" id="26"/>
            <p:cNvGrpSpPr/>
            <p:nvPr/>
          </p:nvGrpSpPr>
          <p:grpSpPr>
            <a:xfrm rot="0">
              <a:off x="0" y="0"/>
              <a:ext cx="4371915" cy="3065813"/>
              <a:chOff x="0" y="0"/>
              <a:chExt cx="674678" cy="473119"/>
            </a:xfrm>
          </p:grpSpPr>
          <p:sp>
            <p:nvSpPr>
              <p:cNvPr name="Freeform 27" id="27"/>
              <p:cNvSpPr/>
              <p:nvPr/>
            </p:nvSpPr>
            <p:spPr>
              <a:xfrm flipH="false" flipV="false" rot="0">
                <a:off x="0" y="0"/>
                <a:ext cx="674678" cy="473119"/>
              </a:xfrm>
              <a:custGeom>
                <a:avLst/>
                <a:gdLst/>
                <a:ahLst/>
                <a:cxnLst/>
                <a:rect r="r" b="b" t="t" l="l"/>
                <a:pathLst>
                  <a:path h="473119" w="674678">
                    <a:moveTo>
                      <a:pt x="46115" y="0"/>
                    </a:moveTo>
                    <a:lnTo>
                      <a:pt x="628563" y="0"/>
                    </a:lnTo>
                    <a:cubicBezTo>
                      <a:pt x="640793" y="0"/>
                      <a:pt x="652523" y="4859"/>
                      <a:pt x="661171" y="13507"/>
                    </a:cubicBezTo>
                    <a:cubicBezTo>
                      <a:pt x="669820" y="22155"/>
                      <a:pt x="674678" y="33885"/>
                      <a:pt x="674678" y="46115"/>
                    </a:cubicBezTo>
                    <a:lnTo>
                      <a:pt x="674678" y="427004"/>
                    </a:lnTo>
                    <a:cubicBezTo>
                      <a:pt x="674678" y="439234"/>
                      <a:pt x="669820" y="450964"/>
                      <a:pt x="661171" y="459612"/>
                    </a:cubicBezTo>
                    <a:cubicBezTo>
                      <a:pt x="652523" y="468261"/>
                      <a:pt x="640793" y="473119"/>
                      <a:pt x="628563" y="473119"/>
                    </a:cubicBezTo>
                    <a:lnTo>
                      <a:pt x="46115" y="473119"/>
                    </a:lnTo>
                    <a:cubicBezTo>
                      <a:pt x="33885" y="473119"/>
                      <a:pt x="22155" y="468261"/>
                      <a:pt x="13507" y="459612"/>
                    </a:cubicBezTo>
                    <a:cubicBezTo>
                      <a:pt x="4859" y="450964"/>
                      <a:pt x="0" y="439234"/>
                      <a:pt x="0" y="427004"/>
                    </a:cubicBezTo>
                    <a:lnTo>
                      <a:pt x="0" y="46115"/>
                    </a:lnTo>
                    <a:cubicBezTo>
                      <a:pt x="0" y="33885"/>
                      <a:pt x="4859" y="22155"/>
                      <a:pt x="13507" y="13507"/>
                    </a:cubicBezTo>
                    <a:cubicBezTo>
                      <a:pt x="22155" y="4859"/>
                      <a:pt x="33885" y="0"/>
                      <a:pt x="46115" y="0"/>
                    </a:cubicBezTo>
                    <a:close/>
                  </a:path>
                </a:pathLst>
              </a:custGeom>
              <a:solidFill>
                <a:srgbClr val="FEFEFE"/>
              </a:solidFill>
              <a:ln w="28575" cap="rnd">
                <a:solidFill>
                  <a:srgbClr val="4369F8"/>
                </a:solidFill>
                <a:prstDash val="dash"/>
                <a:round/>
              </a:ln>
            </p:spPr>
          </p:sp>
          <p:sp>
            <p:nvSpPr>
              <p:cNvPr name="TextBox 28" id="28"/>
              <p:cNvSpPr txBox="true"/>
              <p:nvPr/>
            </p:nvSpPr>
            <p:spPr>
              <a:xfrm>
                <a:off x="0" y="-85725"/>
                <a:ext cx="674678" cy="558844"/>
              </a:xfrm>
              <a:prstGeom prst="rect">
                <a:avLst/>
              </a:prstGeom>
            </p:spPr>
            <p:txBody>
              <a:bodyPr anchor="ctr" rtlCol="false" tIns="50800" lIns="50800" bIns="50800" rIns="50800"/>
              <a:lstStyle/>
              <a:p>
                <a:pPr algn="ctr">
                  <a:lnSpc>
                    <a:spcPts val="3040"/>
                  </a:lnSpc>
                </a:pPr>
              </a:p>
            </p:txBody>
          </p:sp>
        </p:grpSp>
        <p:sp>
          <p:nvSpPr>
            <p:cNvPr name="TextBox 29" id="29"/>
            <p:cNvSpPr txBox="true"/>
            <p:nvPr/>
          </p:nvSpPr>
          <p:spPr>
            <a:xfrm rot="0">
              <a:off x="285088" y="132292"/>
              <a:ext cx="3582472" cy="449792"/>
            </a:xfrm>
            <a:prstGeom prst="rect">
              <a:avLst/>
            </a:prstGeom>
          </p:spPr>
          <p:txBody>
            <a:bodyPr anchor="t" rtlCol="false" tIns="0" lIns="0" bIns="0" rIns="0">
              <a:spAutoFit/>
            </a:bodyPr>
            <a:lstStyle/>
            <a:p>
              <a:pPr algn="just" marL="0" indent="0" lvl="0">
                <a:lnSpc>
                  <a:spcPts val="2799"/>
                </a:lnSpc>
                <a:spcBef>
                  <a:spcPct val="0"/>
                </a:spcBef>
              </a:pPr>
              <a:r>
                <a:rPr lang="en-US" b="true" sz="1999" spc="-49" strike="noStrike" u="none">
                  <a:gradFill>
                    <a:gsLst>
                      <a:gs pos="0">
                        <a:srgbClr val="293E9C">
                          <a:alpha val="100000"/>
                        </a:srgbClr>
                      </a:gs>
                      <a:gs pos="100000">
                        <a:srgbClr val="3A58E4">
                          <a:alpha val="100000"/>
                        </a:srgbClr>
                      </a:gs>
                    </a:gsLst>
                    <a:path path="circle">
                      <a:fillToRect l="0" r="100000" t="0" b="100000"/>
                    </a:path>
                    <a:tileRect r="0" l="-100000" b="0" t="-100000"/>
                  </a:gradFill>
                  <a:latin typeface="Roboto Bold"/>
                  <a:ea typeface="Roboto Bold"/>
                  <a:cs typeface="Roboto Bold"/>
                  <a:sym typeface="Roboto Bold"/>
                </a:rPr>
                <a:t>PHÂN BỐ THEO NGÀY</a:t>
              </a:r>
            </a:p>
          </p:txBody>
        </p:sp>
        <p:sp>
          <p:nvSpPr>
            <p:cNvPr name="TextBox 30" id="30"/>
            <p:cNvSpPr txBox="true"/>
            <p:nvPr/>
          </p:nvSpPr>
          <p:spPr>
            <a:xfrm rot="0">
              <a:off x="285088" y="534458"/>
              <a:ext cx="3801739" cy="2329392"/>
            </a:xfrm>
            <a:prstGeom prst="rect">
              <a:avLst/>
            </a:prstGeom>
          </p:spPr>
          <p:txBody>
            <a:bodyPr anchor="t" rtlCol="false" tIns="0" lIns="0" bIns="0" rIns="0">
              <a:spAutoFit/>
            </a:bodyPr>
            <a:lstStyle/>
            <a:p>
              <a:pPr algn="just" marL="0" indent="0" lvl="0">
                <a:lnSpc>
                  <a:spcPts val="2799"/>
                </a:lnSpc>
                <a:spcBef>
                  <a:spcPct val="0"/>
                </a:spcBef>
              </a:pPr>
              <a:r>
                <a:rPr lang="en-US" b="true" sz="1999" spc="-49" strike="noStrike" u="none">
                  <a:solidFill>
                    <a:srgbClr val="000000"/>
                  </a:solidFill>
                  <a:latin typeface="Roboto Bold"/>
                  <a:ea typeface="Roboto Bold"/>
                  <a:cs typeface="Roboto Bold"/>
                  <a:sym typeface="Roboto Bold"/>
                </a:rPr>
                <a:t>Thứ 6,7, Chủ nhật </a:t>
              </a:r>
              <a:r>
                <a:rPr lang="en-US" sz="1999" spc="-49" strike="noStrike" u="none">
                  <a:solidFill>
                    <a:srgbClr val="000000"/>
                  </a:solidFill>
                  <a:latin typeface="Roboto"/>
                  <a:ea typeface="Roboto"/>
                  <a:cs typeface="Roboto"/>
                  <a:sym typeface="Roboto"/>
                </a:rPr>
                <a:t>chiếm hơn </a:t>
              </a:r>
              <a:r>
                <a:rPr lang="en-US" b="true" sz="1999" spc="-49" strike="noStrike" u="none">
                  <a:solidFill>
                    <a:srgbClr val="000000"/>
                  </a:solidFill>
                  <a:latin typeface="Roboto Bold"/>
                  <a:ea typeface="Roboto Bold"/>
                  <a:cs typeface="Roboto Bold"/>
                  <a:sym typeface="Roboto Bold"/>
                </a:rPr>
                <a:t>50% tổng giao dịch tuần</a:t>
              </a:r>
              <a:r>
                <a:rPr lang="en-US" sz="1999" spc="-49" strike="noStrike" u="none">
                  <a:solidFill>
                    <a:srgbClr val="000000"/>
                  </a:solidFill>
                  <a:latin typeface="Roboto"/>
                  <a:ea typeface="Roboto"/>
                  <a:cs typeface="Roboto"/>
                  <a:sym typeface="Roboto"/>
                </a:rPr>
                <a:t>. Các ngày giữa tuần có lượng đặt thấp hơn đáng kể</a:t>
              </a:r>
            </a:p>
          </p:txBody>
        </p:sp>
      </p:grpSp>
      <p:grpSp>
        <p:nvGrpSpPr>
          <p:cNvPr name="Group 31" id="31"/>
          <p:cNvGrpSpPr/>
          <p:nvPr/>
        </p:nvGrpSpPr>
        <p:grpSpPr>
          <a:xfrm rot="0">
            <a:off x="9244654" y="3423612"/>
            <a:ext cx="3278936" cy="2685098"/>
            <a:chOff x="0" y="0"/>
            <a:chExt cx="4371915" cy="3580131"/>
          </a:xfrm>
        </p:grpSpPr>
        <p:grpSp>
          <p:nvGrpSpPr>
            <p:cNvPr name="Group 32" id="32"/>
            <p:cNvGrpSpPr/>
            <p:nvPr/>
          </p:nvGrpSpPr>
          <p:grpSpPr>
            <a:xfrm rot="0">
              <a:off x="0" y="0"/>
              <a:ext cx="4371915" cy="3580131"/>
              <a:chOff x="0" y="0"/>
              <a:chExt cx="674678" cy="552489"/>
            </a:xfrm>
          </p:grpSpPr>
          <p:sp>
            <p:nvSpPr>
              <p:cNvPr name="Freeform 33" id="33"/>
              <p:cNvSpPr/>
              <p:nvPr/>
            </p:nvSpPr>
            <p:spPr>
              <a:xfrm flipH="false" flipV="false" rot="0">
                <a:off x="0" y="0"/>
                <a:ext cx="674678" cy="552489"/>
              </a:xfrm>
              <a:custGeom>
                <a:avLst/>
                <a:gdLst/>
                <a:ahLst/>
                <a:cxnLst/>
                <a:rect r="r" b="b" t="t" l="l"/>
                <a:pathLst>
                  <a:path h="552489" w="674678">
                    <a:moveTo>
                      <a:pt x="46115" y="0"/>
                    </a:moveTo>
                    <a:lnTo>
                      <a:pt x="628563" y="0"/>
                    </a:lnTo>
                    <a:cubicBezTo>
                      <a:pt x="640793" y="0"/>
                      <a:pt x="652523" y="4859"/>
                      <a:pt x="661171" y="13507"/>
                    </a:cubicBezTo>
                    <a:cubicBezTo>
                      <a:pt x="669820" y="22155"/>
                      <a:pt x="674678" y="33885"/>
                      <a:pt x="674678" y="46115"/>
                    </a:cubicBezTo>
                    <a:lnTo>
                      <a:pt x="674678" y="506374"/>
                    </a:lnTo>
                    <a:cubicBezTo>
                      <a:pt x="674678" y="518604"/>
                      <a:pt x="669820" y="530334"/>
                      <a:pt x="661171" y="538982"/>
                    </a:cubicBezTo>
                    <a:cubicBezTo>
                      <a:pt x="652523" y="547631"/>
                      <a:pt x="640793" y="552489"/>
                      <a:pt x="628563" y="552489"/>
                    </a:cubicBezTo>
                    <a:lnTo>
                      <a:pt x="46115" y="552489"/>
                    </a:lnTo>
                    <a:cubicBezTo>
                      <a:pt x="33885" y="552489"/>
                      <a:pt x="22155" y="547631"/>
                      <a:pt x="13507" y="538982"/>
                    </a:cubicBezTo>
                    <a:cubicBezTo>
                      <a:pt x="4859" y="530334"/>
                      <a:pt x="0" y="518604"/>
                      <a:pt x="0" y="506374"/>
                    </a:cubicBezTo>
                    <a:lnTo>
                      <a:pt x="0" y="46115"/>
                    </a:lnTo>
                    <a:cubicBezTo>
                      <a:pt x="0" y="33885"/>
                      <a:pt x="4859" y="22155"/>
                      <a:pt x="13507" y="13507"/>
                    </a:cubicBezTo>
                    <a:cubicBezTo>
                      <a:pt x="22155" y="4859"/>
                      <a:pt x="33885" y="0"/>
                      <a:pt x="46115" y="0"/>
                    </a:cubicBezTo>
                    <a:close/>
                  </a:path>
                </a:pathLst>
              </a:custGeom>
              <a:solidFill>
                <a:srgbClr val="FEFEFE"/>
              </a:solidFill>
              <a:ln w="28575" cap="rnd">
                <a:solidFill>
                  <a:srgbClr val="4369F8"/>
                </a:solidFill>
                <a:prstDash val="dash"/>
                <a:round/>
              </a:ln>
            </p:spPr>
          </p:sp>
          <p:sp>
            <p:nvSpPr>
              <p:cNvPr name="TextBox 34" id="34"/>
              <p:cNvSpPr txBox="true"/>
              <p:nvPr/>
            </p:nvSpPr>
            <p:spPr>
              <a:xfrm>
                <a:off x="0" y="-85725"/>
                <a:ext cx="674678" cy="638214"/>
              </a:xfrm>
              <a:prstGeom prst="rect">
                <a:avLst/>
              </a:prstGeom>
            </p:spPr>
            <p:txBody>
              <a:bodyPr anchor="ctr" rtlCol="false" tIns="50800" lIns="50800" bIns="50800" rIns="50800"/>
              <a:lstStyle/>
              <a:p>
                <a:pPr algn="ctr">
                  <a:lnSpc>
                    <a:spcPts val="3040"/>
                  </a:lnSpc>
                </a:pPr>
              </a:p>
            </p:txBody>
          </p:sp>
        </p:grpSp>
        <p:sp>
          <p:nvSpPr>
            <p:cNvPr name="TextBox 35" id="35"/>
            <p:cNvSpPr txBox="true"/>
            <p:nvPr/>
          </p:nvSpPr>
          <p:spPr>
            <a:xfrm rot="0">
              <a:off x="172919" y="193675"/>
              <a:ext cx="3801739" cy="449792"/>
            </a:xfrm>
            <a:prstGeom prst="rect">
              <a:avLst/>
            </a:prstGeom>
          </p:spPr>
          <p:txBody>
            <a:bodyPr anchor="t" rtlCol="false" tIns="0" lIns="0" bIns="0" rIns="0">
              <a:spAutoFit/>
            </a:bodyPr>
            <a:lstStyle/>
            <a:p>
              <a:pPr algn="just" marL="0" indent="0" lvl="0">
                <a:lnSpc>
                  <a:spcPts val="2799"/>
                </a:lnSpc>
                <a:spcBef>
                  <a:spcPct val="0"/>
                </a:spcBef>
              </a:pPr>
              <a:r>
                <a:rPr lang="en-US" b="true" sz="1999" spc="-49" strike="noStrike" u="none">
                  <a:gradFill>
                    <a:gsLst>
                      <a:gs pos="0">
                        <a:srgbClr val="293E9C">
                          <a:alpha val="100000"/>
                        </a:srgbClr>
                      </a:gs>
                      <a:gs pos="100000">
                        <a:srgbClr val="3A58E4">
                          <a:alpha val="100000"/>
                        </a:srgbClr>
                      </a:gs>
                    </a:gsLst>
                    <a:path path="circle">
                      <a:fillToRect l="0" r="100000" t="0" b="100000"/>
                    </a:path>
                    <a:tileRect r="0" l="-100000" b="0" t="-100000"/>
                  </a:gradFill>
                  <a:latin typeface="Roboto Bold"/>
                  <a:ea typeface="Roboto Bold"/>
                  <a:cs typeface="Roboto Bold"/>
                  <a:sym typeface="Roboto Bold"/>
                </a:rPr>
                <a:t>PHÂN BỐ THEO GIỜ</a:t>
              </a:r>
            </a:p>
          </p:txBody>
        </p:sp>
        <p:sp>
          <p:nvSpPr>
            <p:cNvPr name="TextBox 36" id="36"/>
            <p:cNvSpPr txBox="true"/>
            <p:nvPr/>
          </p:nvSpPr>
          <p:spPr>
            <a:xfrm rot="0">
              <a:off x="172919" y="633942"/>
              <a:ext cx="4026076" cy="2799292"/>
            </a:xfrm>
            <a:prstGeom prst="rect">
              <a:avLst/>
            </a:prstGeom>
          </p:spPr>
          <p:txBody>
            <a:bodyPr anchor="t" rtlCol="false" tIns="0" lIns="0" bIns="0" rIns="0">
              <a:spAutoFit/>
            </a:bodyPr>
            <a:lstStyle/>
            <a:p>
              <a:pPr algn="just" marL="0" indent="0" lvl="0">
                <a:lnSpc>
                  <a:spcPts val="2799"/>
                </a:lnSpc>
                <a:spcBef>
                  <a:spcPct val="0"/>
                </a:spcBef>
              </a:pPr>
              <a:r>
                <a:rPr lang="en-US" sz="1999" spc="-49" strike="noStrike" u="none">
                  <a:solidFill>
                    <a:srgbClr val="000000"/>
                  </a:solidFill>
                  <a:latin typeface="Roboto"/>
                  <a:ea typeface="Roboto"/>
                  <a:cs typeface="Roboto"/>
                  <a:sym typeface="Roboto"/>
                </a:rPr>
                <a:t>Khung giờ </a:t>
              </a:r>
              <a:r>
                <a:rPr lang="en-US" b="true" sz="1999" spc="-49" strike="noStrike" u="none">
                  <a:solidFill>
                    <a:srgbClr val="000000"/>
                  </a:solidFill>
                  <a:latin typeface="Roboto Bold"/>
                  <a:ea typeface="Roboto Bold"/>
                  <a:cs typeface="Roboto Bold"/>
                  <a:sym typeface="Roboto Bold"/>
                </a:rPr>
                <a:t>17h-21h</a:t>
              </a:r>
              <a:r>
                <a:rPr lang="en-US" sz="1999" spc="-49" strike="noStrike" u="none">
                  <a:solidFill>
                    <a:srgbClr val="000000"/>
                  </a:solidFill>
                  <a:latin typeface="Roboto"/>
                  <a:ea typeface="Roboto"/>
                  <a:cs typeface="Roboto"/>
                  <a:sym typeface="Roboto"/>
                </a:rPr>
                <a:t> chiếm tỷ lệ cao nhất do phù hợp với thời gian rảnh của khách hàng sau giờ làm việc và học tập. Buổi sáng và trưa có lượng đặt thấp.</a:t>
              </a:r>
            </a:p>
          </p:txBody>
        </p:sp>
      </p:grpSp>
      <p:sp>
        <p:nvSpPr>
          <p:cNvPr name="TextBox 37" id="37"/>
          <p:cNvSpPr txBox="true"/>
          <p:nvPr/>
        </p:nvSpPr>
        <p:spPr>
          <a:xfrm rot="0">
            <a:off x="271815" y="9645378"/>
            <a:ext cx="17651030" cy="365760"/>
          </a:xfrm>
          <a:prstGeom prst="rect">
            <a:avLst/>
          </a:prstGeom>
        </p:spPr>
        <p:txBody>
          <a:bodyPr anchor="t" rtlCol="false" tIns="0" lIns="0" bIns="0" rIns="0">
            <a:spAutoFit/>
          </a:bodyPr>
          <a:lstStyle/>
          <a:p>
            <a:pPr algn="ctr">
              <a:lnSpc>
                <a:spcPts val="2939"/>
              </a:lnSpc>
              <a:spcBef>
                <a:spcPct val="0"/>
              </a:spcBef>
            </a:pPr>
            <a:r>
              <a:rPr lang="en-US" b="true" sz="2099">
                <a:solidFill>
                  <a:srgbClr val="FEFEFE"/>
                </a:solidFill>
                <a:latin typeface="Roboto Bold"/>
                <a:ea typeface="Roboto Bold"/>
                <a:cs typeface="Roboto Bold"/>
                <a:sym typeface="Roboto Bold"/>
              </a:rPr>
              <a:t>Campa</a:t>
            </a:r>
            <a:r>
              <a:rPr lang="en-US" b="true" sz="2099">
                <a:solidFill>
                  <a:srgbClr val="FEFEFE"/>
                </a:solidFill>
                <a:latin typeface="Roboto Bold"/>
                <a:ea typeface="Roboto Bold"/>
                <a:cs typeface="Roboto Bold"/>
                <a:sym typeface="Roboto Bold"/>
              </a:rPr>
              <a:t>ign nên được thiết kế theo chu kỳ nhu cầu xem phim tối ưu doanh thu vào cao điểm và kéo khách quay lại sau cao điểm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711896" y="1910068"/>
            <a:ext cx="9467141" cy="7188907"/>
            <a:chOff x="0" y="0"/>
            <a:chExt cx="2493403" cy="1893375"/>
          </a:xfrm>
        </p:grpSpPr>
        <p:sp>
          <p:nvSpPr>
            <p:cNvPr name="Freeform 4" id="4"/>
            <p:cNvSpPr/>
            <p:nvPr/>
          </p:nvSpPr>
          <p:spPr>
            <a:xfrm flipH="false" flipV="false" rot="0">
              <a:off x="0" y="0"/>
              <a:ext cx="2493403" cy="1893375"/>
            </a:xfrm>
            <a:custGeom>
              <a:avLst/>
              <a:gdLst/>
              <a:ahLst/>
              <a:cxnLst/>
              <a:rect r="r" b="b" t="t" l="l"/>
              <a:pathLst>
                <a:path h="1893375" w="2493403">
                  <a:moveTo>
                    <a:pt x="20444" y="0"/>
                  </a:moveTo>
                  <a:lnTo>
                    <a:pt x="2472959" y="0"/>
                  </a:lnTo>
                  <a:cubicBezTo>
                    <a:pt x="2484250" y="0"/>
                    <a:pt x="2493403" y="9153"/>
                    <a:pt x="2493403" y="20444"/>
                  </a:cubicBezTo>
                  <a:lnTo>
                    <a:pt x="2493403" y="1872931"/>
                  </a:lnTo>
                  <a:cubicBezTo>
                    <a:pt x="2493403" y="1884222"/>
                    <a:pt x="2484250" y="1893375"/>
                    <a:pt x="2472959" y="1893375"/>
                  </a:cubicBezTo>
                  <a:lnTo>
                    <a:pt x="20444" y="1893375"/>
                  </a:lnTo>
                  <a:cubicBezTo>
                    <a:pt x="9153" y="1893375"/>
                    <a:pt x="0" y="1884222"/>
                    <a:pt x="0" y="1872931"/>
                  </a:cubicBezTo>
                  <a:lnTo>
                    <a:pt x="0" y="20444"/>
                  </a:lnTo>
                  <a:cubicBezTo>
                    <a:pt x="0" y="9153"/>
                    <a:pt x="9153" y="0"/>
                    <a:pt x="20444" y="0"/>
                  </a:cubicBezTo>
                  <a:close/>
                </a:path>
              </a:pathLst>
            </a:custGeom>
            <a:solidFill>
              <a:srgbClr val="FEFEFE"/>
            </a:solidFill>
            <a:ln w="28575" cap="rnd">
              <a:gradFill>
                <a:gsLst>
                  <a:gs pos="0">
                    <a:srgbClr val="293E9C">
                      <a:alpha val="100000"/>
                    </a:srgbClr>
                  </a:gs>
                  <a:gs pos="100000">
                    <a:srgbClr val="3A58E4">
                      <a:alpha val="100000"/>
                    </a:srgbClr>
                  </a:gs>
                </a:gsLst>
                <a:path path="circle">
                  <a:fillToRect l="0" r="100000" t="0" b="100000"/>
                </a:path>
                <a:tileRect r="0" l="-100000" b="0" t="-100000"/>
              </a:gradFill>
              <a:prstDash val="dash"/>
              <a:round/>
            </a:ln>
          </p:spPr>
        </p:sp>
        <p:sp>
          <p:nvSpPr>
            <p:cNvPr name="TextBox 5" id="5"/>
            <p:cNvSpPr txBox="true"/>
            <p:nvPr/>
          </p:nvSpPr>
          <p:spPr>
            <a:xfrm>
              <a:off x="0" y="-47625"/>
              <a:ext cx="2493403" cy="1941000"/>
            </a:xfrm>
            <a:prstGeom prst="rect">
              <a:avLst/>
            </a:prstGeom>
          </p:spPr>
          <p:txBody>
            <a:bodyPr anchor="ctr" rtlCol="false" tIns="50800" lIns="50800" bIns="50800" rIns="50800"/>
            <a:lstStyle/>
            <a:p>
              <a:pPr algn="ctr" marL="0" indent="0" lvl="0">
                <a:lnSpc>
                  <a:spcPts val="2800"/>
                </a:lnSpc>
                <a:spcBef>
                  <a:spcPct val="0"/>
                </a:spcBef>
              </a:pPr>
            </a:p>
          </p:txBody>
        </p:sp>
      </p:grpSp>
      <p:grpSp>
        <p:nvGrpSpPr>
          <p:cNvPr name="Group 6" id="6"/>
          <p:cNvGrpSpPr/>
          <p:nvPr/>
        </p:nvGrpSpPr>
        <p:grpSpPr>
          <a:xfrm rot="0">
            <a:off x="179008" y="1910068"/>
            <a:ext cx="8435376" cy="7188907"/>
            <a:chOff x="0" y="0"/>
            <a:chExt cx="628980" cy="536037"/>
          </a:xfrm>
        </p:grpSpPr>
        <p:sp>
          <p:nvSpPr>
            <p:cNvPr name="Freeform 7" id="7"/>
            <p:cNvSpPr/>
            <p:nvPr/>
          </p:nvSpPr>
          <p:spPr>
            <a:xfrm flipH="false" flipV="false" rot="0">
              <a:off x="0" y="0"/>
              <a:ext cx="628980" cy="536037"/>
            </a:xfrm>
            <a:custGeom>
              <a:avLst/>
              <a:gdLst/>
              <a:ahLst/>
              <a:cxnLst/>
              <a:rect r="r" b="b" t="t" l="l"/>
              <a:pathLst>
                <a:path h="536037" w="628980">
                  <a:moveTo>
                    <a:pt x="17926" y="0"/>
                  </a:moveTo>
                  <a:lnTo>
                    <a:pt x="611054" y="0"/>
                  </a:lnTo>
                  <a:cubicBezTo>
                    <a:pt x="620954" y="0"/>
                    <a:pt x="628980" y="8026"/>
                    <a:pt x="628980" y="17926"/>
                  </a:cubicBezTo>
                  <a:lnTo>
                    <a:pt x="628980" y="518112"/>
                  </a:lnTo>
                  <a:cubicBezTo>
                    <a:pt x="628980" y="522866"/>
                    <a:pt x="627091" y="527425"/>
                    <a:pt x="623729" y="530787"/>
                  </a:cubicBezTo>
                  <a:cubicBezTo>
                    <a:pt x="620368" y="534149"/>
                    <a:pt x="615808" y="536037"/>
                    <a:pt x="611054" y="536037"/>
                  </a:cubicBezTo>
                  <a:lnTo>
                    <a:pt x="17926" y="536037"/>
                  </a:lnTo>
                  <a:cubicBezTo>
                    <a:pt x="13171" y="536037"/>
                    <a:pt x="8612" y="534149"/>
                    <a:pt x="5250" y="530787"/>
                  </a:cubicBezTo>
                  <a:cubicBezTo>
                    <a:pt x="1889" y="527425"/>
                    <a:pt x="0" y="522866"/>
                    <a:pt x="0" y="518112"/>
                  </a:cubicBezTo>
                  <a:lnTo>
                    <a:pt x="0" y="17926"/>
                  </a:lnTo>
                  <a:cubicBezTo>
                    <a:pt x="0" y="13171"/>
                    <a:pt x="1889" y="8612"/>
                    <a:pt x="5250" y="5250"/>
                  </a:cubicBezTo>
                  <a:cubicBezTo>
                    <a:pt x="8612" y="1889"/>
                    <a:pt x="13171" y="0"/>
                    <a:pt x="17926" y="0"/>
                  </a:cubicBezTo>
                  <a:close/>
                </a:path>
              </a:pathLst>
            </a:custGeom>
            <a:solidFill>
              <a:srgbClr val="FEFEFE"/>
            </a:solidFill>
            <a:ln w="28575" cap="rnd">
              <a:gradFill>
                <a:gsLst>
                  <a:gs pos="0">
                    <a:srgbClr val="293E9C">
                      <a:alpha val="100000"/>
                    </a:srgbClr>
                  </a:gs>
                  <a:gs pos="100000">
                    <a:srgbClr val="3A58E4">
                      <a:alpha val="100000"/>
                    </a:srgbClr>
                  </a:gs>
                </a:gsLst>
                <a:path path="circle">
                  <a:fillToRect l="0" r="100000" t="0" b="100000"/>
                </a:path>
                <a:tileRect r="0" l="-100000" b="0" t="-100000"/>
              </a:gradFill>
              <a:prstDash val="dash"/>
              <a:round/>
            </a:ln>
          </p:spPr>
        </p:sp>
        <p:sp>
          <p:nvSpPr>
            <p:cNvPr name="TextBox 8" id="8"/>
            <p:cNvSpPr txBox="true"/>
            <p:nvPr/>
          </p:nvSpPr>
          <p:spPr>
            <a:xfrm>
              <a:off x="0" y="-47625"/>
              <a:ext cx="628980" cy="583662"/>
            </a:xfrm>
            <a:prstGeom prst="rect">
              <a:avLst/>
            </a:prstGeom>
          </p:spPr>
          <p:txBody>
            <a:bodyPr anchor="ctr" rtlCol="false" tIns="50800" lIns="50800" bIns="50800" rIns="50800"/>
            <a:lstStyle/>
            <a:p>
              <a:pPr algn="ctr" marL="0" indent="0" lvl="0">
                <a:lnSpc>
                  <a:spcPts val="2800"/>
                </a:lnSpc>
                <a:spcBef>
                  <a:spcPct val="0"/>
                </a:spcBef>
              </a:pPr>
            </a:p>
          </p:txBody>
        </p:sp>
      </p:grpSp>
      <p:sp>
        <p:nvSpPr>
          <p:cNvPr name="Freeform 9" id="9"/>
          <p:cNvSpPr/>
          <p:nvPr/>
        </p:nvSpPr>
        <p:spPr>
          <a:xfrm flipH="false" flipV="false" rot="0">
            <a:off x="269804" y="2248315"/>
            <a:ext cx="8175348" cy="5446800"/>
          </a:xfrm>
          <a:custGeom>
            <a:avLst/>
            <a:gdLst/>
            <a:ahLst/>
            <a:cxnLst/>
            <a:rect r="r" b="b" t="t" l="l"/>
            <a:pathLst>
              <a:path h="5446800" w="8175348">
                <a:moveTo>
                  <a:pt x="0" y="0"/>
                </a:moveTo>
                <a:lnTo>
                  <a:pt x="8175349" y="0"/>
                </a:lnTo>
                <a:lnTo>
                  <a:pt x="8175349" y="5446800"/>
                </a:lnTo>
                <a:lnTo>
                  <a:pt x="0" y="5446800"/>
                </a:lnTo>
                <a:lnTo>
                  <a:pt x="0" y="0"/>
                </a:lnTo>
                <a:close/>
              </a:path>
            </a:pathLst>
          </a:custGeom>
          <a:blipFill>
            <a:blip r:embed="rId3"/>
            <a:stretch>
              <a:fillRect l="-2165" t="0" r="-3509" b="0"/>
            </a:stretch>
          </a:blipFill>
        </p:spPr>
      </p:sp>
      <p:grpSp>
        <p:nvGrpSpPr>
          <p:cNvPr name="Group 10" id="10"/>
          <p:cNvGrpSpPr/>
          <p:nvPr/>
        </p:nvGrpSpPr>
        <p:grpSpPr>
          <a:xfrm rot="0">
            <a:off x="179008" y="9258300"/>
            <a:ext cx="17901977" cy="1593100"/>
            <a:chOff x="0" y="0"/>
            <a:chExt cx="7733267" cy="688185"/>
          </a:xfrm>
        </p:grpSpPr>
        <p:sp>
          <p:nvSpPr>
            <p:cNvPr name="Freeform 11" id="11"/>
            <p:cNvSpPr/>
            <p:nvPr/>
          </p:nvSpPr>
          <p:spPr>
            <a:xfrm flipH="false" flipV="false" rot="0">
              <a:off x="0" y="0"/>
              <a:ext cx="7733267" cy="688185"/>
            </a:xfrm>
            <a:custGeom>
              <a:avLst/>
              <a:gdLst/>
              <a:ahLst/>
              <a:cxnLst/>
              <a:rect r="r" b="b" t="t" l="l"/>
              <a:pathLst>
                <a:path h="688185" w="7733267">
                  <a:moveTo>
                    <a:pt x="18596" y="0"/>
                  </a:moveTo>
                  <a:lnTo>
                    <a:pt x="7714671" y="0"/>
                  </a:lnTo>
                  <a:cubicBezTo>
                    <a:pt x="7719602" y="0"/>
                    <a:pt x="7724332" y="1959"/>
                    <a:pt x="7727820" y="5447"/>
                  </a:cubicBezTo>
                  <a:cubicBezTo>
                    <a:pt x="7731307" y="8934"/>
                    <a:pt x="7733267" y="13664"/>
                    <a:pt x="7733267" y="18596"/>
                  </a:cubicBezTo>
                  <a:lnTo>
                    <a:pt x="7733267" y="669589"/>
                  </a:lnTo>
                  <a:cubicBezTo>
                    <a:pt x="7733267" y="679859"/>
                    <a:pt x="7724941" y="688185"/>
                    <a:pt x="7714671" y="688185"/>
                  </a:cubicBezTo>
                  <a:lnTo>
                    <a:pt x="18596" y="688185"/>
                  </a:lnTo>
                  <a:cubicBezTo>
                    <a:pt x="8326" y="688185"/>
                    <a:pt x="0" y="679859"/>
                    <a:pt x="0" y="669589"/>
                  </a:cubicBezTo>
                  <a:lnTo>
                    <a:pt x="0" y="18596"/>
                  </a:lnTo>
                  <a:cubicBezTo>
                    <a:pt x="0" y="8326"/>
                    <a:pt x="8326" y="0"/>
                    <a:pt x="18596" y="0"/>
                  </a:cubicBezTo>
                  <a:close/>
                </a:path>
              </a:pathLst>
            </a:custGeom>
            <a:gradFill rotWithShape="true">
              <a:gsLst>
                <a:gs pos="0">
                  <a:srgbClr val="001F65">
                    <a:alpha val="100000"/>
                  </a:srgbClr>
                </a:gs>
                <a:gs pos="100000">
                  <a:srgbClr val="6895FD">
                    <a:alpha val="100000"/>
                  </a:srgbClr>
                </a:gs>
              </a:gsLst>
              <a:lin ang="5400000"/>
            </a:gradFill>
            <a:ln cap="rnd">
              <a:noFill/>
              <a:prstDash val="solid"/>
              <a:round/>
            </a:ln>
          </p:spPr>
        </p:sp>
        <p:sp>
          <p:nvSpPr>
            <p:cNvPr name="TextBox 12" id="12"/>
            <p:cNvSpPr txBox="true"/>
            <p:nvPr/>
          </p:nvSpPr>
          <p:spPr>
            <a:xfrm>
              <a:off x="0" y="-47625"/>
              <a:ext cx="7733267" cy="735810"/>
            </a:xfrm>
            <a:prstGeom prst="rect">
              <a:avLst/>
            </a:prstGeom>
          </p:spPr>
          <p:txBody>
            <a:bodyPr anchor="ctr" rtlCol="false" tIns="33379" lIns="33379" bIns="33379" rIns="33379"/>
            <a:lstStyle/>
            <a:p>
              <a:pPr algn="l" marL="0" indent="0" lvl="0">
                <a:lnSpc>
                  <a:spcPts val="3080"/>
                </a:lnSpc>
                <a:spcBef>
                  <a:spcPct val="0"/>
                </a:spcBef>
              </a:pPr>
            </a:p>
          </p:txBody>
        </p:sp>
      </p:grpSp>
      <p:grpSp>
        <p:nvGrpSpPr>
          <p:cNvPr name="Group 13" id="13"/>
          <p:cNvGrpSpPr/>
          <p:nvPr/>
        </p:nvGrpSpPr>
        <p:grpSpPr>
          <a:xfrm rot="0">
            <a:off x="0" y="636474"/>
            <a:ext cx="10773537" cy="941289"/>
            <a:chOff x="0" y="0"/>
            <a:chExt cx="14364717" cy="1255052"/>
          </a:xfrm>
        </p:grpSpPr>
        <p:grpSp>
          <p:nvGrpSpPr>
            <p:cNvPr name="Group 14" id="14"/>
            <p:cNvGrpSpPr/>
            <p:nvPr/>
          </p:nvGrpSpPr>
          <p:grpSpPr>
            <a:xfrm rot="-5400000">
              <a:off x="6554832" y="-6554832"/>
              <a:ext cx="1255052" cy="14364717"/>
              <a:chOff x="0" y="0"/>
              <a:chExt cx="189807" cy="2172442"/>
            </a:xfrm>
          </p:grpSpPr>
          <p:sp>
            <p:nvSpPr>
              <p:cNvPr name="Freeform 15" id="15"/>
              <p:cNvSpPr/>
              <p:nvPr/>
            </p:nvSpPr>
            <p:spPr>
              <a:xfrm flipH="false" flipV="false" rot="0">
                <a:off x="0" y="0"/>
                <a:ext cx="189807" cy="2172442"/>
              </a:xfrm>
              <a:custGeom>
                <a:avLst/>
                <a:gdLst/>
                <a:ahLst/>
                <a:cxnLst/>
                <a:rect r="r" b="b" t="t" l="l"/>
                <a:pathLst>
                  <a:path h="2172442" w="189807">
                    <a:moveTo>
                      <a:pt x="189807" y="69214"/>
                    </a:moveTo>
                    <a:lnTo>
                      <a:pt x="189807" y="2003532"/>
                    </a:lnTo>
                    <a:lnTo>
                      <a:pt x="94904" y="2172442"/>
                    </a:lnTo>
                    <a:lnTo>
                      <a:pt x="0" y="2003532"/>
                    </a:lnTo>
                    <a:lnTo>
                      <a:pt x="0" y="69214"/>
                    </a:lnTo>
                    <a:cubicBezTo>
                      <a:pt x="0" y="22860"/>
                      <a:pt x="11388" y="0"/>
                      <a:pt x="24675" y="0"/>
                    </a:cubicBezTo>
                    <a:lnTo>
                      <a:pt x="165132" y="0"/>
                    </a:lnTo>
                    <a:cubicBezTo>
                      <a:pt x="178419" y="0"/>
                      <a:pt x="189807" y="22860"/>
                      <a:pt x="189807" y="69214"/>
                    </a:cubicBezTo>
                    <a:close/>
                  </a:path>
                </a:pathLst>
              </a:custGeom>
              <a:gradFill rotWithShape="true">
                <a:gsLst>
                  <a:gs pos="0">
                    <a:srgbClr val="001F65">
                      <a:alpha val="100000"/>
                    </a:srgbClr>
                  </a:gs>
                  <a:gs pos="100000">
                    <a:srgbClr val="6895FD">
                      <a:alpha val="100000"/>
                    </a:srgbClr>
                  </a:gs>
                </a:gsLst>
                <a:lin ang="5400000"/>
              </a:gradFill>
            </p:spPr>
          </p:sp>
          <p:sp>
            <p:nvSpPr>
              <p:cNvPr name="TextBox 16" id="16"/>
              <p:cNvSpPr txBox="true"/>
              <p:nvPr/>
            </p:nvSpPr>
            <p:spPr>
              <a:xfrm>
                <a:off x="0" y="-38100"/>
                <a:ext cx="189807" cy="203401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7" id="17"/>
            <p:cNvSpPr txBox="true"/>
            <p:nvPr/>
          </p:nvSpPr>
          <p:spPr>
            <a:xfrm rot="0">
              <a:off x="561445" y="163180"/>
              <a:ext cx="12477022" cy="1037577"/>
            </a:xfrm>
            <a:prstGeom prst="rect">
              <a:avLst/>
            </a:prstGeom>
          </p:spPr>
          <p:txBody>
            <a:bodyPr anchor="t" rtlCol="false" tIns="0" lIns="0" bIns="0" rIns="0">
              <a:spAutoFit/>
            </a:bodyPr>
            <a:lstStyle/>
            <a:p>
              <a:pPr algn="l" marL="0" indent="0" lvl="0">
                <a:lnSpc>
                  <a:spcPts val="5578"/>
                </a:lnSpc>
              </a:pPr>
              <a:r>
                <a:rPr lang="en-US" b="true" sz="5692" spc="-364">
                  <a:solidFill>
                    <a:srgbClr val="FFFFFF"/>
                  </a:solidFill>
                  <a:latin typeface="Noto Sans Bold"/>
                  <a:ea typeface="Noto Sans Bold"/>
                  <a:cs typeface="Noto Sans Bold"/>
                  <a:sym typeface="Noto Sans Bold"/>
                </a:rPr>
                <a:t>Khuyến mãi &amp; Tỷ lệ quay lại</a:t>
              </a:r>
            </a:p>
          </p:txBody>
        </p:sp>
      </p:grpSp>
      <p:grpSp>
        <p:nvGrpSpPr>
          <p:cNvPr name="Group 18" id="18"/>
          <p:cNvGrpSpPr/>
          <p:nvPr/>
        </p:nvGrpSpPr>
        <p:grpSpPr>
          <a:xfrm rot="0">
            <a:off x="1028700" y="7833909"/>
            <a:ext cx="7416453" cy="1133684"/>
            <a:chOff x="0" y="0"/>
            <a:chExt cx="9888604" cy="1511579"/>
          </a:xfrm>
        </p:grpSpPr>
        <p:grpSp>
          <p:nvGrpSpPr>
            <p:cNvPr name="Group 19" id="19"/>
            <p:cNvGrpSpPr/>
            <p:nvPr/>
          </p:nvGrpSpPr>
          <p:grpSpPr>
            <a:xfrm rot="0">
              <a:off x="0" y="0"/>
              <a:ext cx="9733986" cy="1511579"/>
              <a:chOff x="0" y="0"/>
              <a:chExt cx="2698843" cy="419100"/>
            </a:xfrm>
          </p:grpSpPr>
          <p:sp>
            <p:nvSpPr>
              <p:cNvPr name="Freeform 20" id="20"/>
              <p:cNvSpPr/>
              <p:nvPr/>
            </p:nvSpPr>
            <p:spPr>
              <a:xfrm flipH="false" flipV="false" rot="0">
                <a:off x="0" y="0"/>
                <a:ext cx="2698843" cy="419100"/>
              </a:xfrm>
              <a:custGeom>
                <a:avLst/>
                <a:gdLst/>
                <a:ahLst/>
                <a:cxnLst/>
                <a:rect r="r" b="b" t="t" l="l"/>
                <a:pathLst>
                  <a:path h="419100" w="2698843">
                    <a:moveTo>
                      <a:pt x="20712" y="0"/>
                    </a:moveTo>
                    <a:lnTo>
                      <a:pt x="2678130" y="0"/>
                    </a:lnTo>
                    <a:cubicBezTo>
                      <a:pt x="2689570" y="0"/>
                      <a:pt x="2698843" y="9273"/>
                      <a:pt x="2698843" y="20712"/>
                    </a:cubicBezTo>
                    <a:lnTo>
                      <a:pt x="2698843" y="398388"/>
                    </a:lnTo>
                    <a:cubicBezTo>
                      <a:pt x="2698843" y="409827"/>
                      <a:pt x="2689570" y="419100"/>
                      <a:pt x="2678130" y="419100"/>
                    </a:cubicBezTo>
                    <a:lnTo>
                      <a:pt x="20712" y="419100"/>
                    </a:lnTo>
                    <a:cubicBezTo>
                      <a:pt x="9273" y="419100"/>
                      <a:pt x="0" y="409827"/>
                      <a:pt x="0" y="398388"/>
                    </a:cubicBezTo>
                    <a:lnTo>
                      <a:pt x="0" y="20712"/>
                    </a:lnTo>
                    <a:cubicBezTo>
                      <a:pt x="0" y="9273"/>
                      <a:pt x="9273" y="0"/>
                      <a:pt x="20712" y="0"/>
                    </a:cubicBezTo>
                    <a:close/>
                  </a:path>
                </a:pathLst>
              </a:custGeom>
              <a:solidFill>
                <a:srgbClr val="C2DCFF">
                  <a:alpha val="33725"/>
                </a:srgbClr>
              </a:solidFill>
            </p:spPr>
          </p:sp>
          <p:sp>
            <p:nvSpPr>
              <p:cNvPr name="TextBox 21" id="21"/>
              <p:cNvSpPr txBox="true"/>
              <p:nvPr/>
            </p:nvSpPr>
            <p:spPr>
              <a:xfrm>
                <a:off x="0" y="-85725"/>
                <a:ext cx="2698843" cy="504825"/>
              </a:xfrm>
              <a:prstGeom prst="rect">
                <a:avLst/>
              </a:prstGeom>
            </p:spPr>
            <p:txBody>
              <a:bodyPr anchor="ctr" rtlCol="false" tIns="50800" lIns="50800" bIns="50800" rIns="50800"/>
              <a:lstStyle/>
              <a:p>
                <a:pPr algn="ctr">
                  <a:lnSpc>
                    <a:spcPts val="3040"/>
                  </a:lnSpc>
                </a:pPr>
              </a:p>
            </p:txBody>
          </p:sp>
        </p:grpSp>
        <p:sp>
          <p:nvSpPr>
            <p:cNvPr name="TextBox 22" id="22"/>
            <p:cNvSpPr txBox="true"/>
            <p:nvPr/>
          </p:nvSpPr>
          <p:spPr>
            <a:xfrm rot="0">
              <a:off x="384045" y="262170"/>
              <a:ext cx="1373783" cy="975637"/>
            </a:xfrm>
            <a:prstGeom prst="rect">
              <a:avLst/>
            </a:prstGeom>
          </p:spPr>
          <p:txBody>
            <a:bodyPr anchor="t" rtlCol="false" tIns="0" lIns="0" bIns="0" rIns="0">
              <a:spAutoFit/>
            </a:bodyPr>
            <a:lstStyle/>
            <a:p>
              <a:pPr algn="ctr" marL="0" indent="0" lvl="0">
                <a:lnSpc>
                  <a:spcPts val="6131"/>
                </a:lnSpc>
                <a:spcBef>
                  <a:spcPct val="0"/>
                </a:spcBef>
              </a:pPr>
              <a:r>
                <a:rPr lang="en-US" b="true" sz="4379" spc="-280">
                  <a:gradFill>
                    <a:gsLst>
                      <a:gs pos="0">
                        <a:srgbClr val="3A58E4">
                          <a:alpha val="100000"/>
                        </a:srgbClr>
                      </a:gs>
                      <a:gs pos="100000">
                        <a:srgbClr val="293E9C">
                          <a:alpha val="100000"/>
                        </a:srgbClr>
                      </a:gs>
                    </a:gsLst>
                    <a:path path="circle">
                      <a:fillToRect l="0" r="100000" t="0" b="100000"/>
                    </a:path>
                    <a:tileRect r="0" l="-100000" b="0" t="-100000"/>
                  </a:gradFill>
                  <a:latin typeface="Noto Sans Bold"/>
                  <a:ea typeface="Noto Sans Bold"/>
                  <a:cs typeface="Noto Sans Bold"/>
                  <a:sym typeface="Noto Sans Bold"/>
                </a:rPr>
                <a:t>58</a:t>
              </a:r>
              <a:r>
                <a:rPr lang="en-US" b="true" sz="4379" spc="-280">
                  <a:gradFill>
                    <a:gsLst>
                      <a:gs pos="0">
                        <a:srgbClr val="3A58E4">
                          <a:alpha val="100000"/>
                        </a:srgbClr>
                      </a:gs>
                      <a:gs pos="100000">
                        <a:srgbClr val="293E9C">
                          <a:alpha val="100000"/>
                        </a:srgbClr>
                      </a:gs>
                    </a:gsLst>
                    <a:path path="circle">
                      <a:fillToRect l="0" r="100000" t="0" b="100000"/>
                    </a:path>
                    <a:tileRect r="0" l="-100000" b="0" t="-100000"/>
                  </a:gradFill>
                  <a:latin typeface="Noto Sans Bold"/>
                  <a:ea typeface="Noto Sans Bold"/>
                  <a:cs typeface="Noto Sans Bold"/>
                  <a:sym typeface="Noto Sans Bold"/>
                </a:rPr>
                <a:t>%</a:t>
              </a:r>
            </a:p>
          </p:txBody>
        </p:sp>
        <p:sp>
          <p:nvSpPr>
            <p:cNvPr name="TextBox 23" id="23"/>
            <p:cNvSpPr txBox="true"/>
            <p:nvPr/>
          </p:nvSpPr>
          <p:spPr>
            <a:xfrm rot="0">
              <a:off x="2141873" y="313955"/>
              <a:ext cx="7746731" cy="919692"/>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Roboto"/>
                  <a:ea typeface="Roboto"/>
                  <a:cs typeface="Roboto"/>
                  <a:sym typeface="Roboto"/>
                </a:rPr>
                <a:t>Phần lớn khách hàng chỉ sử dụng promotion một lần và tỷ lệ quay lại vẫn thấp.</a:t>
              </a:r>
            </a:p>
          </p:txBody>
        </p:sp>
      </p:grpSp>
      <p:sp>
        <p:nvSpPr>
          <p:cNvPr name="Freeform 24" id="24"/>
          <p:cNvSpPr/>
          <p:nvPr/>
        </p:nvSpPr>
        <p:spPr>
          <a:xfrm flipH="false" flipV="false" rot="-10800000">
            <a:off x="16333569" y="-702186"/>
            <a:ext cx="2781446" cy="2832190"/>
          </a:xfrm>
          <a:custGeom>
            <a:avLst/>
            <a:gdLst/>
            <a:ahLst/>
            <a:cxnLst/>
            <a:rect r="r" b="b" t="t" l="l"/>
            <a:pathLst>
              <a:path h="2832190" w="2781446">
                <a:moveTo>
                  <a:pt x="0" y="0"/>
                </a:moveTo>
                <a:lnTo>
                  <a:pt x="2781446" y="0"/>
                </a:lnTo>
                <a:lnTo>
                  <a:pt x="2781446" y="2832189"/>
                </a:lnTo>
                <a:lnTo>
                  <a:pt x="0" y="2832189"/>
                </a:lnTo>
                <a:lnTo>
                  <a:pt x="0" y="0"/>
                </a:lnTo>
                <a:close/>
              </a:path>
            </a:pathLst>
          </a:custGeom>
          <a:blipFill>
            <a:blip r:embed="rId4">
              <a:alphaModFix amt="56000"/>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25" id="25"/>
          <p:cNvGrpSpPr/>
          <p:nvPr/>
        </p:nvGrpSpPr>
        <p:grpSpPr>
          <a:xfrm rot="0">
            <a:off x="8850376" y="2048949"/>
            <a:ext cx="9230609" cy="2994391"/>
            <a:chOff x="0" y="0"/>
            <a:chExt cx="2699505" cy="875714"/>
          </a:xfrm>
        </p:grpSpPr>
        <p:sp>
          <p:nvSpPr>
            <p:cNvPr name="Freeform 26" id="26"/>
            <p:cNvSpPr/>
            <p:nvPr/>
          </p:nvSpPr>
          <p:spPr>
            <a:xfrm flipH="false" flipV="false" rot="0">
              <a:off x="0" y="0"/>
              <a:ext cx="2699505" cy="875714"/>
            </a:xfrm>
            <a:custGeom>
              <a:avLst/>
              <a:gdLst/>
              <a:ahLst/>
              <a:cxnLst/>
              <a:rect r="r" b="b" t="t" l="l"/>
              <a:pathLst>
                <a:path h="875714" w="2699505">
                  <a:moveTo>
                    <a:pt x="16381" y="0"/>
                  </a:moveTo>
                  <a:lnTo>
                    <a:pt x="2683123" y="0"/>
                  </a:lnTo>
                  <a:cubicBezTo>
                    <a:pt x="2692171" y="0"/>
                    <a:pt x="2699505" y="7334"/>
                    <a:pt x="2699505" y="16381"/>
                  </a:cubicBezTo>
                  <a:lnTo>
                    <a:pt x="2699505" y="859333"/>
                  </a:lnTo>
                  <a:cubicBezTo>
                    <a:pt x="2699505" y="863677"/>
                    <a:pt x="2697779" y="867844"/>
                    <a:pt x="2694707" y="870916"/>
                  </a:cubicBezTo>
                  <a:cubicBezTo>
                    <a:pt x="2691635" y="873988"/>
                    <a:pt x="2687468" y="875714"/>
                    <a:pt x="2683123" y="875714"/>
                  </a:cubicBezTo>
                  <a:lnTo>
                    <a:pt x="16381" y="875714"/>
                  </a:lnTo>
                  <a:cubicBezTo>
                    <a:pt x="12037" y="875714"/>
                    <a:pt x="7870" y="873988"/>
                    <a:pt x="4798" y="870916"/>
                  </a:cubicBezTo>
                  <a:cubicBezTo>
                    <a:pt x="1726" y="867844"/>
                    <a:pt x="0" y="863677"/>
                    <a:pt x="0" y="859333"/>
                  </a:cubicBezTo>
                  <a:lnTo>
                    <a:pt x="0" y="16381"/>
                  </a:lnTo>
                  <a:cubicBezTo>
                    <a:pt x="0" y="12037"/>
                    <a:pt x="1726" y="7870"/>
                    <a:pt x="4798" y="4798"/>
                  </a:cubicBezTo>
                  <a:cubicBezTo>
                    <a:pt x="7870" y="1726"/>
                    <a:pt x="12037" y="0"/>
                    <a:pt x="16381" y="0"/>
                  </a:cubicBezTo>
                  <a:close/>
                </a:path>
              </a:pathLst>
            </a:custGeom>
            <a:solidFill>
              <a:srgbClr val="C2DCFF">
                <a:alpha val="33725"/>
              </a:srgbClr>
            </a:solidFill>
            <a:ln w="28575" cap="rnd">
              <a:solidFill>
                <a:srgbClr val="C6D6FF">
                  <a:alpha val="33725"/>
                </a:srgbClr>
              </a:solidFill>
              <a:prstDash val="sysDot"/>
              <a:round/>
            </a:ln>
          </p:spPr>
        </p:sp>
        <p:sp>
          <p:nvSpPr>
            <p:cNvPr name="TextBox 27" id="27"/>
            <p:cNvSpPr txBox="true"/>
            <p:nvPr/>
          </p:nvSpPr>
          <p:spPr>
            <a:xfrm>
              <a:off x="0" y="-76200"/>
              <a:ext cx="2699505" cy="951914"/>
            </a:xfrm>
            <a:prstGeom prst="rect">
              <a:avLst/>
            </a:prstGeom>
          </p:spPr>
          <p:txBody>
            <a:bodyPr anchor="ctr" rtlCol="false" tIns="63075" lIns="63075" bIns="63075" rIns="63075"/>
            <a:lstStyle/>
            <a:p>
              <a:pPr algn="ctr">
                <a:lnSpc>
                  <a:spcPts val="3040"/>
                </a:lnSpc>
              </a:pPr>
            </a:p>
          </p:txBody>
        </p:sp>
      </p:grpSp>
      <p:grpSp>
        <p:nvGrpSpPr>
          <p:cNvPr name="Group 28" id="28"/>
          <p:cNvGrpSpPr/>
          <p:nvPr/>
        </p:nvGrpSpPr>
        <p:grpSpPr>
          <a:xfrm rot="0">
            <a:off x="8850376" y="5143500"/>
            <a:ext cx="9230609" cy="3873943"/>
            <a:chOff x="0" y="0"/>
            <a:chExt cx="2732373" cy="1146734"/>
          </a:xfrm>
        </p:grpSpPr>
        <p:sp>
          <p:nvSpPr>
            <p:cNvPr name="Freeform 29" id="29"/>
            <p:cNvSpPr/>
            <p:nvPr/>
          </p:nvSpPr>
          <p:spPr>
            <a:xfrm flipH="false" flipV="false" rot="0">
              <a:off x="0" y="0"/>
              <a:ext cx="2732373" cy="1146734"/>
            </a:xfrm>
            <a:custGeom>
              <a:avLst/>
              <a:gdLst/>
              <a:ahLst/>
              <a:cxnLst/>
              <a:rect r="r" b="b" t="t" l="l"/>
              <a:pathLst>
                <a:path h="1146734" w="2732373">
                  <a:moveTo>
                    <a:pt x="16381" y="0"/>
                  </a:moveTo>
                  <a:lnTo>
                    <a:pt x="2715992" y="0"/>
                  </a:lnTo>
                  <a:cubicBezTo>
                    <a:pt x="2725039" y="0"/>
                    <a:pt x="2732373" y="7334"/>
                    <a:pt x="2732373" y="16381"/>
                  </a:cubicBezTo>
                  <a:lnTo>
                    <a:pt x="2732373" y="1130353"/>
                  </a:lnTo>
                  <a:cubicBezTo>
                    <a:pt x="2732373" y="1134698"/>
                    <a:pt x="2730647" y="1138864"/>
                    <a:pt x="2727575" y="1141936"/>
                  </a:cubicBezTo>
                  <a:cubicBezTo>
                    <a:pt x="2724503" y="1145009"/>
                    <a:pt x="2720337" y="1146734"/>
                    <a:pt x="2715992" y="1146734"/>
                  </a:cubicBezTo>
                  <a:lnTo>
                    <a:pt x="16381" y="1146734"/>
                  </a:lnTo>
                  <a:cubicBezTo>
                    <a:pt x="12037" y="1146734"/>
                    <a:pt x="7870" y="1145009"/>
                    <a:pt x="4798" y="1141936"/>
                  </a:cubicBezTo>
                  <a:cubicBezTo>
                    <a:pt x="1726" y="1138864"/>
                    <a:pt x="0" y="1134698"/>
                    <a:pt x="0" y="1130353"/>
                  </a:cubicBezTo>
                  <a:lnTo>
                    <a:pt x="0" y="16381"/>
                  </a:lnTo>
                  <a:cubicBezTo>
                    <a:pt x="0" y="12037"/>
                    <a:pt x="1726" y="7870"/>
                    <a:pt x="4798" y="4798"/>
                  </a:cubicBezTo>
                  <a:cubicBezTo>
                    <a:pt x="7870" y="1726"/>
                    <a:pt x="12037" y="0"/>
                    <a:pt x="16381" y="0"/>
                  </a:cubicBezTo>
                  <a:close/>
                </a:path>
              </a:pathLst>
            </a:custGeom>
            <a:solidFill>
              <a:srgbClr val="C2DCFF">
                <a:alpha val="33725"/>
              </a:srgbClr>
            </a:solidFill>
          </p:spPr>
        </p:sp>
        <p:sp>
          <p:nvSpPr>
            <p:cNvPr name="TextBox 30" id="30"/>
            <p:cNvSpPr txBox="true"/>
            <p:nvPr/>
          </p:nvSpPr>
          <p:spPr>
            <a:xfrm>
              <a:off x="0" y="-76200"/>
              <a:ext cx="2732373" cy="1222934"/>
            </a:xfrm>
            <a:prstGeom prst="rect">
              <a:avLst/>
            </a:prstGeom>
          </p:spPr>
          <p:txBody>
            <a:bodyPr anchor="ctr" rtlCol="false" tIns="63075" lIns="63075" bIns="63075" rIns="63075"/>
            <a:lstStyle/>
            <a:p>
              <a:pPr algn="ctr">
                <a:lnSpc>
                  <a:spcPts val="3040"/>
                </a:lnSpc>
              </a:pPr>
            </a:p>
          </p:txBody>
        </p:sp>
      </p:grpSp>
      <p:pic>
        <p:nvPicPr>
          <p:cNvPr name="Picture 31" id="31"/>
          <p:cNvPicPr>
            <a:picLocks noChangeAspect="true"/>
          </p:cNvPicPr>
          <p:nvPr/>
        </p:nvPicPr>
        <p:blipFill>
          <a:blip r:embed="rId6"/>
          <a:stretch>
            <a:fillRect/>
          </a:stretch>
        </p:blipFill>
        <p:spPr>
          <a:xfrm rot="0">
            <a:off x="13054752" y="1581966"/>
            <a:ext cx="5384113" cy="3845414"/>
          </a:xfrm>
          <a:prstGeom prst="rect">
            <a:avLst/>
          </a:prstGeom>
        </p:spPr>
      </p:pic>
      <p:sp>
        <p:nvSpPr>
          <p:cNvPr name="TextBox 32" id="32"/>
          <p:cNvSpPr txBox="true"/>
          <p:nvPr/>
        </p:nvSpPr>
        <p:spPr>
          <a:xfrm rot="0">
            <a:off x="9212987" y="3015122"/>
            <a:ext cx="4027566" cy="1758950"/>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Roboto"/>
                <a:ea typeface="Roboto"/>
                <a:cs typeface="Roboto"/>
                <a:sym typeface="Roboto"/>
              </a:rPr>
              <a:t>Promotion chiếm khoảng </a:t>
            </a:r>
            <a:r>
              <a:rPr lang="en-US" b="true" sz="1999">
                <a:solidFill>
                  <a:srgbClr val="000000"/>
                </a:solidFill>
                <a:latin typeface="Roboto Bold"/>
                <a:ea typeface="Roboto Bold"/>
                <a:cs typeface="Roboto Bold"/>
                <a:sym typeface="Roboto Bold"/>
              </a:rPr>
              <a:t>59%</a:t>
            </a:r>
            <a:r>
              <a:rPr lang="en-US" sz="1999">
                <a:solidFill>
                  <a:srgbClr val="000000"/>
                </a:solidFill>
                <a:latin typeface="Roboto"/>
                <a:ea typeface="Roboto"/>
                <a:cs typeface="Roboto"/>
                <a:sym typeface="Roboto"/>
              </a:rPr>
              <a:t> giao dịch thành công cho thấy khuyến mãi là một động lực lớn thúc đẩy hành vi mua vé.</a:t>
            </a:r>
          </a:p>
          <a:p>
            <a:pPr algn="l">
              <a:lnSpc>
                <a:spcPts val="2799"/>
              </a:lnSpc>
              <a:spcBef>
                <a:spcPct val="0"/>
              </a:spcBef>
            </a:pPr>
          </a:p>
        </p:txBody>
      </p:sp>
      <p:sp>
        <p:nvSpPr>
          <p:cNvPr name="TextBox 33" id="33"/>
          <p:cNvSpPr txBox="true"/>
          <p:nvPr/>
        </p:nvSpPr>
        <p:spPr>
          <a:xfrm rot="0">
            <a:off x="8614384" y="2484046"/>
            <a:ext cx="4083695" cy="455882"/>
          </a:xfrm>
          <a:prstGeom prst="rect">
            <a:avLst/>
          </a:prstGeom>
        </p:spPr>
        <p:txBody>
          <a:bodyPr anchor="t" rtlCol="false" tIns="0" lIns="0" bIns="0" rIns="0">
            <a:spAutoFit/>
          </a:bodyPr>
          <a:lstStyle/>
          <a:p>
            <a:pPr algn="l" marL="577944" indent="-288972" lvl="1">
              <a:lnSpc>
                <a:spcPts val="3747"/>
              </a:lnSpc>
              <a:buFont typeface="Arial"/>
              <a:buChar char="•"/>
            </a:pPr>
            <a:r>
              <a:rPr lang="en-US" b="true" sz="2676">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Sử dụng khuyến mãi</a:t>
            </a:r>
          </a:p>
        </p:txBody>
      </p:sp>
      <p:sp>
        <p:nvSpPr>
          <p:cNvPr name="TextBox 34" id="34"/>
          <p:cNvSpPr txBox="true"/>
          <p:nvPr/>
        </p:nvSpPr>
        <p:spPr>
          <a:xfrm rot="0">
            <a:off x="9212987" y="6590511"/>
            <a:ext cx="4983073" cy="1054100"/>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Roboto"/>
                <a:ea typeface="Roboto"/>
                <a:cs typeface="Roboto"/>
                <a:sym typeface="Roboto"/>
              </a:rPr>
              <a:t>Chiến lược promotion hiện tại đang tối ưu cho tăng trưởng giao dịch ngắn hạn hơn là giữ chân khách hàng dài hạn.</a:t>
            </a:r>
          </a:p>
        </p:txBody>
      </p:sp>
      <p:sp>
        <p:nvSpPr>
          <p:cNvPr name="TextBox 35" id="35"/>
          <p:cNvSpPr txBox="true"/>
          <p:nvPr/>
        </p:nvSpPr>
        <p:spPr>
          <a:xfrm rot="0">
            <a:off x="9212987" y="5812636"/>
            <a:ext cx="3754768" cy="701675"/>
          </a:xfrm>
          <a:prstGeom prst="rect">
            <a:avLst/>
          </a:prstGeom>
        </p:spPr>
        <p:txBody>
          <a:bodyPr anchor="t" rtlCol="false" tIns="0" lIns="0" bIns="0" rIns="0">
            <a:spAutoFit/>
          </a:bodyPr>
          <a:lstStyle/>
          <a:p>
            <a:pPr algn="l">
              <a:lnSpc>
                <a:spcPts val="2799"/>
              </a:lnSpc>
              <a:spcBef>
                <a:spcPct val="0"/>
              </a:spcBef>
            </a:pPr>
            <a:r>
              <a:rPr lang="en-US" sz="1999">
                <a:solidFill>
                  <a:srgbClr val="000000"/>
                </a:solidFill>
                <a:latin typeface="Roboto"/>
                <a:ea typeface="Roboto"/>
                <a:cs typeface="Roboto"/>
                <a:sym typeface="Roboto"/>
              </a:rPr>
              <a:t>D</a:t>
            </a:r>
            <a:r>
              <a:rPr lang="en-US" sz="1999">
                <a:solidFill>
                  <a:srgbClr val="000000"/>
                </a:solidFill>
                <a:latin typeface="Roboto"/>
                <a:ea typeface="Roboto"/>
                <a:cs typeface="Roboto"/>
                <a:sym typeface="Roboto"/>
              </a:rPr>
              <a:t>irect discount chiếm áp đảo khoảng </a:t>
            </a:r>
            <a:r>
              <a:rPr lang="en-US" b="true" sz="1999">
                <a:solidFill>
                  <a:srgbClr val="000000"/>
                </a:solidFill>
                <a:latin typeface="Roboto Bold"/>
                <a:ea typeface="Roboto Bold"/>
                <a:cs typeface="Roboto Bold"/>
                <a:sym typeface="Roboto Bold"/>
              </a:rPr>
              <a:t>87%</a:t>
            </a:r>
          </a:p>
        </p:txBody>
      </p:sp>
      <p:sp>
        <p:nvSpPr>
          <p:cNvPr name="TextBox 36" id="36"/>
          <p:cNvSpPr txBox="true"/>
          <p:nvPr/>
        </p:nvSpPr>
        <p:spPr>
          <a:xfrm rot="0">
            <a:off x="8614384" y="5280554"/>
            <a:ext cx="3384352" cy="455882"/>
          </a:xfrm>
          <a:prstGeom prst="rect">
            <a:avLst/>
          </a:prstGeom>
        </p:spPr>
        <p:txBody>
          <a:bodyPr anchor="t" rtlCol="false" tIns="0" lIns="0" bIns="0" rIns="0">
            <a:spAutoFit/>
          </a:bodyPr>
          <a:lstStyle/>
          <a:p>
            <a:pPr algn="l" marL="577944" indent="-288972" lvl="1">
              <a:lnSpc>
                <a:spcPts val="3747"/>
              </a:lnSpc>
              <a:spcBef>
                <a:spcPct val="0"/>
              </a:spcBef>
              <a:buFont typeface="Arial"/>
              <a:buChar char="•"/>
            </a:pPr>
            <a:r>
              <a:rPr lang="en-US" b="true" sz="2676" strike="noStrike" u="none">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Loại khuyến mãi</a:t>
            </a:r>
          </a:p>
        </p:txBody>
      </p:sp>
      <p:sp>
        <p:nvSpPr>
          <p:cNvPr name="TextBox 37" id="37"/>
          <p:cNvSpPr txBox="true"/>
          <p:nvPr/>
        </p:nvSpPr>
        <p:spPr>
          <a:xfrm rot="0">
            <a:off x="269804" y="9514205"/>
            <a:ext cx="17720384" cy="382270"/>
          </a:xfrm>
          <a:prstGeom prst="rect">
            <a:avLst/>
          </a:prstGeom>
        </p:spPr>
        <p:txBody>
          <a:bodyPr anchor="t" rtlCol="false" tIns="0" lIns="0" bIns="0" rIns="0">
            <a:spAutoFit/>
          </a:bodyPr>
          <a:lstStyle/>
          <a:p>
            <a:pPr algn="ctr" marL="0" indent="0" lvl="0">
              <a:lnSpc>
                <a:spcPts val="3079"/>
              </a:lnSpc>
              <a:spcBef>
                <a:spcPct val="0"/>
              </a:spcBef>
            </a:pPr>
            <a:r>
              <a:rPr lang="en-US" b="true" sz="2199" strike="noStrike" u="none">
                <a:solidFill>
                  <a:srgbClr val="FEFEFE"/>
                </a:solidFill>
                <a:latin typeface="Roboto Bold"/>
                <a:ea typeface="Roboto Bold"/>
                <a:cs typeface="Roboto Bold"/>
                <a:sym typeface="Roboto Bold"/>
              </a:rPr>
              <a:t>Promotion đang giúp tăng giao dịch hiệu quả, nhưng chưa tạo được hành vi quay lại đủ mạnh để hình thành tăng trưởng bền vững</a:t>
            </a:r>
          </a:p>
        </p:txBody>
      </p:sp>
      <p:pic>
        <p:nvPicPr>
          <p:cNvPr name="Picture 38" id="38"/>
          <p:cNvPicPr>
            <a:picLocks noChangeAspect="true"/>
          </p:cNvPicPr>
          <p:nvPr/>
        </p:nvPicPr>
        <p:blipFill>
          <a:blip r:embed="rId7"/>
          <a:stretch>
            <a:fillRect/>
          </a:stretch>
        </p:blipFill>
        <p:spPr>
          <a:xfrm rot="0">
            <a:off x="14099676" y="4874587"/>
            <a:ext cx="3491794" cy="3986032"/>
          </a:xfrm>
          <a:prstGeom prst="rect">
            <a:avLst/>
          </a:prstGeom>
        </p:spPr>
      </p:pic>
      <p:sp>
        <p:nvSpPr>
          <p:cNvPr name="TextBox 39" id="39"/>
          <p:cNvSpPr txBox="true"/>
          <p:nvPr/>
        </p:nvSpPr>
        <p:spPr>
          <a:xfrm rot="0">
            <a:off x="9001099" y="2138132"/>
            <a:ext cx="784957" cy="924615"/>
          </a:xfrm>
          <a:prstGeom prst="rect">
            <a:avLst/>
          </a:prstGeom>
        </p:spPr>
        <p:txBody>
          <a:bodyPr anchor="t" rtlCol="false" tIns="0" lIns="0" bIns="0" rIns="0">
            <a:spAutoFit/>
          </a:bodyPr>
          <a:lstStyle/>
          <a:p>
            <a:pPr algn="ctr" marL="0" indent="0" lvl="0">
              <a:lnSpc>
                <a:spcPts val="7612"/>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72641" y="0"/>
          <a:ext cx="9597203" cy="10760948"/>
        </p:xfrm>
        <a:graphic>
          <a:graphicData uri="http://schemas.openxmlformats.org/drawingml/2006/table">
            <a:tbl>
              <a:tblPr/>
              <a:tblGrid>
                <a:gridCol w="9597203"/>
              </a:tblGrid>
              <a:tr h="10760948">
                <a:tc>
                  <a:txBody>
                    <a:bodyPr anchor="t" rtlCol="false"/>
                    <a:lstStyle/>
                    <a:p>
                      <a:pPr algn="ctr" marL="0" indent="0" lvl="0">
                        <a:lnSpc>
                          <a:spcPts val="2800"/>
                        </a:lnSpc>
                        <a:spcBef>
                          <a:spcPct val="0"/>
                        </a:spcBef>
                        <a:defRPr/>
                      </a:pP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ED2F6">
                        <a:alpha val="47843"/>
                      </a:srgbClr>
                    </a:solidFill>
                  </a:tcPr>
                </a:tc>
              </a:tr>
            </a:tbl>
          </a:graphicData>
        </a:graphic>
      </p:graphicFrame>
      <p:sp>
        <p:nvSpPr>
          <p:cNvPr name="Freeform 3" id="3"/>
          <p:cNvSpPr/>
          <p:nvPr/>
        </p:nvSpPr>
        <p:spPr>
          <a:xfrm flipH="false" flipV="false" rot="0">
            <a:off x="307922" y="1432700"/>
            <a:ext cx="8836078" cy="5809722"/>
          </a:xfrm>
          <a:custGeom>
            <a:avLst/>
            <a:gdLst/>
            <a:ahLst/>
            <a:cxnLst/>
            <a:rect r="r" b="b" t="t" l="l"/>
            <a:pathLst>
              <a:path h="5809722" w="8836078">
                <a:moveTo>
                  <a:pt x="0" y="0"/>
                </a:moveTo>
                <a:lnTo>
                  <a:pt x="8836078" y="0"/>
                </a:lnTo>
                <a:lnTo>
                  <a:pt x="8836078" y="5809722"/>
                </a:lnTo>
                <a:lnTo>
                  <a:pt x="0" y="5809722"/>
                </a:lnTo>
                <a:lnTo>
                  <a:pt x="0" y="0"/>
                </a:lnTo>
                <a:close/>
              </a:path>
            </a:pathLst>
          </a:custGeom>
          <a:blipFill>
            <a:blip r:embed="rId2"/>
            <a:stretch>
              <a:fillRect l="0" t="0" r="0" b="0"/>
            </a:stretch>
          </a:blipFill>
        </p:spPr>
      </p:sp>
      <p:sp>
        <p:nvSpPr>
          <p:cNvPr name="Freeform 4" id="4"/>
          <p:cNvSpPr/>
          <p:nvPr/>
        </p:nvSpPr>
        <p:spPr>
          <a:xfrm flipH="false" flipV="false" rot="0">
            <a:off x="9984972" y="6504685"/>
            <a:ext cx="6444098" cy="1889856"/>
          </a:xfrm>
          <a:custGeom>
            <a:avLst/>
            <a:gdLst/>
            <a:ahLst/>
            <a:cxnLst/>
            <a:rect r="r" b="b" t="t" l="l"/>
            <a:pathLst>
              <a:path h="1889856" w="6444098">
                <a:moveTo>
                  <a:pt x="0" y="0"/>
                </a:moveTo>
                <a:lnTo>
                  <a:pt x="6444099" y="0"/>
                </a:lnTo>
                <a:lnTo>
                  <a:pt x="6444099" y="1889856"/>
                </a:lnTo>
                <a:lnTo>
                  <a:pt x="0" y="1889856"/>
                </a:lnTo>
                <a:lnTo>
                  <a:pt x="0" y="0"/>
                </a:lnTo>
                <a:close/>
              </a:path>
            </a:pathLst>
          </a:custGeom>
          <a:blipFill>
            <a:blip r:embed="rId3"/>
            <a:stretch>
              <a:fillRect l="0" t="0" r="0" b="0"/>
            </a:stretch>
          </a:blipFill>
        </p:spPr>
      </p:sp>
      <p:sp>
        <p:nvSpPr>
          <p:cNvPr name="Freeform 5" id="5"/>
          <p:cNvSpPr/>
          <p:nvPr/>
        </p:nvSpPr>
        <p:spPr>
          <a:xfrm flipH="false" flipV="false" rot="0">
            <a:off x="9984972" y="1681590"/>
            <a:ext cx="6335665" cy="1800732"/>
          </a:xfrm>
          <a:custGeom>
            <a:avLst/>
            <a:gdLst/>
            <a:ahLst/>
            <a:cxnLst/>
            <a:rect r="r" b="b" t="t" l="l"/>
            <a:pathLst>
              <a:path h="1800732" w="6335665">
                <a:moveTo>
                  <a:pt x="0" y="0"/>
                </a:moveTo>
                <a:lnTo>
                  <a:pt x="6335665" y="0"/>
                </a:lnTo>
                <a:lnTo>
                  <a:pt x="6335665" y="1800733"/>
                </a:lnTo>
                <a:lnTo>
                  <a:pt x="0" y="1800733"/>
                </a:lnTo>
                <a:lnTo>
                  <a:pt x="0" y="0"/>
                </a:lnTo>
                <a:close/>
              </a:path>
            </a:pathLst>
          </a:custGeom>
          <a:blipFill>
            <a:blip r:embed="rId4"/>
            <a:stretch>
              <a:fillRect l="0" t="0" r="0" b="0"/>
            </a:stretch>
          </a:blipFill>
        </p:spPr>
      </p:sp>
      <p:grpSp>
        <p:nvGrpSpPr>
          <p:cNvPr name="Group 6" id="6"/>
          <p:cNvGrpSpPr/>
          <p:nvPr/>
        </p:nvGrpSpPr>
        <p:grpSpPr>
          <a:xfrm rot="0">
            <a:off x="435316" y="7377499"/>
            <a:ext cx="8388210" cy="1017042"/>
            <a:chOff x="0" y="0"/>
            <a:chExt cx="11184280" cy="1356056"/>
          </a:xfrm>
        </p:grpSpPr>
        <p:grpSp>
          <p:nvGrpSpPr>
            <p:cNvPr name="Group 7" id="7"/>
            <p:cNvGrpSpPr/>
            <p:nvPr/>
          </p:nvGrpSpPr>
          <p:grpSpPr>
            <a:xfrm rot="0">
              <a:off x="0" y="0"/>
              <a:ext cx="11184280" cy="1356056"/>
              <a:chOff x="0" y="0"/>
              <a:chExt cx="3453168" cy="418685"/>
            </a:xfrm>
          </p:grpSpPr>
          <p:sp>
            <p:nvSpPr>
              <p:cNvPr name="Freeform 8" id="8"/>
              <p:cNvSpPr/>
              <p:nvPr/>
            </p:nvSpPr>
            <p:spPr>
              <a:xfrm flipH="false" flipV="false" rot="0">
                <a:off x="0" y="0"/>
                <a:ext cx="3453168" cy="418685"/>
              </a:xfrm>
              <a:custGeom>
                <a:avLst/>
                <a:gdLst/>
                <a:ahLst/>
                <a:cxnLst/>
                <a:rect r="r" b="b" t="t" l="l"/>
                <a:pathLst>
                  <a:path h="418685" w="3453168">
                    <a:moveTo>
                      <a:pt x="41645" y="0"/>
                    </a:moveTo>
                    <a:lnTo>
                      <a:pt x="3411523" y="0"/>
                    </a:lnTo>
                    <a:cubicBezTo>
                      <a:pt x="3434523" y="0"/>
                      <a:pt x="3453168" y="18645"/>
                      <a:pt x="3453168" y="41645"/>
                    </a:cubicBezTo>
                    <a:lnTo>
                      <a:pt x="3453168" y="377040"/>
                    </a:lnTo>
                    <a:cubicBezTo>
                      <a:pt x="3453168" y="388085"/>
                      <a:pt x="3448780" y="398677"/>
                      <a:pt x="3440970" y="406487"/>
                    </a:cubicBezTo>
                    <a:cubicBezTo>
                      <a:pt x="3433160" y="414297"/>
                      <a:pt x="3422567" y="418685"/>
                      <a:pt x="3411523" y="418685"/>
                    </a:cubicBezTo>
                    <a:lnTo>
                      <a:pt x="41645" y="418685"/>
                    </a:lnTo>
                    <a:cubicBezTo>
                      <a:pt x="30600" y="418685"/>
                      <a:pt x="20007" y="414297"/>
                      <a:pt x="12197" y="406487"/>
                    </a:cubicBezTo>
                    <a:cubicBezTo>
                      <a:pt x="4388" y="398677"/>
                      <a:pt x="0" y="388085"/>
                      <a:pt x="0" y="377040"/>
                    </a:cubicBezTo>
                    <a:lnTo>
                      <a:pt x="0" y="41645"/>
                    </a:lnTo>
                    <a:cubicBezTo>
                      <a:pt x="0" y="30600"/>
                      <a:pt x="4388" y="20007"/>
                      <a:pt x="12197" y="12197"/>
                    </a:cubicBezTo>
                    <a:cubicBezTo>
                      <a:pt x="20007" y="4388"/>
                      <a:pt x="30600" y="0"/>
                      <a:pt x="41645" y="0"/>
                    </a:cubicBezTo>
                    <a:close/>
                  </a:path>
                </a:pathLst>
              </a:custGeom>
              <a:ln w="28575" cap="rnd">
                <a:gradFill>
                  <a:gsLst>
                    <a:gs pos="0">
                      <a:srgbClr val="3A58E4">
                        <a:alpha val="100000"/>
                      </a:srgbClr>
                    </a:gs>
                    <a:gs pos="100000">
                      <a:srgbClr val="293E9C">
                        <a:alpha val="100000"/>
                      </a:srgbClr>
                    </a:gs>
                  </a:gsLst>
                  <a:path path="circle">
                    <a:fillToRect l="0" r="100000" t="0" b="100000"/>
                  </a:path>
                  <a:tileRect r="0" l="-100000" b="0" t="-100000"/>
                </a:gradFill>
                <a:prstDash val="dash"/>
                <a:round/>
              </a:ln>
            </p:spPr>
          </p:sp>
          <p:sp>
            <p:nvSpPr>
              <p:cNvPr name="TextBox 9" id="9"/>
              <p:cNvSpPr txBox="true"/>
              <p:nvPr/>
            </p:nvSpPr>
            <p:spPr>
              <a:xfrm>
                <a:off x="0" y="-38100"/>
                <a:ext cx="3453168" cy="456785"/>
              </a:xfrm>
              <a:prstGeom prst="rect">
                <a:avLst/>
              </a:prstGeom>
            </p:spPr>
            <p:txBody>
              <a:bodyPr anchor="ctr" rtlCol="false" tIns="33379" lIns="33379" bIns="33379" rIns="33379"/>
              <a:lstStyle/>
              <a:p>
                <a:pPr algn="ctr" marL="0" indent="0" lvl="0">
                  <a:lnSpc>
                    <a:spcPts val="2660"/>
                  </a:lnSpc>
                  <a:spcBef>
                    <a:spcPct val="0"/>
                  </a:spcBef>
                </a:pPr>
              </a:p>
            </p:txBody>
          </p:sp>
        </p:grpSp>
        <p:sp>
          <p:nvSpPr>
            <p:cNvPr name="TextBox 10" id="10"/>
            <p:cNvSpPr txBox="true"/>
            <p:nvPr/>
          </p:nvSpPr>
          <p:spPr>
            <a:xfrm rot="0">
              <a:off x="921836" y="143100"/>
              <a:ext cx="9729062" cy="993657"/>
            </a:xfrm>
            <a:prstGeom prst="rect">
              <a:avLst/>
            </a:prstGeom>
          </p:spPr>
          <p:txBody>
            <a:bodyPr anchor="t" rtlCol="false" tIns="0" lIns="0" bIns="0" rIns="0">
              <a:spAutoFit/>
            </a:bodyPr>
            <a:lstStyle/>
            <a:p>
              <a:pPr algn="just" marL="0" indent="0" lvl="0">
                <a:lnSpc>
                  <a:spcPts val="3038"/>
                </a:lnSpc>
              </a:pPr>
              <a:r>
                <a:rPr lang="en-US" b="true" sz="1998">
                  <a:gradFill>
                    <a:gsLst>
                      <a:gs pos="0">
                        <a:srgbClr val="3A58E4">
                          <a:alpha val="100000"/>
                        </a:srgbClr>
                      </a:gs>
                      <a:gs pos="100000">
                        <a:srgbClr val="293E9C">
                          <a:alpha val="100000"/>
                        </a:srgbClr>
                      </a:gs>
                    </a:gsLst>
                    <a:path path="circle">
                      <a:fillToRect l="0" r="100000" t="0" b="100000"/>
                    </a:path>
                    <a:tileRect r="0" l="-100000" b="0" t="-100000"/>
                  </a:gradFill>
                  <a:latin typeface="Roboto Bold"/>
                  <a:ea typeface="Roboto Bold"/>
                  <a:cs typeface="Roboto Bold"/>
                  <a:sym typeface="Roboto Bold"/>
                </a:rPr>
                <a:t>Đang làm t</a:t>
              </a:r>
              <a:r>
                <a:rPr lang="en-US" b="true" sz="1998">
                  <a:gradFill>
                    <a:gsLst>
                      <a:gs pos="0">
                        <a:srgbClr val="3A58E4">
                          <a:alpha val="100000"/>
                        </a:srgbClr>
                      </a:gs>
                      <a:gs pos="100000">
                        <a:srgbClr val="293E9C">
                          <a:alpha val="100000"/>
                        </a:srgbClr>
                      </a:gs>
                    </a:gsLst>
                    <a:path path="circle">
                      <a:fillToRect l="0" r="100000" t="0" b="100000"/>
                    </a:path>
                    <a:tileRect r="0" l="-100000" b="0" t="-100000"/>
                  </a:gradFill>
                  <a:latin typeface="Roboto Bold"/>
                  <a:ea typeface="Roboto Bold"/>
                  <a:cs typeface="Roboto Bold"/>
                  <a:sym typeface="Roboto Bold"/>
                </a:rPr>
                <a:t>ốt ở việc kéo khách mới trong mùa cao điểm, nhưng chưa chuyển hóa tốt thành khách hàng quay lại.</a:t>
              </a:r>
            </a:p>
          </p:txBody>
        </p:sp>
      </p:grpSp>
      <p:grpSp>
        <p:nvGrpSpPr>
          <p:cNvPr name="Group 11" id="11"/>
          <p:cNvGrpSpPr/>
          <p:nvPr/>
        </p:nvGrpSpPr>
        <p:grpSpPr>
          <a:xfrm rot="0">
            <a:off x="193012" y="9301641"/>
            <a:ext cx="17901977" cy="1593100"/>
            <a:chOff x="0" y="0"/>
            <a:chExt cx="7733267" cy="688185"/>
          </a:xfrm>
        </p:grpSpPr>
        <p:sp>
          <p:nvSpPr>
            <p:cNvPr name="Freeform 12" id="12"/>
            <p:cNvSpPr/>
            <p:nvPr/>
          </p:nvSpPr>
          <p:spPr>
            <a:xfrm flipH="false" flipV="false" rot="0">
              <a:off x="0" y="0"/>
              <a:ext cx="7733267" cy="688185"/>
            </a:xfrm>
            <a:custGeom>
              <a:avLst/>
              <a:gdLst/>
              <a:ahLst/>
              <a:cxnLst/>
              <a:rect r="r" b="b" t="t" l="l"/>
              <a:pathLst>
                <a:path h="688185" w="7733267">
                  <a:moveTo>
                    <a:pt x="18596" y="0"/>
                  </a:moveTo>
                  <a:lnTo>
                    <a:pt x="7714671" y="0"/>
                  </a:lnTo>
                  <a:cubicBezTo>
                    <a:pt x="7719602" y="0"/>
                    <a:pt x="7724332" y="1959"/>
                    <a:pt x="7727820" y="5447"/>
                  </a:cubicBezTo>
                  <a:cubicBezTo>
                    <a:pt x="7731307" y="8934"/>
                    <a:pt x="7733267" y="13664"/>
                    <a:pt x="7733267" y="18596"/>
                  </a:cubicBezTo>
                  <a:lnTo>
                    <a:pt x="7733267" y="669589"/>
                  </a:lnTo>
                  <a:cubicBezTo>
                    <a:pt x="7733267" y="679859"/>
                    <a:pt x="7724941" y="688185"/>
                    <a:pt x="7714671" y="688185"/>
                  </a:cubicBezTo>
                  <a:lnTo>
                    <a:pt x="18596" y="688185"/>
                  </a:lnTo>
                  <a:cubicBezTo>
                    <a:pt x="8326" y="688185"/>
                    <a:pt x="0" y="679859"/>
                    <a:pt x="0" y="669589"/>
                  </a:cubicBezTo>
                  <a:lnTo>
                    <a:pt x="0" y="18596"/>
                  </a:lnTo>
                  <a:cubicBezTo>
                    <a:pt x="0" y="8326"/>
                    <a:pt x="8326" y="0"/>
                    <a:pt x="18596" y="0"/>
                  </a:cubicBezTo>
                  <a:close/>
                </a:path>
              </a:pathLst>
            </a:custGeom>
            <a:gradFill rotWithShape="true">
              <a:gsLst>
                <a:gs pos="0">
                  <a:srgbClr val="001F65">
                    <a:alpha val="100000"/>
                  </a:srgbClr>
                </a:gs>
                <a:gs pos="100000">
                  <a:srgbClr val="6895FD">
                    <a:alpha val="100000"/>
                  </a:srgbClr>
                </a:gs>
              </a:gsLst>
              <a:lin ang="5400000"/>
            </a:gradFill>
            <a:ln cap="rnd">
              <a:noFill/>
              <a:prstDash val="solid"/>
              <a:round/>
            </a:ln>
          </p:spPr>
        </p:sp>
        <p:sp>
          <p:nvSpPr>
            <p:cNvPr name="TextBox 13" id="13"/>
            <p:cNvSpPr txBox="true"/>
            <p:nvPr/>
          </p:nvSpPr>
          <p:spPr>
            <a:xfrm>
              <a:off x="0" y="-47625"/>
              <a:ext cx="7733267" cy="735810"/>
            </a:xfrm>
            <a:prstGeom prst="rect">
              <a:avLst/>
            </a:prstGeom>
          </p:spPr>
          <p:txBody>
            <a:bodyPr anchor="ctr" rtlCol="false" tIns="33379" lIns="33379" bIns="33379" rIns="33379"/>
            <a:lstStyle/>
            <a:p>
              <a:pPr algn="l" marL="0" indent="0" lvl="0">
                <a:lnSpc>
                  <a:spcPts val="3080"/>
                </a:lnSpc>
                <a:spcBef>
                  <a:spcPct val="0"/>
                </a:spcBef>
              </a:pPr>
            </a:p>
          </p:txBody>
        </p:sp>
      </p:grpSp>
      <p:grpSp>
        <p:nvGrpSpPr>
          <p:cNvPr name="Group 14" id="14"/>
          <p:cNvGrpSpPr/>
          <p:nvPr/>
        </p:nvGrpSpPr>
        <p:grpSpPr>
          <a:xfrm rot="0">
            <a:off x="10488275" y="3786388"/>
            <a:ext cx="5710706" cy="1693018"/>
            <a:chOff x="0" y="0"/>
            <a:chExt cx="3163457" cy="937851"/>
          </a:xfrm>
        </p:grpSpPr>
        <p:sp>
          <p:nvSpPr>
            <p:cNvPr name="Freeform 15" id="15"/>
            <p:cNvSpPr/>
            <p:nvPr/>
          </p:nvSpPr>
          <p:spPr>
            <a:xfrm flipH="false" flipV="false" rot="0">
              <a:off x="0" y="0"/>
              <a:ext cx="3163457" cy="937851"/>
            </a:xfrm>
            <a:custGeom>
              <a:avLst/>
              <a:gdLst/>
              <a:ahLst/>
              <a:cxnLst/>
              <a:rect r="r" b="b" t="t" l="l"/>
              <a:pathLst>
                <a:path h="937851" w="3163457">
                  <a:moveTo>
                    <a:pt x="58294" y="0"/>
                  </a:moveTo>
                  <a:lnTo>
                    <a:pt x="3105162" y="0"/>
                  </a:lnTo>
                  <a:cubicBezTo>
                    <a:pt x="3120623" y="0"/>
                    <a:pt x="3135450" y="6142"/>
                    <a:pt x="3146383" y="17074"/>
                  </a:cubicBezTo>
                  <a:cubicBezTo>
                    <a:pt x="3157315" y="28006"/>
                    <a:pt x="3163457" y="42834"/>
                    <a:pt x="3163457" y="58294"/>
                  </a:cubicBezTo>
                  <a:lnTo>
                    <a:pt x="3163457" y="879556"/>
                  </a:lnTo>
                  <a:cubicBezTo>
                    <a:pt x="3163457" y="895017"/>
                    <a:pt x="3157315" y="909844"/>
                    <a:pt x="3146383" y="920777"/>
                  </a:cubicBezTo>
                  <a:cubicBezTo>
                    <a:pt x="3135450" y="931709"/>
                    <a:pt x="3120623" y="937851"/>
                    <a:pt x="3105162" y="937851"/>
                  </a:cubicBezTo>
                  <a:lnTo>
                    <a:pt x="58294" y="937851"/>
                  </a:lnTo>
                  <a:cubicBezTo>
                    <a:pt x="42834" y="937851"/>
                    <a:pt x="28006" y="931709"/>
                    <a:pt x="17074" y="920777"/>
                  </a:cubicBezTo>
                  <a:cubicBezTo>
                    <a:pt x="6142" y="909844"/>
                    <a:pt x="0" y="895017"/>
                    <a:pt x="0" y="879556"/>
                  </a:cubicBezTo>
                  <a:lnTo>
                    <a:pt x="0" y="58294"/>
                  </a:lnTo>
                  <a:cubicBezTo>
                    <a:pt x="0" y="42834"/>
                    <a:pt x="6142" y="28006"/>
                    <a:pt x="17074" y="17074"/>
                  </a:cubicBezTo>
                  <a:cubicBezTo>
                    <a:pt x="28006" y="6142"/>
                    <a:pt x="42834" y="0"/>
                    <a:pt x="58294" y="0"/>
                  </a:cubicBezTo>
                  <a:close/>
                </a:path>
              </a:pathLst>
            </a:custGeom>
            <a:ln w="28575" cap="rnd">
              <a:gradFill>
                <a:gsLst>
                  <a:gs pos="0">
                    <a:srgbClr val="3A58E4">
                      <a:alpha val="100000"/>
                    </a:srgbClr>
                  </a:gs>
                  <a:gs pos="100000">
                    <a:srgbClr val="293E9C">
                      <a:alpha val="100000"/>
                    </a:srgbClr>
                  </a:gs>
                </a:gsLst>
                <a:path path="circle">
                  <a:fillToRect l="0" r="100000" t="0" b="100000"/>
                </a:path>
                <a:tileRect r="0" l="-100000" b="0" t="-100000"/>
              </a:gradFill>
              <a:prstDash val="dash"/>
              <a:round/>
            </a:ln>
          </p:spPr>
        </p:sp>
        <p:sp>
          <p:nvSpPr>
            <p:cNvPr name="TextBox 16" id="16"/>
            <p:cNvSpPr txBox="true"/>
            <p:nvPr/>
          </p:nvSpPr>
          <p:spPr>
            <a:xfrm>
              <a:off x="0" y="-47625"/>
              <a:ext cx="3163457" cy="985476"/>
            </a:xfrm>
            <a:prstGeom prst="rect">
              <a:avLst/>
            </a:prstGeom>
          </p:spPr>
          <p:txBody>
            <a:bodyPr anchor="ctr" rtlCol="false" tIns="26029" lIns="26029" bIns="26029" rIns="26029"/>
            <a:lstStyle/>
            <a:p>
              <a:pPr algn="ctr" marL="0" indent="0" lvl="0">
                <a:lnSpc>
                  <a:spcPts val="2660"/>
                </a:lnSpc>
                <a:spcBef>
                  <a:spcPct val="0"/>
                </a:spcBef>
              </a:pPr>
            </a:p>
          </p:txBody>
        </p:sp>
      </p:grpSp>
      <p:sp>
        <p:nvSpPr>
          <p:cNvPr name="TextBox 17" id="17"/>
          <p:cNvSpPr txBox="true"/>
          <p:nvPr/>
        </p:nvSpPr>
        <p:spPr>
          <a:xfrm rot="0">
            <a:off x="10981941" y="3868786"/>
            <a:ext cx="4611903" cy="1899920"/>
          </a:xfrm>
          <a:prstGeom prst="rect">
            <a:avLst/>
          </a:prstGeom>
        </p:spPr>
        <p:txBody>
          <a:bodyPr anchor="t" rtlCol="false" tIns="0" lIns="0" bIns="0" rIns="0">
            <a:spAutoFit/>
          </a:bodyPr>
          <a:lstStyle/>
          <a:p>
            <a:pPr algn="just" marL="0" indent="0" lvl="0">
              <a:lnSpc>
                <a:spcPts val="3040"/>
              </a:lnSpc>
            </a:pPr>
            <a:r>
              <a:rPr lang="en-US" b="true" sz="2000">
                <a:gradFill>
                  <a:gsLst>
                    <a:gs pos="0">
                      <a:srgbClr val="3A58E4">
                        <a:alpha val="100000"/>
                      </a:srgbClr>
                    </a:gs>
                    <a:gs pos="100000">
                      <a:srgbClr val="293E9C">
                        <a:alpha val="100000"/>
                      </a:srgbClr>
                    </a:gs>
                  </a:gsLst>
                  <a:path path="circle">
                    <a:fillToRect l="0" r="100000" t="0" b="100000"/>
                  </a:path>
                  <a:tileRect r="0" l="-100000" b="0" t="-100000"/>
                </a:gradFill>
                <a:latin typeface="Roboto Bold"/>
                <a:ea typeface="Roboto Bold"/>
                <a:cs typeface="Roboto Bold"/>
                <a:sym typeface="Roboto Bold"/>
              </a:rPr>
              <a:t>Phần l</a:t>
            </a:r>
            <a:r>
              <a:rPr lang="en-US" b="true" sz="2000">
                <a:gradFill>
                  <a:gsLst>
                    <a:gs pos="0">
                      <a:srgbClr val="3A58E4">
                        <a:alpha val="100000"/>
                      </a:srgbClr>
                    </a:gs>
                    <a:gs pos="100000">
                      <a:srgbClr val="293E9C">
                        <a:alpha val="100000"/>
                      </a:srgbClr>
                    </a:gs>
                  </a:gsLst>
                  <a:path path="circle">
                    <a:fillToRect l="0" r="100000" t="0" b="100000"/>
                  </a:path>
                  <a:tileRect r="0" l="-100000" b="0" t="-100000"/>
                </a:gradFill>
                <a:latin typeface="Roboto Bold"/>
                <a:ea typeface="Roboto Bold"/>
                <a:cs typeface="Roboto Bold"/>
                <a:sym typeface="Roboto Bold"/>
              </a:rPr>
              <a:t>ớn khách hàng:</a:t>
            </a:r>
          </a:p>
          <a:p>
            <a:pPr algn="just" marL="431801" indent="-215900" lvl="1">
              <a:lnSpc>
                <a:spcPts val="3040"/>
              </a:lnSpc>
              <a:buFont typeface="Arial"/>
              <a:buChar char="•"/>
            </a:pPr>
            <a:r>
              <a:rPr lang="en-US" b="true" sz="2000">
                <a:gradFill>
                  <a:gsLst>
                    <a:gs pos="0">
                      <a:srgbClr val="3A58E4">
                        <a:alpha val="100000"/>
                      </a:srgbClr>
                    </a:gs>
                    <a:gs pos="100000">
                      <a:srgbClr val="293E9C">
                        <a:alpha val="100000"/>
                      </a:srgbClr>
                    </a:gs>
                  </a:gsLst>
                  <a:path path="circle">
                    <a:fillToRect l="0" r="100000" t="0" b="100000"/>
                  </a:path>
                  <a:tileRect r="0" l="-100000" b="0" t="-100000"/>
                </a:gradFill>
                <a:latin typeface="Roboto Bold"/>
                <a:ea typeface="Roboto Bold"/>
                <a:cs typeface="Roboto Bold"/>
                <a:sym typeface="Roboto Bold"/>
              </a:rPr>
              <a:t>Mua ít lần</a:t>
            </a:r>
          </a:p>
          <a:p>
            <a:pPr algn="just" marL="431801" indent="-215900" lvl="1">
              <a:lnSpc>
                <a:spcPts val="3040"/>
              </a:lnSpc>
              <a:buFont typeface="Arial"/>
              <a:buChar char="•"/>
            </a:pPr>
            <a:r>
              <a:rPr lang="en-US" b="true" sz="2000">
                <a:gradFill>
                  <a:gsLst>
                    <a:gs pos="0">
                      <a:srgbClr val="3A58E4">
                        <a:alpha val="100000"/>
                      </a:srgbClr>
                    </a:gs>
                    <a:gs pos="100000">
                      <a:srgbClr val="293E9C">
                        <a:alpha val="100000"/>
                      </a:srgbClr>
                    </a:gs>
                  </a:gsLst>
                  <a:path path="circle">
                    <a:fillToRect l="0" r="100000" t="0" b="100000"/>
                  </a:path>
                  <a:tileRect r="0" l="-100000" b="0" t="-100000"/>
                </a:gradFill>
                <a:latin typeface="Roboto Bold"/>
                <a:ea typeface="Roboto Bold"/>
                <a:cs typeface="Roboto Bold"/>
                <a:sym typeface="Roboto Bold"/>
              </a:rPr>
              <a:t>Hoạt động trong thời gian ngắn</a:t>
            </a:r>
          </a:p>
          <a:p>
            <a:pPr algn="just" marL="431801" indent="-215900" lvl="1">
              <a:lnSpc>
                <a:spcPts val="3040"/>
              </a:lnSpc>
              <a:buFont typeface="Arial"/>
              <a:buChar char="•"/>
            </a:pPr>
            <a:r>
              <a:rPr lang="en-US" b="true" sz="2000">
                <a:gradFill>
                  <a:gsLst>
                    <a:gs pos="0">
                      <a:srgbClr val="3A58E4">
                        <a:alpha val="100000"/>
                      </a:srgbClr>
                    </a:gs>
                    <a:gs pos="100000">
                      <a:srgbClr val="293E9C">
                        <a:alpha val="100000"/>
                      </a:srgbClr>
                    </a:gs>
                  </a:gsLst>
                  <a:path path="circle">
                    <a:fillToRect l="0" r="100000" t="0" b="100000"/>
                  </a:path>
                  <a:tileRect r="0" l="-100000" b="0" t="-100000"/>
                </a:gradFill>
                <a:latin typeface="Roboto Bold"/>
                <a:ea typeface="Roboto Bold"/>
                <a:cs typeface="Roboto Bold"/>
                <a:sym typeface="Roboto Bold"/>
              </a:rPr>
              <a:t>Giá trị chi tiêu thấp</a:t>
            </a:r>
          </a:p>
          <a:p>
            <a:pPr algn="just" marL="0" indent="0" lvl="0">
              <a:lnSpc>
                <a:spcPts val="3040"/>
              </a:lnSpc>
            </a:pPr>
          </a:p>
        </p:txBody>
      </p:sp>
      <p:grpSp>
        <p:nvGrpSpPr>
          <p:cNvPr name="Group 18" id="18"/>
          <p:cNvGrpSpPr/>
          <p:nvPr/>
        </p:nvGrpSpPr>
        <p:grpSpPr>
          <a:xfrm rot="0">
            <a:off x="10488275" y="5583862"/>
            <a:ext cx="5710706" cy="907979"/>
            <a:chOff x="0" y="0"/>
            <a:chExt cx="3245331" cy="515994"/>
          </a:xfrm>
        </p:grpSpPr>
        <p:sp>
          <p:nvSpPr>
            <p:cNvPr name="Freeform 19" id="19"/>
            <p:cNvSpPr/>
            <p:nvPr/>
          </p:nvSpPr>
          <p:spPr>
            <a:xfrm flipH="false" flipV="false" rot="0">
              <a:off x="0" y="0"/>
              <a:ext cx="3245331" cy="515994"/>
            </a:xfrm>
            <a:custGeom>
              <a:avLst/>
              <a:gdLst/>
              <a:ahLst/>
              <a:cxnLst/>
              <a:rect r="r" b="b" t="t" l="l"/>
              <a:pathLst>
                <a:path h="515994" w="3245331">
                  <a:moveTo>
                    <a:pt x="58294" y="0"/>
                  </a:moveTo>
                  <a:lnTo>
                    <a:pt x="3187037" y="0"/>
                  </a:lnTo>
                  <a:cubicBezTo>
                    <a:pt x="3219232" y="0"/>
                    <a:pt x="3245331" y="26099"/>
                    <a:pt x="3245331" y="58294"/>
                  </a:cubicBezTo>
                  <a:lnTo>
                    <a:pt x="3245331" y="457700"/>
                  </a:lnTo>
                  <a:cubicBezTo>
                    <a:pt x="3245331" y="473160"/>
                    <a:pt x="3239189" y="487988"/>
                    <a:pt x="3228257" y="498920"/>
                  </a:cubicBezTo>
                  <a:cubicBezTo>
                    <a:pt x="3217325" y="509853"/>
                    <a:pt x="3202497" y="515994"/>
                    <a:pt x="3187037" y="515994"/>
                  </a:cubicBezTo>
                  <a:lnTo>
                    <a:pt x="58294" y="515994"/>
                  </a:lnTo>
                  <a:cubicBezTo>
                    <a:pt x="42834" y="515994"/>
                    <a:pt x="28006" y="509853"/>
                    <a:pt x="17074" y="498920"/>
                  </a:cubicBezTo>
                  <a:cubicBezTo>
                    <a:pt x="6142" y="487988"/>
                    <a:pt x="0" y="473160"/>
                    <a:pt x="0" y="457700"/>
                  </a:cubicBezTo>
                  <a:lnTo>
                    <a:pt x="0" y="58294"/>
                  </a:lnTo>
                  <a:cubicBezTo>
                    <a:pt x="0" y="42834"/>
                    <a:pt x="6142" y="28006"/>
                    <a:pt x="17074" y="17074"/>
                  </a:cubicBezTo>
                  <a:cubicBezTo>
                    <a:pt x="28006" y="6142"/>
                    <a:pt x="42834" y="0"/>
                    <a:pt x="58294" y="0"/>
                  </a:cubicBezTo>
                  <a:close/>
                </a:path>
              </a:pathLst>
            </a:custGeom>
            <a:ln w="28575" cap="rnd">
              <a:gradFill>
                <a:gsLst>
                  <a:gs pos="0">
                    <a:srgbClr val="3A58E4">
                      <a:alpha val="100000"/>
                    </a:srgbClr>
                  </a:gs>
                  <a:gs pos="100000">
                    <a:srgbClr val="293E9C">
                      <a:alpha val="100000"/>
                    </a:srgbClr>
                  </a:gs>
                </a:gsLst>
                <a:path path="circle">
                  <a:fillToRect l="0" r="100000" t="0" b="100000"/>
                </a:path>
                <a:tileRect r="0" l="-100000" b="0" t="-100000"/>
              </a:gradFill>
              <a:prstDash val="dash"/>
              <a:round/>
            </a:ln>
          </p:spPr>
        </p:sp>
        <p:sp>
          <p:nvSpPr>
            <p:cNvPr name="TextBox 20" id="20"/>
            <p:cNvSpPr txBox="true"/>
            <p:nvPr/>
          </p:nvSpPr>
          <p:spPr>
            <a:xfrm>
              <a:off x="0" y="-28575"/>
              <a:ext cx="3245331" cy="544569"/>
            </a:xfrm>
            <a:prstGeom prst="rect">
              <a:avLst/>
            </a:prstGeom>
          </p:spPr>
          <p:txBody>
            <a:bodyPr anchor="ctr" rtlCol="false" tIns="25373" lIns="25373" bIns="25373" rIns="25373"/>
            <a:lstStyle/>
            <a:p>
              <a:pPr algn="ctr" marL="0" indent="0" lvl="0">
                <a:lnSpc>
                  <a:spcPts val="1974"/>
                </a:lnSpc>
                <a:spcBef>
                  <a:spcPct val="0"/>
                </a:spcBef>
              </a:pPr>
            </a:p>
          </p:txBody>
        </p:sp>
      </p:grpSp>
      <p:sp>
        <p:nvSpPr>
          <p:cNvPr name="TextBox 21" id="21"/>
          <p:cNvSpPr txBox="true"/>
          <p:nvPr/>
        </p:nvSpPr>
        <p:spPr>
          <a:xfrm rot="0">
            <a:off x="10891265" y="5692506"/>
            <a:ext cx="4904724" cy="756920"/>
          </a:xfrm>
          <a:prstGeom prst="rect">
            <a:avLst/>
          </a:prstGeom>
        </p:spPr>
        <p:txBody>
          <a:bodyPr anchor="t" rtlCol="false" tIns="0" lIns="0" bIns="0" rIns="0">
            <a:spAutoFit/>
          </a:bodyPr>
          <a:lstStyle/>
          <a:p>
            <a:pPr algn="just" marL="0" indent="0" lvl="0">
              <a:lnSpc>
                <a:spcPts val="3040"/>
              </a:lnSpc>
            </a:pPr>
            <a:r>
              <a:rPr lang="en-US" b="true" sz="2000">
                <a:gradFill>
                  <a:gsLst>
                    <a:gs pos="0">
                      <a:srgbClr val="3A58E4">
                        <a:alpha val="100000"/>
                      </a:srgbClr>
                    </a:gs>
                    <a:gs pos="100000">
                      <a:srgbClr val="293E9C">
                        <a:alpha val="100000"/>
                      </a:srgbClr>
                    </a:gs>
                  </a:gsLst>
                  <a:path path="circle">
                    <a:fillToRect l="0" r="100000" t="0" b="100000"/>
                  </a:path>
                  <a:tileRect r="0" l="-100000" b="0" t="-100000"/>
                </a:gradFill>
                <a:latin typeface="Roboto Bold"/>
                <a:ea typeface="Roboto Bold"/>
                <a:cs typeface="Roboto Bold"/>
                <a:sym typeface="Roboto Bold"/>
              </a:rPr>
              <a:t>C</a:t>
            </a:r>
            <a:r>
              <a:rPr lang="en-US" b="true" sz="2000">
                <a:gradFill>
                  <a:gsLst>
                    <a:gs pos="0">
                      <a:srgbClr val="3A58E4">
                        <a:alpha val="100000"/>
                      </a:srgbClr>
                    </a:gs>
                    <a:gs pos="100000">
                      <a:srgbClr val="293E9C">
                        <a:alpha val="100000"/>
                      </a:srgbClr>
                    </a:gs>
                  </a:gsLst>
                  <a:path path="circle">
                    <a:fillToRect l="0" r="100000" t="0" b="100000"/>
                  </a:path>
                  <a:tileRect r="0" l="-100000" b="0" t="-100000"/>
                </a:gradFill>
                <a:latin typeface="Roboto Bold"/>
                <a:ea typeface="Roboto Bold"/>
                <a:cs typeface="Roboto Bold"/>
                <a:sym typeface="Roboto Bold"/>
              </a:rPr>
              <a:t>hỉ một nhóm nhỏ tạo ra giá trị cao và mua lặp lại nhiều lần</a:t>
            </a:r>
          </a:p>
        </p:txBody>
      </p:sp>
      <p:sp>
        <p:nvSpPr>
          <p:cNvPr name="TextBox 22" id="22"/>
          <p:cNvSpPr txBox="true"/>
          <p:nvPr/>
        </p:nvSpPr>
        <p:spPr>
          <a:xfrm rot="0">
            <a:off x="193012" y="9483616"/>
            <a:ext cx="17930540" cy="772795"/>
          </a:xfrm>
          <a:prstGeom prst="rect">
            <a:avLst/>
          </a:prstGeom>
        </p:spPr>
        <p:txBody>
          <a:bodyPr anchor="t" rtlCol="false" tIns="0" lIns="0" bIns="0" rIns="0">
            <a:spAutoFit/>
          </a:bodyPr>
          <a:lstStyle/>
          <a:p>
            <a:pPr algn="ctr" marL="0" indent="0" lvl="0">
              <a:lnSpc>
                <a:spcPts val="3079"/>
              </a:lnSpc>
              <a:spcBef>
                <a:spcPct val="0"/>
              </a:spcBef>
            </a:pPr>
            <a:r>
              <a:rPr lang="en-US" b="true" sz="2199" strike="noStrike" u="none">
                <a:solidFill>
                  <a:srgbClr val="FEFEFE"/>
                </a:solidFill>
                <a:latin typeface="Roboto Bold"/>
                <a:ea typeface="Roboto Bold"/>
                <a:cs typeface="Roboto Bold"/>
                <a:sym typeface="Roboto Bold"/>
              </a:rPr>
              <a:t>Dữ liệu cho thấy tăng trưởng hiện tại vẫn phụ thuộc nhiều vào mùa phim và khuyến mãi, trong khi tỷ lệ quay lại và vòng đời khách giá trị chưa đủ mạnh để tạo tăng trưởng bền vững</a:t>
            </a:r>
          </a:p>
        </p:txBody>
      </p:sp>
      <p:grpSp>
        <p:nvGrpSpPr>
          <p:cNvPr name="Group 23" id="23"/>
          <p:cNvGrpSpPr/>
          <p:nvPr/>
        </p:nvGrpSpPr>
        <p:grpSpPr>
          <a:xfrm rot="0">
            <a:off x="0" y="310436"/>
            <a:ext cx="10773537" cy="941289"/>
            <a:chOff x="0" y="0"/>
            <a:chExt cx="14364717" cy="1255052"/>
          </a:xfrm>
        </p:grpSpPr>
        <p:grpSp>
          <p:nvGrpSpPr>
            <p:cNvPr name="Group 24" id="24"/>
            <p:cNvGrpSpPr/>
            <p:nvPr/>
          </p:nvGrpSpPr>
          <p:grpSpPr>
            <a:xfrm rot="-5400000">
              <a:off x="6554832" y="-6554832"/>
              <a:ext cx="1255052" cy="14364717"/>
              <a:chOff x="0" y="0"/>
              <a:chExt cx="189807" cy="2172442"/>
            </a:xfrm>
          </p:grpSpPr>
          <p:sp>
            <p:nvSpPr>
              <p:cNvPr name="Freeform 25" id="25"/>
              <p:cNvSpPr/>
              <p:nvPr/>
            </p:nvSpPr>
            <p:spPr>
              <a:xfrm flipH="false" flipV="false" rot="0">
                <a:off x="0" y="0"/>
                <a:ext cx="189807" cy="2172442"/>
              </a:xfrm>
              <a:custGeom>
                <a:avLst/>
                <a:gdLst/>
                <a:ahLst/>
                <a:cxnLst/>
                <a:rect r="r" b="b" t="t" l="l"/>
                <a:pathLst>
                  <a:path h="2172442" w="189807">
                    <a:moveTo>
                      <a:pt x="189807" y="69214"/>
                    </a:moveTo>
                    <a:lnTo>
                      <a:pt x="189807" y="2003532"/>
                    </a:lnTo>
                    <a:lnTo>
                      <a:pt x="94904" y="2172442"/>
                    </a:lnTo>
                    <a:lnTo>
                      <a:pt x="0" y="2003532"/>
                    </a:lnTo>
                    <a:lnTo>
                      <a:pt x="0" y="69214"/>
                    </a:lnTo>
                    <a:cubicBezTo>
                      <a:pt x="0" y="22860"/>
                      <a:pt x="11388" y="0"/>
                      <a:pt x="24675" y="0"/>
                    </a:cubicBezTo>
                    <a:lnTo>
                      <a:pt x="165132" y="0"/>
                    </a:lnTo>
                    <a:cubicBezTo>
                      <a:pt x="178419" y="0"/>
                      <a:pt x="189807" y="22860"/>
                      <a:pt x="189807" y="69214"/>
                    </a:cubicBezTo>
                    <a:close/>
                  </a:path>
                </a:pathLst>
              </a:custGeom>
              <a:gradFill rotWithShape="true">
                <a:gsLst>
                  <a:gs pos="0">
                    <a:srgbClr val="001F65">
                      <a:alpha val="100000"/>
                    </a:srgbClr>
                  </a:gs>
                  <a:gs pos="100000">
                    <a:srgbClr val="6895FD">
                      <a:alpha val="100000"/>
                    </a:srgbClr>
                  </a:gs>
                </a:gsLst>
                <a:lin ang="5400000"/>
              </a:gradFill>
            </p:spPr>
          </p:sp>
          <p:sp>
            <p:nvSpPr>
              <p:cNvPr name="TextBox 26" id="26"/>
              <p:cNvSpPr txBox="true"/>
              <p:nvPr/>
            </p:nvSpPr>
            <p:spPr>
              <a:xfrm>
                <a:off x="0" y="-38100"/>
                <a:ext cx="189807" cy="2034012"/>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7" id="27"/>
            <p:cNvSpPr txBox="true"/>
            <p:nvPr/>
          </p:nvSpPr>
          <p:spPr>
            <a:xfrm rot="0">
              <a:off x="561445" y="163180"/>
              <a:ext cx="12477022" cy="1037577"/>
            </a:xfrm>
            <a:prstGeom prst="rect">
              <a:avLst/>
            </a:prstGeom>
          </p:spPr>
          <p:txBody>
            <a:bodyPr anchor="t" rtlCol="false" tIns="0" lIns="0" bIns="0" rIns="0">
              <a:spAutoFit/>
            </a:bodyPr>
            <a:lstStyle/>
            <a:p>
              <a:pPr algn="l" marL="0" indent="0" lvl="0">
                <a:lnSpc>
                  <a:spcPts val="5578"/>
                </a:lnSpc>
              </a:pPr>
              <a:r>
                <a:rPr lang="en-US" b="true" sz="5692" spc="-364">
                  <a:solidFill>
                    <a:srgbClr val="FFFFFF"/>
                  </a:solidFill>
                  <a:latin typeface="Noto Sans Bold"/>
                  <a:ea typeface="Noto Sans Bold"/>
                  <a:cs typeface="Noto Sans Bold"/>
                  <a:sym typeface="Noto Sans Bold"/>
                </a:rPr>
                <a:t>Khuyến mãi &amp; Tỷ lệ quay lại</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Table 3" id="3"/>
          <p:cNvGraphicFramePr>
            <a:graphicFrameLocks noGrp="true"/>
          </p:cNvGraphicFramePr>
          <p:nvPr/>
        </p:nvGraphicFramePr>
        <p:xfrm>
          <a:off x="192336" y="1531741"/>
          <a:ext cx="17475657" cy="7657973"/>
        </p:xfrm>
        <a:graphic>
          <a:graphicData uri="http://schemas.openxmlformats.org/drawingml/2006/table">
            <a:tbl>
              <a:tblPr/>
              <a:tblGrid>
                <a:gridCol w="4103051"/>
                <a:gridCol w="4503077"/>
                <a:gridCol w="4762980"/>
                <a:gridCol w="4106549"/>
              </a:tblGrid>
              <a:tr h="983708">
                <a:tc>
                  <a:txBody>
                    <a:bodyPr anchor="t" rtlCol="false"/>
                    <a:lstStyle/>
                    <a:p>
                      <a:pPr algn="ctr">
                        <a:lnSpc>
                          <a:spcPts val="2800"/>
                        </a:lnSpc>
                        <a:defRPr/>
                      </a:pPr>
                      <a:r>
                        <a:rPr lang="en-US" sz="2000" b="true">
                          <a:solidFill>
                            <a:srgbClr val="000000"/>
                          </a:solidFill>
                          <a:latin typeface="Roboto Bold"/>
                          <a:ea typeface="Roboto Bold"/>
                          <a:cs typeface="Roboto Bold"/>
                          <a:sym typeface="Roboto Bold"/>
                        </a:rPr>
                        <a:t>Nhóm khách hàng</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marL="0" indent="0" lvl="0">
                        <a:lnSpc>
                          <a:spcPts val="2800"/>
                        </a:lnSpc>
                        <a:spcBef>
                          <a:spcPct val="0"/>
                        </a:spcBef>
                        <a:defRPr/>
                      </a:pPr>
                      <a:r>
                        <a:rPr lang="en-US" b="true" sz="2000" strike="noStrike" u="none">
                          <a:solidFill>
                            <a:srgbClr val="000000"/>
                          </a:solidFill>
                          <a:latin typeface="Roboto Bold"/>
                          <a:ea typeface="Roboto Bold"/>
                          <a:cs typeface="Roboto Bold"/>
                          <a:sym typeface="Roboto Bold"/>
                        </a:rPr>
                        <a:t>Dấu hiệu nhận diện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800"/>
                        </a:lnSpc>
                        <a:defRPr/>
                      </a:pPr>
                      <a:r>
                        <a:rPr lang="en-US" sz="2000" b="true">
                          <a:solidFill>
                            <a:srgbClr val="000000"/>
                          </a:solidFill>
                          <a:latin typeface="Roboto Bold"/>
                          <a:ea typeface="Roboto Bold"/>
                          <a:cs typeface="Roboto Bold"/>
                          <a:sym typeface="Roboto Bold"/>
                        </a:rPr>
                        <a:t>Hướng xử lý</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marL="0" indent="0" lvl="0">
                        <a:lnSpc>
                          <a:spcPts val="2800"/>
                        </a:lnSpc>
                        <a:spcBef>
                          <a:spcPct val="0"/>
                        </a:spcBef>
                        <a:defRPr/>
                      </a:pPr>
                      <a:r>
                        <a:rPr lang="en-US" b="true" sz="2000" strike="noStrike" u="none">
                          <a:solidFill>
                            <a:srgbClr val="000000"/>
                          </a:solidFill>
                          <a:latin typeface="Roboto Bold"/>
                          <a:ea typeface="Roboto Bold"/>
                          <a:cs typeface="Roboto Bold"/>
                          <a:sym typeface="Roboto Bold"/>
                        </a:rPr>
                        <a:t>Vấn đề chính</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r>
              <a:tr h="1248146">
                <a:tc>
                  <a:txBody>
                    <a:bodyPr anchor="t" rtlCol="false"/>
                    <a:lstStyle/>
                    <a:p>
                      <a:pPr algn="ctr" marL="0" indent="0" lvl="0">
                        <a:lnSpc>
                          <a:spcPts val="2800"/>
                        </a:lnSpc>
                        <a:spcBef>
                          <a:spcPct val="0"/>
                        </a:spcBef>
                        <a:defRPr/>
                      </a:pPr>
                      <a:r>
                        <a:rPr lang="en-US" b="true" sz="2000" strike="noStrike" u="none">
                          <a:solidFill>
                            <a:srgbClr val="000000"/>
                          </a:solidFill>
                          <a:latin typeface="Roboto Bold"/>
                          <a:ea typeface="Roboto Bold"/>
                          <a:cs typeface="Roboto Bold"/>
                          <a:sym typeface="Roboto Bold"/>
                        </a:rPr>
                        <a:t>Khách mua một lần</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marL="0" indent="0" lvl="0">
                        <a:lnSpc>
                          <a:spcPts val="2800"/>
                        </a:lnSpc>
                        <a:spcBef>
                          <a:spcPct val="0"/>
                        </a:spcBef>
                        <a:defRPr/>
                      </a:pPr>
                      <a:r>
                        <a:rPr lang="en-US" sz="2000" strike="noStrike" u="none">
                          <a:solidFill>
                            <a:srgbClr val="000000"/>
                          </a:solidFill>
                          <a:latin typeface="Roboto"/>
                          <a:ea typeface="Roboto"/>
                          <a:cs typeface="Roboto"/>
                          <a:sym typeface="Roboto"/>
                        </a:rPr>
                        <a:t>Chỉ có 1 giao dịch thành công</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800"/>
                        </a:lnSpc>
                        <a:defRPr/>
                      </a:pPr>
                      <a:r>
                        <a:rPr lang="en-US" sz="2000">
                          <a:solidFill>
                            <a:srgbClr val="000000"/>
                          </a:solidFill>
                          <a:latin typeface="Roboto"/>
                          <a:ea typeface="Roboto"/>
                          <a:cs typeface="Roboto"/>
                          <a:sym typeface="Roboto"/>
                        </a:rPr>
                        <a:t>Tặng coupon cho lần mua thứ hai trong vòng 7–14 ngày</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800"/>
                        </a:lnSpc>
                        <a:defRPr/>
                      </a:pPr>
                      <a:r>
                        <a:rPr lang="en-US" sz="2000">
                          <a:solidFill>
                            <a:srgbClr val="000000"/>
                          </a:solidFill>
                          <a:latin typeface="Roboto"/>
                          <a:ea typeface="Roboto"/>
                          <a:cs typeface="Roboto"/>
                          <a:sym typeface="Roboto"/>
                        </a:rPr>
                        <a:t>Có thể chưa hình thành thói quen dùng app, hoặc trải nghiệm chưa tốt</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r h="1639513">
                <a:tc>
                  <a:txBody>
                    <a:bodyPr anchor="t" rtlCol="false"/>
                    <a:lstStyle/>
                    <a:p>
                      <a:pPr algn="ctr" marL="0" indent="0" lvl="0">
                        <a:lnSpc>
                          <a:spcPts val="2800"/>
                        </a:lnSpc>
                        <a:spcBef>
                          <a:spcPct val="0"/>
                        </a:spcBef>
                        <a:defRPr/>
                      </a:pPr>
                      <a:r>
                        <a:rPr lang="en-US" b="true" sz="2000" strike="noStrike" u="none">
                          <a:solidFill>
                            <a:srgbClr val="000000"/>
                          </a:solidFill>
                          <a:latin typeface="Roboto Bold"/>
                          <a:ea typeface="Roboto Bold"/>
                          <a:cs typeface="Roboto Bold"/>
                          <a:sym typeface="Roboto Bold"/>
                        </a:rPr>
                        <a:t>Khách nhạy với khuyến mãi</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800"/>
                        </a:lnSpc>
                        <a:defRPr/>
                      </a:pPr>
                      <a:r>
                        <a:rPr lang="en-US" sz="2000">
                          <a:solidFill>
                            <a:srgbClr val="000000"/>
                          </a:solidFill>
                          <a:latin typeface="Roboto"/>
                          <a:ea typeface="Roboto"/>
                          <a:cs typeface="Roboto"/>
                          <a:sym typeface="Roboto"/>
                        </a:rPr>
                        <a:t>Phần lớn giao dịch có dùng promotion</a:t>
                      </a:r>
                      <a:endParaRPr lang="en-US" sz="1100"/>
                    </a:p>
                    <a:p>
                      <a:pPr algn="ctr">
                        <a:lnSpc>
                          <a:spcPts val="2800"/>
                        </a:lnSpc>
                      </a:pPr>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marL="0" indent="0" lvl="0">
                        <a:lnSpc>
                          <a:spcPts val="2800"/>
                        </a:lnSpc>
                        <a:spcBef>
                          <a:spcPct val="0"/>
                        </a:spcBef>
                        <a:defRPr/>
                      </a:pPr>
                      <a:r>
                        <a:rPr lang="en-US" sz="2000" strike="noStrike" u="none">
                          <a:solidFill>
                            <a:srgbClr val="000000"/>
                          </a:solidFill>
                          <a:latin typeface="Roboto"/>
                          <a:ea typeface="Roboto"/>
                          <a:cs typeface="Roboto"/>
                          <a:sym typeface="Roboto"/>
                        </a:rPr>
                        <a:t>Chuyển từ giảm giá trực tiếp sang tích điểm, voucher cá nhân hóa</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800"/>
                        </a:lnSpc>
                        <a:defRPr/>
                      </a:pPr>
                      <a:r>
                        <a:rPr lang="en-US" sz="2000">
                          <a:solidFill>
                            <a:srgbClr val="000000"/>
                          </a:solidFill>
                          <a:latin typeface="Roboto"/>
                          <a:ea typeface="Roboto"/>
                          <a:cs typeface="Roboto"/>
                          <a:sym typeface="Roboto"/>
                        </a:rPr>
                        <a:t>Dễ mua khi có giảm giá, nhưng khó mua full-price</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r h="1639513">
                <a:tc>
                  <a:txBody>
                    <a:bodyPr anchor="t" rtlCol="false"/>
                    <a:lstStyle/>
                    <a:p>
                      <a:pPr algn="ctr" marL="0" indent="0" lvl="0">
                        <a:lnSpc>
                          <a:spcPts val="2800"/>
                        </a:lnSpc>
                        <a:spcBef>
                          <a:spcPct val="0"/>
                        </a:spcBef>
                        <a:defRPr/>
                      </a:pPr>
                      <a:r>
                        <a:rPr lang="en-US" b="true" sz="2000" strike="noStrike" u="none">
                          <a:solidFill>
                            <a:srgbClr val="000000"/>
                          </a:solidFill>
                          <a:latin typeface="Roboto Bold"/>
                          <a:ea typeface="Roboto Bold"/>
                          <a:cs typeface="Roboto Bold"/>
                          <a:sym typeface="Roboto Bold"/>
                        </a:rPr>
                        <a:t>Khách hàng giá trị cao</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800"/>
                        </a:lnSpc>
                        <a:defRPr/>
                      </a:pPr>
                      <a:r>
                        <a:rPr lang="en-US" sz="2000">
                          <a:solidFill>
                            <a:srgbClr val="000000"/>
                          </a:solidFill>
                          <a:latin typeface="Roboto"/>
                          <a:ea typeface="Roboto"/>
                          <a:cs typeface="Roboto"/>
                          <a:sym typeface="Roboto"/>
                        </a:rPr>
                        <a:t>Mua nhiều lần, tổng chi tiêu cao</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marL="0" indent="0" lvl="0">
                        <a:lnSpc>
                          <a:spcPts val="2800"/>
                        </a:lnSpc>
                        <a:spcBef>
                          <a:spcPct val="0"/>
                        </a:spcBef>
                        <a:defRPr/>
                      </a:pPr>
                      <a:r>
                        <a:rPr lang="en-US" sz="2000" strike="noStrike" u="none">
                          <a:solidFill>
                            <a:srgbClr val="000000"/>
                          </a:solidFill>
                          <a:latin typeface="Roboto"/>
                          <a:ea typeface="Roboto"/>
                          <a:cs typeface="Roboto"/>
                          <a:sym typeface="Roboto"/>
                        </a:rPr>
                        <a:t>Membership, ưu đãi đặc quyền, đặt vé sớm phim hot</a:t>
                      </a:r>
                      <a:endParaRPr lang="en-US" sz="1100"/>
                    </a:p>
                    <a:p>
                      <a:pPr algn="ctr" marL="0" indent="0" lvl="0">
                        <a:lnSpc>
                          <a:spcPts val="2800"/>
                        </a:lnSpc>
                        <a:spcBef>
                          <a:spcPct val="0"/>
                        </a:spcBef>
                      </a:pPr>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800"/>
                        </a:lnSpc>
                        <a:defRPr/>
                      </a:pPr>
                      <a:r>
                        <a:rPr lang="en-US" sz="2000">
                          <a:solidFill>
                            <a:srgbClr val="000000"/>
                          </a:solidFill>
                          <a:latin typeface="Roboto"/>
                          <a:ea typeface="Roboto"/>
                          <a:cs typeface="Roboto"/>
                          <a:sym typeface="Roboto"/>
                        </a:rPr>
                        <a:t>Cần giữ chân để không rời bỏ</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r h="2147093">
                <a:tc>
                  <a:txBody>
                    <a:bodyPr anchor="t" rtlCol="false"/>
                    <a:lstStyle/>
                    <a:p>
                      <a:pPr algn="ctr" marL="0" indent="0" lvl="0">
                        <a:lnSpc>
                          <a:spcPts val="2800"/>
                        </a:lnSpc>
                        <a:spcBef>
                          <a:spcPct val="0"/>
                        </a:spcBef>
                        <a:defRPr/>
                      </a:pPr>
                      <a:r>
                        <a:rPr lang="en-US" b="true" sz="2000" strike="noStrike" u="none">
                          <a:solidFill>
                            <a:srgbClr val="000000"/>
                          </a:solidFill>
                          <a:latin typeface="Roboto Bold"/>
                          <a:ea typeface="Roboto Bold"/>
                          <a:cs typeface="Roboto Bold"/>
                          <a:sym typeface="Roboto Bold"/>
                        </a:rPr>
                        <a:t>Khách lâu chưa quay lại</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99ACFF"/>
                    </a:solidFill>
                  </a:tcPr>
                </a:tc>
                <a:tc>
                  <a:txBody>
                    <a:bodyPr anchor="t" rtlCol="false"/>
                    <a:lstStyle/>
                    <a:p>
                      <a:pPr algn="ctr">
                        <a:lnSpc>
                          <a:spcPts val="2800"/>
                        </a:lnSpc>
                        <a:defRPr/>
                      </a:pPr>
                      <a:r>
                        <a:rPr lang="en-US" sz="2000">
                          <a:solidFill>
                            <a:srgbClr val="000000"/>
                          </a:solidFill>
                          <a:latin typeface="Roboto"/>
                          <a:ea typeface="Roboto"/>
                          <a:cs typeface="Roboto"/>
                          <a:sym typeface="Roboto"/>
                        </a:rPr>
                        <a:t>Từng mua nhưng nhiều tháng không hoạt động</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marL="0" indent="0" lvl="0">
                        <a:lnSpc>
                          <a:spcPts val="2800"/>
                        </a:lnSpc>
                        <a:spcBef>
                          <a:spcPct val="0"/>
                        </a:spcBef>
                        <a:defRPr/>
                      </a:pPr>
                      <a:r>
                        <a:rPr lang="en-US" sz="2000" strike="noStrike" u="none">
                          <a:solidFill>
                            <a:srgbClr val="000000"/>
                          </a:solidFill>
                          <a:latin typeface="Roboto"/>
                          <a:ea typeface="Roboto"/>
                          <a:cs typeface="Roboto"/>
                          <a:sym typeface="Roboto"/>
                        </a:rPr>
                        <a:t>Chiến dịch kéo lại bằng phim mới, voucher quay lại, thông báo cá nhân hóa</a:t>
                      </a: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c>
                  <a:txBody>
                    <a:bodyPr anchor="t" rtlCol="false"/>
                    <a:lstStyle/>
                    <a:p>
                      <a:pPr algn="ctr">
                        <a:lnSpc>
                          <a:spcPts val="2800"/>
                        </a:lnSpc>
                        <a:defRPr/>
                      </a:pPr>
                      <a:r>
                        <a:rPr lang="en-US" sz="2000">
                          <a:solidFill>
                            <a:srgbClr val="000000"/>
                          </a:solidFill>
                          <a:latin typeface="Roboto"/>
                          <a:ea typeface="Roboto"/>
                          <a:cs typeface="Roboto"/>
                          <a:sym typeface="Roboto"/>
                        </a:rPr>
                        <a:t>Có nguy cơ rời bỏ nền tảng</a:t>
                      </a:r>
                      <a:endParaRPr lang="en-US" sz="1100"/>
                    </a:p>
                    <a:p>
                      <a:pPr algn="ctr">
                        <a:lnSpc>
                          <a:spcPts val="2800"/>
                        </a:lnSpc>
                      </a:pPr>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E3E8FF"/>
                    </a:solidFill>
                  </a:tcPr>
                </a:tc>
              </a:tr>
            </a:tbl>
          </a:graphicData>
        </a:graphic>
      </p:graphicFrame>
      <p:grpSp>
        <p:nvGrpSpPr>
          <p:cNvPr name="Group 4" id="4"/>
          <p:cNvGrpSpPr/>
          <p:nvPr/>
        </p:nvGrpSpPr>
        <p:grpSpPr>
          <a:xfrm rot="-5400000">
            <a:off x="7923706" y="-7658768"/>
            <a:ext cx="1025167" cy="16872579"/>
            <a:chOff x="0" y="0"/>
            <a:chExt cx="212963" cy="3505032"/>
          </a:xfrm>
        </p:grpSpPr>
        <p:sp>
          <p:nvSpPr>
            <p:cNvPr name="Freeform 5" id="5"/>
            <p:cNvSpPr/>
            <p:nvPr/>
          </p:nvSpPr>
          <p:spPr>
            <a:xfrm flipH="false" flipV="false" rot="0">
              <a:off x="0" y="0"/>
              <a:ext cx="212963" cy="3505032"/>
            </a:xfrm>
            <a:custGeom>
              <a:avLst/>
              <a:gdLst/>
              <a:ahLst/>
              <a:cxnLst/>
              <a:rect r="r" b="b" t="t" l="l"/>
              <a:pathLst>
                <a:path h="3505032" w="212963">
                  <a:moveTo>
                    <a:pt x="212963" y="86136"/>
                  </a:moveTo>
                  <a:lnTo>
                    <a:pt x="212963" y="3336122"/>
                  </a:lnTo>
                  <a:lnTo>
                    <a:pt x="106482" y="3505032"/>
                  </a:lnTo>
                  <a:lnTo>
                    <a:pt x="0" y="3336122"/>
                  </a:lnTo>
                  <a:lnTo>
                    <a:pt x="0" y="86136"/>
                  </a:lnTo>
                  <a:cubicBezTo>
                    <a:pt x="0" y="22860"/>
                    <a:pt x="12778" y="0"/>
                    <a:pt x="27685" y="0"/>
                  </a:cubicBezTo>
                  <a:lnTo>
                    <a:pt x="185278" y="0"/>
                  </a:lnTo>
                  <a:cubicBezTo>
                    <a:pt x="200186" y="0"/>
                    <a:pt x="212963" y="22860"/>
                    <a:pt x="212963" y="86136"/>
                  </a:cubicBezTo>
                  <a:close/>
                </a:path>
              </a:pathLst>
            </a:custGeom>
            <a:gradFill rotWithShape="true">
              <a:gsLst>
                <a:gs pos="0">
                  <a:srgbClr val="001F65">
                    <a:alpha val="100000"/>
                  </a:srgbClr>
                </a:gs>
                <a:gs pos="100000">
                  <a:srgbClr val="6895FD">
                    <a:alpha val="100000"/>
                  </a:srgbClr>
                </a:gs>
              </a:gsLst>
              <a:lin ang="5400000"/>
            </a:gradFill>
          </p:spPr>
        </p:sp>
        <p:sp>
          <p:nvSpPr>
            <p:cNvPr name="TextBox 6" id="6"/>
            <p:cNvSpPr txBox="true"/>
            <p:nvPr/>
          </p:nvSpPr>
          <p:spPr>
            <a:xfrm>
              <a:off x="0" y="-38100"/>
              <a:ext cx="212963" cy="3366602"/>
            </a:xfrm>
            <a:prstGeom prst="rect">
              <a:avLst/>
            </a:prstGeom>
          </p:spPr>
          <p:txBody>
            <a:bodyPr anchor="ctr" rtlCol="false" tIns="49311" lIns="49311" bIns="49311" rIns="49311"/>
            <a:lstStyle/>
            <a:p>
              <a:pPr algn="ctr" marL="0" indent="0" lvl="0">
                <a:lnSpc>
                  <a:spcPts val="2659"/>
                </a:lnSpc>
                <a:spcBef>
                  <a:spcPct val="0"/>
                </a:spcBef>
              </a:pPr>
            </a:p>
          </p:txBody>
        </p:sp>
      </p:grpSp>
      <p:sp>
        <p:nvSpPr>
          <p:cNvPr name="TextBox 7" id="7"/>
          <p:cNvSpPr txBox="true"/>
          <p:nvPr/>
        </p:nvSpPr>
        <p:spPr>
          <a:xfrm rot="0">
            <a:off x="192336" y="429107"/>
            <a:ext cx="16029175" cy="749529"/>
          </a:xfrm>
          <a:prstGeom prst="rect">
            <a:avLst/>
          </a:prstGeom>
        </p:spPr>
        <p:txBody>
          <a:bodyPr anchor="t" rtlCol="false" tIns="0" lIns="0" bIns="0" rIns="0">
            <a:spAutoFit/>
          </a:bodyPr>
          <a:lstStyle/>
          <a:p>
            <a:pPr algn="l" marL="0" indent="0" lvl="0">
              <a:lnSpc>
                <a:spcPts val="5576"/>
              </a:lnSpc>
              <a:spcBef>
                <a:spcPct val="0"/>
              </a:spcBef>
            </a:pPr>
            <a:r>
              <a:rPr lang="en-US" b="true" sz="5690" spc="-364" strike="noStrike" u="none">
                <a:solidFill>
                  <a:srgbClr val="FFFFFF"/>
                </a:solidFill>
                <a:latin typeface="Noto Sans Bold"/>
                <a:ea typeface="Noto Sans Bold"/>
                <a:cs typeface="Noto Sans Bold"/>
                <a:sym typeface="Noto Sans Bold"/>
              </a:rPr>
              <a:t>Phân nhóm Khách hàng &amp; Chiến lược Giữ chân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9144000" y="-647015"/>
          <a:ext cx="9597203" cy="10934015"/>
        </p:xfrm>
        <a:graphic>
          <a:graphicData uri="http://schemas.openxmlformats.org/drawingml/2006/table">
            <a:tbl>
              <a:tblPr/>
              <a:tblGrid>
                <a:gridCol w="9597203"/>
              </a:tblGrid>
              <a:tr h="10934015">
                <a:tc>
                  <a:txBody>
                    <a:bodyPr anchor="t" rtlCol="false"/>
                    <a:lstStyle/>
                    <a:p>
                      <a:pPr algn="ctr" marL="0" indent="0" lvl="0">
                        <a:lnSpc>
                          <a:spcPts val="2800"/>
                        </a:lnSpc>
                        <a:spcBef>
                          <a:spcPct val="0"/>
                        </a:spcBef>
                        <a:defRPr/>
                      </a:pP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ED2F6">
                        <a:alpha val="47843"/>
                      </a:srgbClr>
                    </a:solidFill>
                  </a:tcPr>
                </a:tc>
              </a:tr>
            </a:tbl>
          </a:graphicData>
        </a:graphic>
      </p:graphicFrame>
      <p:sp>
        <p:nvSpPr>
          <p:cNvPr name="Freeform 3" id="3"/>
          <p:cNvSpPr/>
          <p:nvPr/>
        </p:nvSpPr>
        <p:spPr>
          <a:xfrm flipH="false" flipV="false" rot="0">
            <a:off x="4140714" y="1558340"/>
            <a:ext cx="652143" cy="1191019"/>
          </a:xfrm>
          <a:custGeom>
            <a:avLst/>
            <a:gdLst/>
            <a:ahLst/>
            <a:cxnLst/>
            <a:rect r="r" b="b" t="t" l="l"/>
            <a:pathLst>
              <a:path h="1191019" w="652143">
                <a:moveTo>
                  <a:pt x="0" y="0"/>
                </a:moveTo>
                <a:lnTo>
                  <a:pt x="652143" y="0"/>
                </a:lnTo>
                <a:lnTo>
                  <a:pt x="652143" y="1191019"/>
                </a:lnTo>
                <a:lnTo>
                  <a:pt x="0" y="1191019"/>
                </a:lnTo>
                <a:lnTo>
                  <a:pt x="0" y="0"/>
                </a:lnTo>
                <a:close/>
              </a:path>
            </a:pathLst>
          </a:custGeom>
          <a:blipFill>
            <a:blip r:embed="rId2"/>
            <a:stretch>
              <a:fillRect l="0" t="0" r="0" b="0"/>
            </a:stretch>
          </a:blipFill>
        </p:spPr>
      </p:sp>
      <p:sp>
        <p:nvSpPr>
          <p:cNvPr name="Freeform 4" id="4"/>
          <p:cNvSpPr/>
          <p:nvPr/>
        </p:nvSpPr>
        <p:spPr>
          <a:xfrm flipH="false" flipV="false" rot="0">
            <a:off x="13419850" y="1558340"/>
            <a:ext cx="1045504" cy="717332"/>
          </a:xfrm>
          <a:custGeom>
            <a:avLst/>
            <a:gdLst/>
            <a:ahLst/>
            <a:cxnLst/>
            <a:rect r="r" b="b" t="t" l="l"/>
            <a:pathLst>
              <a:path h="717332" w="1045504">
                <a:moveTo>
                  <a:pt x="0" y="0"/>
                </a:moveTo>
                <a:lnTo>
                  <a:pt x="1045504" y="0"/>
                </a:lnTo>
                <a:lnTo>
                  <a:pt x="1045504" y="717332"/>
                </a:lnTo>
                <a:lnTo>
                  <a:pt x="0" y="717332"/>
                </a:lnTo>
                <a:lnTo>
                  <a:pt x="0" y="0"/>
                </a:lnTo>
                <a:close/>
              </a:path>
            </a:pathLst>
          </a:custGeom>
          <a:blipFill>
            <a:blip r:embed="rId3"/>
            <a:stretch>
              <a:fillRect l="0" t="0" r="0" b="0"/>
            </a:stretch>
          </a:blipFill>
        </p:spPr>
      </p:sp>
      <p:pic>
        <p:nvPicPr>
          <p:cNvPr name="Picture 5" id="5"/>
          <p:cNvPicPr>
            <a:picLocks noChangeAspect="true"/>
          </p:cNvPicPr>
          <p:nvPr/>
        </p:nvPicPr>
        <p:blipFill>
          <a:blip r:embed="rId4"/>
          <a:stretch>
            <a:fillRect/>
          </a:stretch>
        </p:blipFill>
        <p:spPr>
          <a:xfrm rot="0">
            <a:off x="2093369" y="3158068"/>
            <a:ext cx="4844965" cy="5416154"/>
          </a:xfrm>
          <a:prstGeom prst="rect">
            <a:avLst/>
          </a:prstGeom>
        </p:spPr>
      </p:pic>
      <p:pic>
        <p:nvPicPr>
          <p:cNvPr name="Picture 6" id="6"/>
          <p:cNvPicPr>
            <a:picLocks noChangeAspect="true"/>
          </p:cNvPicPr>
          <p:nvPr/>
        </p:nvPicPr>
        <p:blipFill>
          <a:blip r:embed="rId5"/>
          <a:stretch>
            <a:fillRect/>
          </a:stretch>
        </p:blipFill>
        <p:spPr>
          <a:xfrm rot="0">
            <a:off x="10502227" y="2833584"/>
            <a:ext cx="7159332" cy="5449381"/>
          </a:xfrm>
          <a:prstGeom prst="rect">
            <a:avLst/>
          </a:prstGeom>
        </p:spPr>
      </p:pic>
      <p:sp>
        <p:nvSpPr>
          <p:cNvPr name="TextBox 7" id="7"/>
          <p:cNvSpPr txBox="true"/>
          <p:nvPr/>
        </p:nvSpPr>
        <p:spPr>
          <a:xfrm rot="0">
            <a:off x="2796755" y="2952543"/>
            <a:ext cx="3438193" cy="406062"/>
          </a:xfrm>
          <a:prstGeom prst="rect">
            <a:avLst/>
          </a:prstGeom>
        </p:spPr>
        <p:txBody>
          <a:bodyPr anchor="t" rtlCol="false" tIns="0" lIns="0" bIns="0" rIns="0">
            <a:spAutoFit/>
          </a:bodyPr>
          <a:lstStyle/>
          <a:p>
            <a:pPr algn="ctr" marL="0" indent="0" lvl="0">
              <a:lnSpc>
                <a:spcPts val="3343"/>
              </a:lnSpc>
              <a:spcBef>
                <a:spcPct val="0"/>
              </a:spcBef>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Noto Sans Bold"/>
                <a:ea typeface="Noto Sans Bold"/>
                <a:cs typeface="Noto Sans Bold"/>
                <a:sym typeface="Noto Sans Bold"/>
              </a:rPr>
              <a:t>TỶ LỆ MOBILE VS WEBSITE</a:t>
            </a:r>
          </a:p>
        </p:txBody>
      </p:sp>
      <p:sp>
        <p:nvSpPr>
          <p:cNvPr name="TextBox 8" id="8"/>
          <p:cNvSpPr txBox="true"/>
          <p:nvPr/>
        </p:nvSpPr>
        <p:spPr>
          <a:xfrm rot="0">
            <a:off x="11967865" y="2701734"/>
            <a:ext cx="4236110" cy="406062"/>
          </a:xfrm>
          <a:prstGeom prst="rect">
            <a:avLst/>
          </a:prstGeom>
        </p:spPr>
        <p:txBody>
          <a:bodyPr anchor="t" rtlCol="false" tIns="0" lIns="0" bIns="0" rIns="0">
            <a:spAutoFit/>
          </a:bodyPr>
          <a:lstStyle/>
          <a:p>
            <a:pPr algn="ctr" marL="0" indent="0" lvl="0">
              <a:lnSpc>
                <a:spcPts val="3343"/>
              </a:lnSpc>
              <a:spcBef>
                <a:spcPct val="0"/>
              </a:spcBef>
            </a:pPr>
            <a:r>
              <a:rPr lang="en-US" b="true" sz="2388" spc="-152">
                <a:gradFill>
                  <a:gsLst>
                    <a:gs pos="0">
                      <a:srgbClr val="3A58E4">
                        <a:alpha val="100000"/>
                      </a:srgbClr>
                    </a:gs>
                    <a:gs pos="100000">
                      <a:srgbClr val="293E9C">
                        <a:alpha val="100000"/>
                      </a:srgbClr>
                    </a:gs>
                  </a:gsLst>
                  <a:path path="circle">
                    <a:fillToRect l="0" r="100000" t="0" b="100000"/>
                  </a:path>
                  <a:tileRect r="0" l="-100000" b="0" t="-100000"/>
                </a:gradFill>
                <a:latin typeface="Noto Sans Bold"/>
                <a:ea typeface="Noto Sans Bold"/>
                <a:cs typeface="Noto Sans Bold"/>
                <a:sym typeface="Noto Sans Bold"/>
              </a:rPr>
              <a:t>PHƯƠNG THỨC THANH TOÁN</a:t>
            </a:r>
          </a:p>
        </p:txBody>
      </p:sp>
      <p:sp>
        <p:nvSpPr>
          <p:cNvPr name="TextBox 9" id="9"/>
          <p:cNvSpPr txBox="true"/>
          <p:nvPr/>
        </p:nvSpPr>
        <p:spPr>
          <a:xfrm rot="0">
            <a:off x="586146" y="8302196"/>
            <a:ext cx="7859409" cy="439960"/>
          </a:xfrm>
          <a:prstGeom prst="rect">
            <a:avLst/>
          </a:prstGeom>
        </p:spPr>
        <p:txBody>
          <a:bodyPr anchor="t" rtlCol="false" tIns="0" lIns="0" bIns="0" rIns="0">
            <a:spAutoFit/>
          </a:bodyPr>
          <a:lstStyle/>
          <a:p>
            <a:pPr algn="ctr">
              <a:lnSpc>
                <a:spcPts val="3575"/>
              </a:lnSpc>
              <a:spcBef>
                <a:spcPct val="0"/>
              </a:spcBef>
            </a:pPr>
            <a:r>
              <a:rPr lang="en-US" sz="2553">
                <a:solidFill>
                  <a:srgbClr val="3A58E4"/>
                </a:solidFill>
                <a:latin typeface="Roboto"/>
                <a:ea typeface="Roboto"/>
                <a:cs typeface="Roboto"/>
                <a:sym typeface="Roboto"/>
              </a:rPr>
              <a:t>M</a:t>
            </a:r>
            <a:r>
              <a:rPr lang="en-US" sz="2553">
                <a:solidFill>
                  <a:srgbClr val="3A58E4"/>
                </a:solidFill>
                <a:latin typeface="Roboto"/>
                <a:ea typeface="Roboto"/>
                <a:cs typeface="Roboto"/>
                <a:sym typeface="Roboto"/>
              </a:rPr>
              <a:t>obile là kênh trung tâm trong hành vi đặt vé online</a:t>
            </a:r>
          </a:p>
        </p:txBody>
      </p:sp>
      <p:sp>
        <p:nvSpPr>
          <p:cNvPr name="TextBox 10" id="10"/>
          <p:cNvSpPr txBox="true"/>
          <p:nvPr/>
        </p:nvSpPr>
        <p:spPr>
          <a:xfrm rot="0">
            <a:off x="10341108" y="8078359"/>
            <a:ext cx="7202987" cy="887635"/>
          </a:xfrm>
          <a:prstGeom prst="rect">
            <a:avLst/>
          </a:prstGeom>
        </p:spPr>
        <p:txBody>
          <a:bodyPr anchor="t" rtlCol="false" tIns="0" lIns="0" bIns="0" rIns="0">
            <a:spAutoFit/>
          </a:bodyPr>
          <a:lstStyle/>
          <a:p>
            <a:pPr algn="ctr" marL="0" indent="0" lvl="0">
              <a:lnSpc>
                <a:spcPts val="3575"/>
              </a:lnSpc>
              <a:spcBef>
                <a:spcPct val="0"/>
              </a:spcBef>
            </a:pPr>
            <a:r>
              <a:rPr lang="en-US" sz="2553">
                <a:solidFill>
                  <a:srgbClr val="3A58E4"/>
                </a:solidFill>
                <a:latin typeface="Roboto"/>
                <a:ea typeface="Roboto"/>
                <a:cs typeface="Roboto"/>
                <a:sym typeface="Roboto"/>
              </a:rPr>
              <a:t>P</a:t>
            </a:r>
            <a:r>
              <a:rPr lang="en-US" sz="2553" strike="noStrike" u="none">
                <a:solidFill>
                  <a:srgbClr val="3A58E4"/>
                </a:solidFill>
                <a:latin typeface="Roboto"/>
                <a:ea typeface="Roboto"/>
                <a:cs typeface="Roboto"/>
                <a:sym typeface="Roboto"/>
              </a:rPr>
              <a:t>hần lớn giao dịch phụ thuộc vào các luồng thanh toán gắn với app và ngân hàng</a:t>
            </a:r>
          </a:p>
        </p:txBody>
      </p:sp>
      <p:grpSp>
        <p:nvGrpSpPr>
          <p:cNvPr name="Group 11" id="11"/>
          <p:cNvGrpSpPr/>
          <p:nvPr/>
        </p:nvGrpSpPr>
        <p:grpSpPr>
          <a:xfrm rot="0">
            <a:off x="193012" y="9289843"/>
            <a:ext cx="17901977" cy="1593100"/>
            <a:chOff x="0" y="0"/>
            <a:chExt cx="7733267" cy="688185"/>
          </a:xfrm>
        </p:grpSpPr>
        <p:sp>
          <p:nvSpPr>
            <p:cNvPr name="Freeform 12" id="12"/>
            <p:cNvSpPr/>
            <p:nvPr/>
          </p:nvSpPr>
          <p:spPr>
            <a:xfrm flipH="false" flipV="false" rot="0">
              <a:off x="0" y="0"/>
              <a:ext cx="7733267" cy="688185"/>
            </a:xfrm>
            <a:custGeom>
              <a:avLst/>
              <a:gdLst/>
              <a:ahLst/>
              <a:cxnLst/>
              <a:rect r="r" b="b" t="t" l="l"/>
              <a:pathLst>
                <a:path h="688185" w="7733267">
                  <a:moveTo>
                    <a:pt x="18596" y="0"/>
                  </a:moveTo>
                  <a:lnTo>
                    <a:pt x="7714671" y="0"/>
                  </a:lnTo>
                  <a:cubicBezTo>
                    <a:pt x="7719602" y="0"/>
                    <a:pt x="7724332" y="1959"/>
                    <a:pt x="7727820" y="5447"/>
                  </a:cubicBezTo>
                  <a:cubicBezTo>
                    <a:pt x="7731307" y="8934"/>
                    <a:pt x="7733267" y="13664"/>
                    <a:pt x="7733267" y="18596"/>
                  </a:cubicBezTo>
                  <a:lnTo>
                    <a:pt x="7733267" y="669589"/>
                  </a:lnTo>
                  <a:cubicBezTo>
                    <a:pt x="7733267" y="679859"/>
                    <a:pt x="7724941" y="688185"/>
                    <a:pt x="7714671" y="688185"/>
                  </a:cubicBezTo>
                  <a:lnTo>
                    <a:pt x="18596" y="688185"/>
                  </a:lnTo>
                  <a:cubicBezTo>
                    <a:pt x="8326" y="688185"/>
                    <a:pt x="0" y="679859"/>
                    <a:pt x="0" y="669589"/>
                  </a:cubicBezTo>
                  <a:lnTo>
                    <a:pt x="0" y="18596"/>
                  </a:lnTo>
                  <a:cubicBezTo>
                    <a:pt x="0" y="8326"/>
                    <a:pt x="8326" y="0"/>
                    <a:pt x="18596" y="0"/>
                  </a:cubicBezTo>
                  <a:close/>
                </a:path>
              </a:pathLst>
            </a:custGeom>
            <a:gradFill rotWithShape="true">
              <a:gsLst>
                <a:gs pos="0">
                  <a:srgbClr val="001F65">
                    <a:alpha val="100000"/>
                  </a:srgbClr>
                </a:gs>
                <a:gs pos="100000">
                  <a:srgbClr val="6895FD">
                    <a:alpha val="100000"/>
                  </a:srgbClr>
                </a:gs>
              </a:gsLst>
              <a:lin ang="5400000"/>
            </a:gradFill>
            <a:ln cap="rnd">
              <a:noFill/>
              <a:prstDash val="solid"/>
              <a:round/>
            </a:ln>
          </p:spPr>
        </p:sp>
        <p:sp>
          <p:nvSpPr>
            <p:cNvPr name="TextBox 13" id="13"/>
            <p:cNvSpPr txBox="true"/>
            <p:nvPr/>
          </p:nvSpPr>
          <p:spPr>
            <a:xfrm>
              <a:off x="0" y="-47625"/>
              <a:ext cx="7733267" cy="735810"/>
            </a:xfrm>
            <a:prstGeom prst="rect">
              <a:avLst/>
            </a:prstGeom>
          </p:spPr>
          <p:txBody>
            <a:bodyPr anchor="ctr" rtlCol="false" tIns="33379" lIns="33379" bIns="33379" rIns="33379"/>
            <a:lstStyle/>
            <a:p>
              <a:pPr algn="l" marL="0" indent="0" lvl="0">
                <a:lnSpc>
                  <a:spcPts val="3080"/>
                </a:lnSpc>
                <a:spcBef>
                  <a:spcPct val="0"/>
                </a:spcBef>
              </a:pPr>
            </a:p>
          </p:txBody>
        </p:sp>
      </p:grpSp>
      <p:sp>
        <p:nvSpPr>
          <p:cNvPr name="TextBox 14" id="14"/>
          <p:cNvSpPr txBox="true"/>
          <p:nvPr/>
        </p:nvSpPr>
        <p:spPr>
          <a:xfrm rot="0">
            <a:off x="561153" y="9341138"/>
            <a:ext cx="17035698" cy="772795"/>
          </a:xfrm>
          <a:prstGeom prst="rect">
            <a:avLst/>
          </a:prstGeom>
        </p:spPr>
        <p:txBody>
          <a:bodyPr anchor="t" rtlCol="false" tIns="0" lIns="0" bIns="0" rIns="0">
            <a:spAutoFit/>
          </a:bodyPr>
          <a:lstStyle/>
          <a:p>
            <a:pPr algn="ctr" marL="0" indent="0" lvl="0">
              <a:lnSpc>
                <a:spcPts val="3079"/>
              </a:lnSpc>
              <a:spcBef>
                <a:spcPct val="0"/>
              </a:spcBef>
            </a:pPr>
            <a:r>
              <a:rPr lang="en-US" b="true" sz="2199" strike="noStrike" u="none">
                <a:solidFill>
                  <a:srgbClr val="FEFEFE"/>
                </a:solidFill>
                <a:latin typeface="Roboto Bold"/>
                <a:ea typeface="Roboto Bold"/>
                <a:cs typeface="Roboto Bold"/>
                <a:sym typeface="Roboto Bold"/>
              </a:rPr>
              <a:t> Nên tối ưu trải nghiệm và độ ổn định thanh toán của money in app và bank account trên mobile sẽ có tác động trực tiếp đến  tỷ lệ đặt vé thành công và doanh thu</a:t>
            </a:r>
          </a:p>
        </p:txBody>
      </p:sp>
      <p:grpSp>
        <p:nvGrpSpPr>
          <p:cNvPr name="Group 15" id="15"/>
          <p:cNvGrpSpPr/>
          <p:nvPr/>
        </p:nvGrpSpPr>
        <p:grpSpPr>
          <a:xfrm rot="0">
            <a:off x="-9525" y="254672"/>
            <a:ext cx="14802371" cy="941289"/>
            <a:chOff x="0" y="0"/>
            <a:chExt cx="19736495" cy="1255052"/>
          </a:xfrm>
        </p:grpSpPr>
        <p:grpSp>
          <p:nvGrpSpPr>
            <p:cNvPr name="Group 16" id="16"/>
            <p:cNvGrpSpPr/>
            <p:nvPr/>
          </p:nvGrpSpPr>
          <p:grpSpPr>
            <a:xfrm rot="-5400000">
              <a:off x="9240722" y="-9240722"/>
              <a:ext cx="1255052" cy="19736495"/>
              <a:chOff x="0" y="0"/>
              <a:chExt cx="189807" cy="2984840"/>
            </a:xfrm>
          </p:grpSpPr>
          <p:sp>
            <p:nvSpPr>
              <p:cNvPr name="Freeform 17" id="17"/>
              <p:cNvSpPr/>
              <p:nvPr/>
            </p:nvSpPr>
            <p:spPr>
              <a:xfrm flipH="false" flipV="false" rot="0">
                <a:off x="0" y="0"/>
                <a:ext cx="189807" cy="2984840"/>
              </a:xfrm>
              <a:custGeom>
                <a:avLst/>
                <a:gdLst/>
                <a:ahLst/>
                <a:cxnLst/>
                <a:rect r="r" b="b" t="t" l="l"/>
                <a:pathLst>
                  <a:path h="2984840" w="189807">
                    <a:moveTo>
                      <a:pt x="189807" y="79531"/>
                    </a:moveTo>
                    <a:lnTo>
                      <a:pt x="189807" y="2815930"/>
                    </a:lnTo>
                    <a:lnTo>
                      <a:pt x="94904" y="2984840"/>
                    </a:lnTo>
                    <a:lnTo>
                      <a:pt x="0" y="2815930"/>
                    </a:lnTo>
                    <a:lnTo>
                      <a:pt x="0" y="79531"/>
                    </a:lnTo>
                    <a:cubicBezTo>
                      <a:pt x="0" y="22860"/>
                      <a:pt x="11388" y="0"/>
                      <a:pt x="24675" y="0"/>
                    </a:cubicBezTo>
                    <a:lnTo>
                      <a:pt x="165132" y="0"/>
                    </a:lnTo>
                    <a:cubicBezTo>
                      <a:pt x="178419" y="0"/>
                      <a:pt x="189807" y="22860"/>
                      <a:pt x="189807" y="79531"/>
                    </a:cubicBezTo>
                    <a:close/>
                  </a:path>
                </a:pathLst>
              </a:custGeom>
              <a:gradFill rotWithShape="true">
                <a:gsLst>
                  <a:gs pos="0">
                    <a:srgbClr val="001F65">
                      <a:alpha val="100000"/>
                    </a:srgbClr>
                  </a:gs>
                  <a:gs pos="100000">
                    <a:srgbClr val="6895FD">
                      <a:alpha val="100000"/>
                    </a:srgbClr>
                  </a:gs>
                </a:gsLst>
                <a:lin ang="5400000"/>
              </a:gradFill>
            </p:spPr>
          </p:sp>
          <p:sp>
            <p:nvSpPr>
              <p:cNvPr name="TextBox 18" id="18"/>
              <p:cNvSpPr txBox="true"/>
              <p:nvPr/>
            </p:nvSpPr>
            <p:spPr>
              <a:xfrm>
                <a:off x="0" y="-38100"/>
                <a:ext cx="189807" cy="284641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9" id="19"/>
            <p:cNvSpPr txBox="true"/>
            <p:nvPr/>
          </p:nvSpPr>
          <p:spPr>
            <a:xfrm rot="0">
              <a:off x="771401" y="163180"/>
              <a:ext cx="17142885" cy="1037577"/>
            </a:xfrm>
            <a:prstGeom prst="rect">
              <a:avLst/>
            </a:prstGeom>
          </p:spPr>
          <p:txBody>
            <a:bodyPr anchor="t" rtlCol="false" tIns="0" lIns="0" bIns="0" rIns="0">
              <a:spAutoFit/>
            </a:bodyPr>
            <a:lstStyle/>
            <a:p>
              <a:pPr algn="l" marL="0" indent="0" lvl="0">
                <a:lnSpc>
                  <a:spcPts val="5578"/>
                </a:lnSpc>
              </a:pPr>
              <a:r>
                <a:rPr lang="en-US" b="true" sz="5692" spc="-364">
                  <a:solidFill>
                    <a:srgbClr val="FFFFFF"/>
                  </a:solidFill>
                  <a:latin typeface="Noto Sans Bold"/>
                  <a:ea typeface="Noto Sans Bold"/>
                  <a:cs typeface="Noto Sans Bold"/>
                  <a:sym typeface="Noto Sans Bold"/>
                </a:rPr>
                <a:t>Hà</a:t>
              </a:r>
              <a:r>
                <a:rPr lang="en-US" b="true" sz="5692" spc="-364">
                  <a:solidFill>
                    <a:srgbClr val="FFFFFF"/>
                  </a:solidFill>
                  <a:latin typeface="Noto Sans Bold"/>
                  <a:ea typeface="Noto Sans Bold"/>
                  <a:cs typeface="Noto Sans Bold"/>
                  <a:sym typeface="Noto Sans Bold"/>
                </a:rPr>
                <a:t>nh vi Thanh toán &amp; Tỷ lệ Thành công</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72641" y="5712530"/>
          <a:ext cx="18360641" cy="5048418"/>
        </p:xfrm>
        <a:graphic>
          <a:graphicData uri="http://schemas.openxmlformats.org/drawingml/2006/table">
            <a:tbl>
              <a:tblPr/>
              <a:tblGrid>
                <a:gridCol w="18360641"/>
              </a:tblGrid>
              <a:tr h="3514525">
                <a:tc>
                  <a:txBody>
                    <a:bodyPr anchor="t" rtlCol="false"/>
                    <a:lstStyle/>
                    <a:p>
                      <a:pPr algn="ctr" marL="0" indent="0" lvl="0">
                        <a:lnSpc>
                          <a:spcPts val="2800"/>
                        </a:lnSpc>
                        <a:spcBef>
                          <a:spcPct val="0"/>
                        </a:spcBef>
                        <a:defRPr/>
                      </a:pPr>
                      <a:endParaRPr lang="en-US" sz="1100"/>
                    </a:p>
                  </a:txBody>
                  <a:tcPr marL="190500" marR="190500" marT="190500" marB="190500" anchor="ctr">
                    <a:lnL cmpd="sng" algn="ctr" cap="flat" w="0">
                      <a:solidFill>
                        <a:srgbClr val="99ACFF"/>
                      </a:solidFill>
                      <a:prstDash val="solid"/>
                      <a:round/>
                      <a:headEnd type="none" w="med" len="med"/>
                      <a:tailEnd type="none" w="med" len="med"/>
                    </a:lnL>
                    <a:lnR cmpd="sng" algn="ctr" cap="flat" w="0">
                      <a:solidFill>
                        <a:srgbClr val="99ACFF"/>
                      </a:solidFill>
                      <a:prstDash val="solid"/>
                      <a:round/>
                      <a:headEnd type="none" w="med" len="med"/>
                      <a:tailEnd type="none" w="med" len="med"/>
                    </a:lnR>
                    <a:lnT cmpd="sng" algn="ctr" cap="flat" w="0">
                      <a:solidFill>
                        <a:srgbClr val="99ACFF"/>
                      </a:solidFill>
                      <a:prstDash val="solid"/>
                      <a:round/>
                      <a:headEnd type="none" w="med" len="med"/>
                      <a:tailEnd type="none" w="med" len="med"/>
                    </a:lnT>
                    <a:lnB cmpd="sng" algn="ctr" cap="flat" w="0">
                      <a:solidFill>
                        <a:srgbClr val="99ACFF"/>
                      </a:solidFill>
                      <a:prstDash val="solid"/>
                      <a:round/>
                      <a:headEnd type="none" w="med" len="med"/>
                      <a:tailEnd type="none" w="med" len="med"/>
                    </a:lnB>
                    <a:solidFill>
                      <a:srgbClr val="BED2F6">
                        <a:alpha val="47843"/>
                      </a:srgbClr>
                    </a:solidFill>
                  </a:tcPr>
                </a:tc>
              </a:tr>
            </a:tbl>
          </a:graphicData>
        </a:graphic>
      </p:graphicFrame>
      <p:sp>
        <p:nvSpPr>
          <p:cNvPr name="Freeform 3" id="3"/>
          <p:cNvSpPr/>
          <p:nvPr/>
        </p:nvSpPr>
        <p:spPr>
          <a:xfrm flipH="false" flipV="false" rot="0">
            <a:off x="1125729" y="6289219"/>
            <a:ext cx="849882" cy="806404"/>
          </a:xfrm>
          <a:custGeom>
            <a:avLst/>
            <a:gdLst/>
            <a:ahLst/>
            <a:cxnLst/>
            <a:rect r="r" b="b" t="t" l="l"/>
            <a:pathLst>
              <a:path h="806404" w="849882">
                <a:moveTo>
                  <a:pt x="0" y="0"/>
                </a:moveTo>
                <a:lnTo>
                  <a:pt x="849882" y="0"/>
                </a:lnTo>
                <a:lnTo>
                  <a:pt x="849882" y="806404"/>
                </a:lnTo>
                <a:lnTo>
                  <a:pt x="0" y="806404"/>
                </a:lnTo>
                <a:lnTo>
                  <a:pt x="0" y="0"/>
                </a:lnTo>
                <a:close/>
              </a:path>
            </a:pathLst>
          </a:custGeom>
          <a:blipFill>
            <a:blip r:embed="rId2"/>
            <a:stretch>
              <a:fillRect l="0" t="0" r="0" b="-67292"/>
            </a:stretch>
          </a:blipFill>
          <a:ln cap="sq">
            <a:noFill/>
            <a:prstDash val="solid"/>
            <a:miter/>
          </a:ln>
        </p:spPr>
      </p:sp>
      <p:sp>
        <p:nvSpPr>
          <p:cNvPr name="Freeform 4" id="4"/>
          <p:cNvSpPr/>
          <p:nvPr/>
        </p:nvSpPr>
        <p:spPr>
          <a:xfrm flipH="false" flipV="false" rot="0">
            <a:off x="2621535" y="1980249"/>
            <a:ext cx="11168180" cy="3517977"/>
          </a:xfrm>
          <a:custGeom>
            <a:avLst/>
            <a:gdLst/>
            <a:ahLst/>
            <a:cxnLst/>
            <a:rect r="r" b="b" t="t" l="l"/>
            <a:pathLst>
              <a:path h="3517977" w="11168180">
                <a:moveTo>
                  <a:pt x="0" y="0"/>
                </a:moveTo>
                <a:lnTo>
                  <a:pt x="11168180" y="0"/>
                </a:lnTo>
                <a:lnTo>
                  <a:pt x="11168180" y="3517976"/>
                </a:lnTo>
                <a:lnTo>
                  <a:pt x="0" y="3517976"/>
                </a:lnTo>
                <a:lnTo>
                  <a:pt x="0" y="0"/>
                </a:lnTo>
                <a:close/>
              </a:path>
            </a:pathLst>
          </a:custGeom>
          <a:blipFill>
            <a:blip r:embed="rId3"/>
            <a:stretch>
              <a:fillRect l="0" t="0" r="0" b="0"/>
            </a:stretch>
          </a:blipFill>
        </p:spPr>
      </p:sp>
      <p:sp>
        <p:nvSpPr>
          <p:cNvPr name="Freeform 5" id="5"/>
          <p:cNvSpPr/>
          <p:nvPr/>
        </p:nvSpPr>
        <p:spPr>
          <a:xfrm flipH="false" flipV="false" rot="0">
            <a:off x="2621535" y="5852685"/>
            <a:ext cx="11651949" cy="3655799"/>
          </a:xfrm>
          <a:custGeom>
            <a:avLst/>
            <a:gdLst/>
            <a:ahLst/>
            <a:cxnLst/>
            <a:rect r="r" b="b" t="t" l="l"/>
            <a:pathLst>
              <a:path h="3655799" w="11651949">
                <a:moveTo>
                  <a:pt x="0" y="0"/>
                </a:moveTo>
                <a:lnTo>
                  <a:pt x="11651949" y="0"/>
                </a:lnTo>
                <a:lnTo>
                  <a:pt x="11651949" y="3655800"/>
                </a:lnTo>
                <a:lnTo>
                  <a:pt x="0" y="3655800"/>
                </a:lnTo>
                <a:lnTo>
                  <a:pt x="0" y="0"/>
                </a:lnTo>
                <a:close/>
              </a:path>
            </a:pathLst>
          </a:custGeom>
          <a:blipFill>
            <a:blip r:embed="rId4"/>
            <a:stretch>
              <a:fillRect l="0" t="0" r="0" b="0"/>
            </a:stretch>
          </a:blipFill>
        </p:spPr>
      </p:sp>
      <p:sp>
        <p:nvSpPr>
          <p:cNvPr name="Freeform 6" id="6"/>
          <p:cNvSpPr/>
          <p:nvPr/>
        </p:nvSpPr>
        <p:spPr>
          <a:xfrm flipH="false" flipV="false" rot="0">
            <a:off x="1028700" y="2494983"/>
            <a:ext cx="1168445" cy="917230"/>
          </a:xfrm>
          <a:custGeom>
            <a:avLst/>
            <a:gdLst/>
            <a:ahLst/>
            <a:cxnLst/>
            <a:rect r="r" b="b" t="t" l="l"/>
            <a:pathLst>
              <a:path h="917230" w="1168445">
                <a:moveTo>
                  <a:pt x="0" y="0"/>
                </a:moveTo>
                <a:lnTo>
                  <a:pt x="1168445" y="0"/>
                </a:lnTo>
                <a:lnTo>
                  <a:pt x="1168445" y="917229"/>
                </a:lnTo>
                <a:lnTo>
                  <a:pt x="0" y="9172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p:nvPr/>
        </p:nvGrpSpPr>
        <p:grpSpPr>
          <a:xfrm rot="0">
            <a:off x="14042423" y="2239208"/>
            <a:ext cx="4236052" cy="2904292"/>
            <a:chOff x="0" y="0"/>
            <a:chExt cx="2407301" cy="1650477"/>
          </a:xfrm>
        </p:grpSpPr>
        <p:sp>
          <p:nvSpPr>
            <p:cNvPr name="Freeform 8" id="8"/>
            <p:cNvSpPr/>
            <p:nvPr/>
          </p:nvSpPr>
          <p:spPr>
            <a:xfrm flipH="false" flipV="false" rot="0">
              <a:off x="0" y="0"/>
              <a:ext cx="2407301" cy="1650477"/>
            </a:xfrm>
            <a:custGeom>
              <a:avLst/>
              <a:gdLst/>
              <a:ahLst/>
              <a:cxnLst/>
              <a:rect r="r" b="b" t="t" l="l"/>
              <a:pathLst>
                <a:path h="1650477" w="2407301">
                  <a:moveTo>
                    <a:pt x="78588" y="0"/>
                  </a:moveTo>
                  <a:lnTo>
                    <a:pt x="2328713" y="0"/>
                  </a:lnTo>
                  <a:cubicBezTo>
                    <a:pt x="2349556" y="0"/>
                    <a:pt x="2369545" y="8280"/>
                    <a:pt x="2384284" y="23018"/>
                  </a:cubicBezTo>
                  <a:cubicBezTo>
                    <a:pt x="2399022" y="37756"/>
                    <a:pt x="2407301" y="57745"/>
                    <a:pt x="2407301" y="78588"/>
                  </a:cubicBezTo>
                  <a:lnTo>
                    <a:pt x="2407301" y="1571889"/>
                  </a:lnTo>
                  <a:cubicBezTo>
                    <a:pt x="2407301" y="1592732"/>
                    <a:pt x="2399022" y="1612721"/>
                    <a:pt x="2384284" y="1627459"/>
                  </a:cubicBezTo>
                  <a:cubicBezTo>
                    <a:pt x="2369545" y="1642197"/>
                    <a:pt x="2349556" y="1650477"/>
                    <a:pt x="2328713" y="1650477"/>
                  </a:cubicBezTo>
                  <a:lnTo>
                    <a:pt x="78588" y="1650477"/>
                  </a:lnTo>
                  <a:cubicBezTo>
                    <a:pt x="57745" y="1650477"/>
                    <a:pt x="37756" y="1642197"/>
                    <a:pt x="23018" y="1627459"/>
                  </a:cubicBezTo>
                  <a:cubicBezTo>
                    <a:pt x="8280" y="1612721"/>
                    <a:pt x="0" y="1592732"/>
                    <a:pt x="0" y="1571889"/>
                  </a:cubicBezTo>
                  <a:lnTo>
                    <a:pt x="0" y="78588"/>
                  </a:lnTo>
                  <a:cubicBezTo>
                    <a:pt x="0" y="57745"/>
                    <a:pt x="8280" y="37756"/>
                    <a:pt x="23018" y="23018"/>
                  </a:cubicBezTo>
                  <a:cubicBezTo>
                    <a:pt x="37756" y="8280"/>
                    <a:pt x="57745" y="0"/>
                    <a:pt x="78588" y="0"/>
                  </a:cubicBezTo>
                  <a:close/>
                </a:path>
              </a:pathLst>
            </a:custGeom>
            <a:ln w="28575"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9" id="9"/>
            <p:cNvSpPr txBox="true"/>
            <p:nvPr/>
          </p:nvSpPr>
          <p:spPr>
            <a:xfrm>
              <a:off x="0" y="-57150"/>
              <a:ext cx="2407301" cy="1707627"/>
            </a:xfrm>
            <a:prstGeom prst="rect">
              <a:avLst/>
            </a:prstGeom>
          </p:spPr>
          <p:txBody>
            <a:bodyPr anchor="ctr" rtlCol="false" tIns="25373" lIns="25373" bIns="25373" rIns="25373"/>
            <a:lstStyle/>
            <a:p>
              <a:pPr algn="ctr" marL="0" indent="0" lvl="0">
                <a:lnSpc>
                  <a:spcPts val="2800"/>
                </a:lnSpc>
                <a:spcBef>
                  <a:spcPct val="0"/>
                </a:spcBef>
              </a:pPr>
              <a:r>
                <a:rPr lang="en-US" sz="2000">
                  <a:solidFill>
                    <a:srgbClr val="000000"/>
                  </a:solidFill>
                  <a:latin typeface="Roboto"/>
                  <a:ea typeface="Roboto"/>
                  <a:cs typeface="Roboto"/>
                  <a:sym typeface="Roboto"/>
                </a:rPr>
                <a:t>Tỷ lệ thành công trung bình duy trì ở mức cao (80–90%).  Năm 2022 khi giao dịch tăng cao, chỉ một mức giảm nhỏ trong tỷ lệ thanh toán thành công cũng có thể tạo ra số lượng giao dịch thất bại đáng kể</a:t>
              </a:r>
            </a:p>
          </p:txBody>
        </p:sp>
      </p:grpSp>
      <p:grpSp>
        <p:nvGrpSpPr>
          <p:cNvPr name="Group 10" id="10"/>
          <p:cNvGrpSpPr/>
          <p:nvPr/>
        </p:nvGrpSpPr>
        <p:grpSpPr>
          <a:xfrm rot="0">
            <a:off x="14480972" y="5852685"/>
            <a:ext cx="3014958" cy="1889630"/>
            <a:chOff x="0" y="0"/>
            <a:chExt cx="1713367" cy="1073856"/>
          </a:xfrm>
        </p:grpSpPr>
        <p:sp>
          <p:nvSpPr>
            <p:cNvPr name="Freeform 11" id="11"/>
            <p:cNvSpPr/>
            <p:nvPr/>
          </p:nvSpPr>
          <p:spPr>
            <a:xfrm flipH="false" flipV="false" rot="0">
              <a:off x="0" y="0"/>
              <a:ext cx="1713367" cy="1073856"/>
            </a:xfrm>
            <a:custGeom>
              <a:avLst/>
              <a:gdLst/>
              <a:ahLst/>
              <a:cxnLst/>
              <a:rect r="r" b="b" t="t" l="l"/>
              <a:pathLst>
                <a:path h="1073856" w="1713367">
                  <a:moveTo>
                    <a:pt x="110417" y="0"/>
                  </a:moveTo>
                  <a:lnTo>
                    <a:pt x="1602950" y="0"/>
                  </a:lnTo>
                  <a:cubicBezTo>
                    <a:pt x="1663932" y="0"/>
                    <a:pt x="1713367" y="49435"/>
                    <a:pt x="1713367" y="110417"/>
                  </a:cubicBezTo>
                  <a:lnTo>
                    <a:pt x="1713367" y="963439"/>
                  </a:lnTo>
                  <a:cubicBezTo>
                    <a:pt x="1713367" y="1024420"/>
                    <a:pt x="1663932" y="1073856"/>
                    <a:pt x="1602950" y="1073856"/>
                  </a:cubicBezTo>
                  <a:lnTo>
                    <a:pt x="110417" y="1073856"/>
                  </a:lnTo>
                  <a:cubicBezTo>
                    <a:pt x="49435" y="1073856"/>
                    <a:pt x="0" y="1024420"/>
                    <a:pt x="0" y="963439"/>
                  </a:cubicBezTo>
                  <a:lnTo>
                    <a:pt x="0" y="110417"/>
                  </a:lnTo>
                  <a:cubicBezTo>
                    <a:pt x="0" y="49435"/>
                    <a:pt x="49435" y="0"/>
                    <a:pt x="110417" y="0"/>
                  </a:cubicBezTo>
                  <a:close/>
                </a:path>
              </a:pathLst>
            </a:custGeom>
            <a:ln w="28575" cap="rnd">
              <a:gradFill>
                <a:gsLst>
                  <a:gs pos="0">
                    <a:srgbClr val="3A58E4">
                      <a:alpha val="100000"/>
                    </a:srgbClr>
                  </a:gs>
                  <a:gs pos="100000">
                    <a:srgbClr val="293E9C">
                      <a:alpha val="100000"/>
                    </a:srgbClr>
                  </a:gs>
                </a:gsLst>
                <a:path path="circle">
                  <a:fillToRect l="0" r="100000" t="0" b="100000"/>
                </a:path>
                <a:tileRect r="0" l="-100000" b="0" t="-100000"/>
              </a:gradFill>
              <a:prstDash val="solid"/>
              <a:round/>
            </a:ln>
          </p:spPr>
        </p:sp>
        <p:sp>
          <p:nvSpPr>
            <p:cNvPr name="TextBox 12" id="12"/>
            <p:cNvSpPr txBox="true"/>
            <p:nvPr/>
          </p:nvSpPr>
          <p:spPr>
            <a:xfrm>
              <a:off x="0" y="-57150"/>
              <a:ext cx="1713367" cy="1131006"/>
            </a:xfrm>
            <a:prstGeom prst="rect">
              <a:avLst/>
            </a:prstGeom>
          </p:spPr>
          <p:txBody>
            <a:bodyPr anchor="ctr" rtlCol="false" tIns="25373" lIns="25373" bIns="25373" rIns="25373"/>
            <a:lstStyle/>
            <a:p>
              <a:pPr algn="ctr" marL="0" indent="0" lvl="0">
                <a:lnSpc>
                  <a:spcPts val="2800"/>
                </a:lnSpc>
                <a:spcBef>
                  <a:spcPct val="0"/>
                </a:spcBef>
              </a:pPr>
              <a:r>
                <a:rPr lang="en-US" b="true" sz="2000">
                  <a:solidFill>
                    <a:srgbClr val="000000"/>
                  </a:solidFill>
                  <a:latin typeface="Roboto Bold"/>
                  <a:ea typeface="Roboto Bold"/>
                  <a:cs typeface="Roboto Bold"/>
                  <a:sym typeface="Roboto Bold"/>
                </a:rPr>
                <a:t>Các lỗi ngân hàng này tăng đột biến đặc biệt trong năm 2022 trùng với giai đoạn giao dịch tăng cao</a:t>
              </a:r>
            </a:p>
          </p:txBody>
        </p:sp>
      </p:grpSp>
      <p:sp>
        <p:nvSpPr>
          <p:cNvPr name="Freeform 13" id="13"/>
          <p:cNvSpPr/>
          <p:nvPr/>
        </p:nvSpPr>
        <p:spPr>
          <a:xfrm flipH="false" flipV="false" rot="5400000">
            <a:off x="15782213" y="7976335"/>
            <a:ext cx="482754" cy="273719"/>
          </a:xfrm>
          <a:custGeom>
            <a:avLst/>
            <a:gdLst/>
            <a:ahLst/>
            <a:cxnLst/>
            <a:rect r="r" b="b" t="t" l="l"/>
            <a:pathLst>
              <a:path h="273719" w="482754">
                <a:moveTo>
                  <a:pt x="0" y="0"/>
                </a:moveTo>
                <a:lnTo>
                  <a:pt x="482754" y="0"/>
                </a:lnTo>
                <a:lnTo>
                  <a:pt x="482754" y="273719"/>
                </a:lnTo>
                <a:lnTo>
                  <a:pt x="0" y="2737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4" id="14"/>
          <p:cNvSpPr txBox="true"/>
          <p:nvPr/>
        </p:nvSpPr>
        <p:spPr>
          <a:xfrm rot="0">
            <a:off x="297205" y="3364587"/>
            <a:ext cx="2324331" cy="701675"/>
          </a:xfrm>
          <a:prstGeom prst="rect">
            <a:avLst/>
          </a:prstGeom>
        </p:spPr>
        <p:txBody>
          <a:bodyPr anchor="t" rtlCol="false" tIns="0" lIns="0" bIns="0" rIns="0">
            <a:spAutoFit/>
          </a:bodyPr>
          <a:lstStyle/>
          <a:p>
            <a:pPr algn="ctr">
              <a:lnSpc>
                <a:spcPts val="2800"/>
              </a:lnSpc>
            </a:pPr>
            <a:r>
              <a:rPr lang="en-US" b="true" sz="2000" spc="-128">
                <a:gradFill>
                  <a:gsLst>
                    <a:gs pos="0">
                      <a:srgbClr val="3A58E4">
                        <a:alpha val="100000"/>
                      </a:srgbClr>
                    </a:gs>
                    <a:gs pos="100000">
                      <a:srgbClr val="293E9C">
                        <a:alpha val="100000"/>
                      </a:srgbClr>
                    </a:gs>
                  </a:gsLst>
                  <a:path path="circle">
                    <a:fillToRect l="0" r="100000" t="0" b="100000"/>
                  </a:path>
                  <a:tileRect r="0" l="-100000" b="0" t="-100000"/>
                </a:gradFill>
                <a:latin typeface="Noto Sans Bold"/>
                <a:ea typeface="Noto Sans Bold"/>
                <a:cs typeface="Noto Sans Bold"/>
                <a:sym typeface="Noto Sans Bold"/>
              </a:rPr>
              <a:t>TỶ LỆ THANH TOÁN</a:t>
            </a:r>
          </a:p>
          <a:p>
            <a:pPr algn="ctr" marL="0" indent="0" lvl="0">
              <a:lnSpc>
                <a:spcPts val="2800"/>
              </a:lnSpc>
            </a:pPr>
            <a:r>
              <a:rPr lang="en-US" b="true" sz="2000" spc="-128">
                <a:gradFill>
                  <a:gsLst>
                    <a:gs pos="0">
                      <a:srgbClr val="3A58E4">
                        <a:alpha val="100000"/>
                      </a:srgbClr>
                    </a:gs>
                    <a:gs pos="100000">
                      <a:srgbClr val="293E9C">
                        <a:alpha val="100000"/>
                      </a:srgbClr>
                    </a:gs>
                  </a:gsLst>
                  <a:path path="circle">
                    <a:fillToRect l="0" r="100000" t="0" b="100000"/>
                  </a:path>
                  <a:tileRect r="0" l="-100000" b="0" t="-100000"/>
                </a:gradFill>
                <a:latin typeface="Noto Sans Bold"/>
                <a:ea typeface="Noto Sans Bold"/>
                <a:cs typeface="Noto Sans Bold"/>
                <a:sym typeface="Noto Sans Bold"/>
              </a:rPr>
              <a:t>THÀNH CÔNG</a:t>
            </a:r>
          </a:p>
        </p:txBody>
      </p:sp>
      <p:sp>
        <p:nvSpPr>
          <p:cNvPr name="TextBox 15" id="15"/>
          <p:cNvSpPr txBox="true"/>
          <p:nvPr/>
        </p:nvSpPr>
        <p:spPr>
          <a:xfrm rot="0">
            <a:off x="297205" y="7227971"/>
            <a:ext cx="2506931" cy="692446"/>
          </a:xfrm>
          <a:prstGeom prst="rect">
            <a:avLst/>
          </a:prstGeom>
        </p:spPr>
        <p:txBody>
          <a:bodyPr anchor="t" rtlCol="false" tIns="0" lIns="0" bIns="0" rIns="0">
            <a:spAutoFit/>
          </a:bodyPr>
          <a:lstStyle/>
          <a:p>
            <a:pPr algn="ctr" marL="0" indent="0" lvl="0">
              <a:lnSpc>
                <a:spcPts val="2783"/>
              </a:lnSpc>
            </a:pPr>
            <a:r>
              <a:rPr lang="en-US" b="true" sz="1988" spc="-127">
                <a:gradFill>
                  <a:gsLst>
                    <a:gs pos="0">
                      <a:srgbClr val="3A58E4">
                        <a:alpha val="100000"/>
                      </a:srgbClr>
                    </a:gs>
                    <a:gs pos="100000">
                      <a:srgbClr val="293E9C">
                        <a:alpha val="100000"/>
                      </a:srgbClr>
                    </a:gs>
                  </a:gsLst>
                  <a:path path="circle">
                    <a:fillToRect l="0" r="100000" t="0" b="100000"/>
                  </a:path>
                  <a:tileRect r="0" l="-100000" b="0" t="-100000"/>
                </a:gradFill>
                <a:latin typeface="Noto Sans Bold"/>
                <a:ea typeface="Noto Sans Bold"/>
                <a:cs typeface="Noto Sans Bold"/>
                <a:sym typeface="Noto Sans Bold"/>
              </a:rPr>
              <a:t>PHÂN LOẠI LỖI </a:t>
            </a:r>
          </a:p>
          <a:p>
            <a:pPr algn="ctr" marL="0" indent="0" lvl="0">
              <a:lnSpc>
                <a:spcPts val="2783"/>
              </a:lnSpc>
            </a:pPr>
            <a:r>
              <a:rPr lang="en-US" b="true" sz="1988" spc="-127">
                <a:gradFill>
                  <a:gsLst>
                    <a:gs pos="0">
                      <a:srgbClr val="3A58E4">
                        <a:alpha val="100000"/>
                      </a:srgbClr>
                    </a:gs>
                    <a:gs pos="100000">
                      <a:srgbClr val="293E9C">
                        <a:alpha val="100000"/>
                      </a:srgbClr>
                    </a:gs>
                  </a:gsLst>
                  <a:path path="circle">
                    <a:fillToRect l="0" r="100000" t="0" b="100000"/>
                  </a:path>
                  <a:tileRect r="0" l="-100000" b="0" t="-100000"/>
                </a:gradFill>
                <a:latin typeface="Noto Sans Bold"/>
                <a:ea typeface="Noto Sans Bold"/>
                <a:cs typeface="Noto Sans Bold"/>
                <a:sym typeface="Noto Sans Bold"/>
              </a:rPr>
              <a:t>THANH TOÁN</a:t>
            </a:r>
          </a:p>
        </p:txBody>
      </p:sp>
      <p:grpSp>
        <p:nvGrpSpPr>
          <p:cNvPr name="Group 16" id="16"/>
          <p:cNvGrpSpPr/>
          <p:nvPr/>
        </p:nvGrpSpPr>
        <p:grpSpPr>
          <a:xfrm rot="0">
            <a:off x="14480972" y="8354571"/>
            <a:ext cx="3014958" cy="1455033"/>
            <a:chOff x="0" y="0"/>
            <a:chExt cx="4019944" cy="1940043"/>
          </a:xfrm>
        </p:grpSpPr>
        <p:grpSp>
          <p:nvGrpSpPr>
            <p:cNvPr name="Group 17" id="17"/>
            <p:cNvGrpSpPr/>
            <p:nvPr/>
          </p:nvGrpSpPr>
          <p:grpSpPr>
            <a:xfrm rot="0">
              <a:off x="0" y="0"/>
              <a:ext cx="4019944" cy="1940043"/>
              <a:chOff x="0" y="0"/>
              <a:chExt cx="998054" cy="481665"/>
            </a:xfrm>
          </p:grpSpPr>
          <p:sp>
            <p:nvSpPr>
              <p:cNvPr name="Freeform 18" id="18"/>
              <p:cNvSpPr/>
              <p:nvPr/>
            </p:nvSpPr>
            <p:spPr>
              <a:xfrm flipH="false" flipV="false" rot="0">
                <a:off x="0" y="0"/>
                <a:ext cx="998054" cy="481665"/>
              </a:xfrm>
              <a:custGeom>
                <a:avLst/>
                <a:gdLst/>
                <a:ahLst/>
                <a:cxnLst/>
                <a:rect r="r" b="b" t="t" l="l"/>
                <a:pathLst>
                  <a:path h="481665" w="998054">
                    <a:moveTo>
                      <a:pt x="0" y="0"/>
                    </a:moveTo>
                    <a:lnTo>
                      <a:pt x="998054" y="0"/>
                    </a:lnTo>
                    <a:lnTo>
                      <a:pt x="998054" y="481665"/>
                    </a:lnTo>
                    <a:lnTo>
                      <a:pt x="0" y="481665"/>
                    </a:lnTo>
                    <a:close/>
                  </a:path>
                </a:pathLst>
              </a:custGeom>
              <a:solidFill>
                <a:srgbClr val="C6D6FF"/>
              </a:solidFill>
              <a:ln w="38100" cap="sq">
                <a:solidFill>
                  <a:srgbClr val="6984FE"/>
                </a:solidFill>
                <a:prstDash val="dash"/>
                <a:miter/>
              </a:ln>
            </p:spPr>
          </p:sp>
          <p:sp>
            <p:nvSpPr>
              <p:cNvPr name="TextBox 19" id="19"/>
              <p:cNvSpPr txBox="true"/>
              <p:nvPr/>
            </p:nvSpPr>
            <p:spPr>
              <a:xfrm>
                <a:off x="0" y="-57150"/>
                <a:ext cx="998054" cy="538815"/>
              </a:xfrm>
              <a:prstGeom prst="rect">
                <a:avLst/>
              </a:prstGeom>
            </p:spPr>
            <p:txBody>
              <a:bodyPr anchor="ctr" rtlCol="false" tIns="50800" lIns="50800" bIns="50800" rIns="50800"/>
              <a:lstStyle/>
              <a:p>
                <a:pPr algn="ctr">
                  <a:lnSpc>
                    <a:spcPts val="2660"/>
                  </a:lnSpc>
                </a:pPr>
              </a:p>
            </p:txBody>
          </p:sp>
        </p:grpSp>
        <p:sp>
          <p:nvSpPr>
            <p:cNvPr name="TextBox 20" id="20"/>
            <p:cNvSpPr txBox="true"/>
            <p:nvPr/>
          </p:nvSpPr>
          <p:spPr>
            <a:xfrm rot="0">
              <a:off x="43712" y="-57150"/>
              <a:ext cx="3932519" cy="1869017"/>
            </a:xfrm>
            <a:prstGeom prst="rect">
              <a:avLst/>
            </a:prstGeom>
          </p:spPr>
          <p:txBody>
            <a:bodyPr anchor="t" rtlCol="false" tIns="0" lIns="0" bIns="0" rIns="0">
              <a:spAutoFit/>
            </a:bodyPr>
            <a:lstStyle/>
            <a:p>
              <a:pPr algn="ctr">
                <a:lnSpc>
                  <a:spcPts val="2800"/>
                </a:lnSpc>
                <a:spcBef>
                  <a:spcPct val="0"/>
                </a:spcBef>
              </a:pPr>
              <a:r>
                <a:rPr lang="en-US" sz="2000">
                  <a:solidFill>
                    <a:srgbClr val="3A58E4"/>
                  </a:solidFill>
                  <a:latin typeface="Roboto"/>
                  <a:ea typeface="Roboto"/>
                  <a:cs typeface="Roboto"/>
                  <a:sym typeface="Roboto"/>
                </a:rPr>
                <a:t>Đ</a:t>
              </a:r>
              <a:r>
                <a:rPr lang="en-US" sz="2000">
                  <a:solidFill>
                    <a:srgbClr val="3A58E4"/>
                  </a:solidFill>
                  <a:latin typeface="Roboto"/>
                  <a:ea typeface="Roboto"/>
                  <a:cs typeface="Roboto"/>
                  <a:sym typeface="Roboto"/>
                </a:rPr>
                <a:t>iểm nghẽn lớn nhất không nằm ở hệ sinh thái bên ngoài (ngân hàng, payment gateway)</a:t>
              </a:r>
            </a:p>
          </p:txBody>
        </p:sp>
      </p:grpSp>
      <p:grpSp>
        <p:nvGrpSpPr>
          <p:cNvPr name="Group 21" id="21"/>
          <p:cNvGrpSpPr/>
          <p:nvPr/>
        </p:nvGrpSpPr>
        <p:grpSpPr>
          <a:xfrm rot="0">
            <a:off x="-9525" y="254672"/>
            <a:ext cx="14802371" cy="941289"/>
            <a:chOff x="0" y="0"/>
            <a:chExt cx="19736495" cy="1255052"/>
          </a:xfrm>
        </p:grpSpPr>
        <p:grpSp>
          <p:nvGrpSpPr>
            <p:cNvPr name="Group 22" id="22"/>
            <p:cNvGrpSpPr/>
            <p:nvPr/>
          </p:nvGrpSpPr>
          <p:grpSpPr>
            <a:xfrm rot="-5400000">
              <a:off x="9240722" y="-9240722"/>
              <a:ext cx="1255052" cy="19736495"/>
              <a:chOff x="0" y="0"/>
              <a:chExt cx="189807" cy="2984840"/>
            </a:xfrm>
          </p:grpSpPr>
          <p:sp>
            <p:nvSpPr>
              <p:cNvPr name="Freeform 23" id="23"/>
              <p:cNvSpPr/>
              <p:nvPr/>
            </p:nvSpPr>
            <p:spPr>
              <a:xfrm flipH="false" flipV="false" rot="0">
                <a:off x="0" y="0"/>
                <a:ext cx="189807" cy="2984840"/>
              </a:xfrm>
              <a:custGeom>
                <a:avLst/>
                <a:gdLst/>
                <a:ahLst/>
                <a:cxnLst/>
                <a:rect r="r" b="b" t="t" l="l"/>
                <a:pathLst>
                  <a:path h="2984840" w="189807">
                    <a:moveTo>
                      <a:pt x="189807" y="79531"/>
                    </a:moveTo>
                    <a:lnTo>
                      <a:pt x="189807" y="2815930"/>
                    </a:lnTo>
                    <a:lnTo>
                      <a:pt x="94904" y="2984840"/>
                    </a:lnTo>
                    <a:lnTo>
                      <a:pt x="0" y="2815930"/>
                    </a:lnTo>
                    <a:lnTo>
                      <a:pt x="0" y="79531"/>
                    </a:lnTo>
                    <a:cubicBezTo>
                      <a:pt x="0" y="22860"/>
                      <a:pt x="11388" y="0"/>
                      <a:pt x="24675" y="0"/>
                    </a:cubicBezTo>
                    <a:lnTo>
                      <a:pt x="165132" y="0"/>
                    </a:lnTo>
                    <a:cubicBezTo>
                      <a:pt x="178419" y="0"/>
                      <a:pt x="189807" y="22860"/>
                      <a:pt x="189807" y="79531"/>
                    </a:cubicBezTo>
                    <a:close/>
                  </a:path>
                </a:pathLst>
              </a:custGeom>
              <a:gradFill rotWithShape="true">
                <a:gsLst>
                  <a:gs pos="0">
                    <a:srgbClr val="001F65">
                      <a:alpha val="100000"/>
                    </a:srgbClr>
                  </a:gs>
                  <a:gs pos="100000">
                    <a:srgbClr val="6895FD">
                      <a:alpha val="100000"/>
                    </a:srgbClr>
                  </a:gs>
                </a:gsLst>
                <a:lin ang="5400000"/>
              </a:gradFill>
            </p:spPr>
          </p:sp>
          <p:sp>
            <p:nvSpPr>
              <p:cNvPr name="TextBox 24" id="24"/>
              <p:cNvSpPr txBox="true"/>
              <p:nvPr/>
            </p:nvSpPr>
            <p:spPr>
              <a:xfrm>
                <a:off x="0" y="-38100"/>
                <a:ext cx="189807" cy="284641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5" id="25"/>
            <p:cNvSpPr txBox="true"/>
            <p:nvPr/>
          </p:nvSpPr>
          <p:spPr>
            <a:xfrm rot="0">
              <a:off x="771401" y="163180"/>
              <a:ext cx="17142885" cy="1037577"/>
            </a:xfrm>
            <a:prstGeom prst="rect">
              <a:avLst/>
            </a:prstGeom>
          </p:spPr>
          <p:txBody>
            <a:bodyPr anchor="t" rtlCol="false" tIns="0" lIns="0" bIns="0" rIns="0">
              <a:spAutoFit/>
            </a:bodyPr>
            <a:lstStyle/>
            <a:p>
              <a:pPr algn="l" marL="0" indent="0" lvl="0">
                <a:lnSpc>
                  <a:spcPts val="5578"/>
                </a:lnSpc>
              </a:pPr>
              <a:r>
                <a:rPr lang="en-US" b="true" sz="5692" spc="-364">
                  <a:solidFill>
                    <a:srgbClr val="FFFFFF"/>
                  </a:solidFill>
                  <a:latin typeface="Noto Sans Bold"/>
                  <a:ea typeface="Noto Sans Bold"/>
                  <a:cs typeface="Noto Sans Bold"/>
                  <a:sym typeface="Noto Sans Bold"/>
                </a:rPr>
                <a:t>Hà</a:t>
              </a:r>
              <a:r>
                <a:rPr lang="en-US" b="true" sz="5692" spc="-364">
                  <a:solidFill>
                    <a:srgbClr val="FFFFFF"/>
                  </a:solidFill>
                  <a:latin typeface="Noto Sans Bold"/>
                  <a:ea typeface="Noto Sans Bold"/>
                  <a:cs typeface="Noto Sans Bold"/>
                  <a:sym typeface="Noto Sans Bold"/>
                </a:rPr>
                <a:t>nh vi Thanh toán &amp; Tỷ lệ Thành công</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aphicFrame>
        <p:nvGraphicFramePr>
          <p:cNvPr name="Table 3" id="3"/>
          <p:cNvGraphicFramePr>
            <a:graphicFrameLocks noGrp="true"/>
          </p:cNvGraphicFramePr>
          <p:nvPr/>
        </p:nvGraphicFramePr>
        <p:xfrm>
          <a:off x="912923" y="1579032"/>
          <a:ext cx="16462155" cy="8103475"/>
        </p:xfrm>
        <a:graphic>
          <a:graphicData uri="http://schemas.openxmlformats.org/drawingml/2006/table">
            <a:tbl>
              <a:tblPr/>
              <a:tblGrid>
                <a:gridCol w="6523684"/>
                <a:gridCol w="9938471"/>
              </a:tblGrid>
              <a:tr h="1342147">
                <a:tc>
                  <a:txBody>
                    <a:bodyPr anchor="t" rtlCol="false"/>
                    <a:lstStyle/>
                    <a:p>
                      <a:pPr algn="ctr" marL="0" indent="0" lvl="0">
                        <a:lnSpc>
                          <a:spcPts val="2800"/>
                        </a:lnSpc>
                        <a:spcBef>
                          <a:spcPct val="0"/>
                        </a:spcBef>
                        <a:defRPr/>
                      </a:pPr>
                      <a:endParaRPr lang="en-US" sz="1100"/>
                    </a:p>
                    <a:p>
                      <a:pPr algn="ctr" marL="0" indent="0" lvl="0">
                        <a:lnSpc>
                          <a:spcPts val="2800"/>
                        </a:lnSpc>
                        <a:spcBef>
                          <a:spcPct val="0"/>
                        </a:spcBef>
                      </a:pPr>
                      <a:r>
                        <a:rPr lang="en-US" b="true" sz="2000" strike="noStrike" u="none">
                          <a:solidFill>
                            <a:srgbClr val="000000"/>
                          </a:solidFill>
                          <a:latin typeface="Roboto Bold"/>
                          <a:ea typeface="Roboto Bold"/>
                          <a:cs typeface="Roboto Bold"/>
                          <a:sym typeface="Roboto Bold"/>
                        </a:rPr>
                        <a:t>  Vấn đề phát hiện</a:t>
                      </a:r>
                    </a:p>
                    <a:p>
                      <a:pPr algn="ctr" marL="0" indent="0" lvl="0">
                        <a:lnSpc>
                          <a:spcPts val="2800"/>
                        </a:lnSpc>
                        <a:spcBef>
                          <a:spcPct val="0"/>
                        </a:spcBef>
                      </a:pPr>
                      <a:r>
                        <a:rPr lang="en-US" b="true" sz="2000" strike="noStrike" u="none">
                          <a:solidFill>
                            <a:srgbClr val="000000"/>
                          </a:solidFill>
                          <a:latin typeface="Roboto Bold"/>
                          <a:ea typeface="Roboto Bold"/>
                          <a:cs typeface="Roboto Bold"/>
                          <a:sym typeface="Roboto Bold"/>
                        </a:rPr>
                        <a:t>  </a:t>
                      </a:r>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solidFill>
                      <a:srgbClr val="99ACFF"/>
                    </a:solidFill>
                  </a:tcPr>
                </a:tc>
                <a:tc>
                  <a:txBody>
                    <a:bodyPr anchor="t" rtlCol="false"/>
                    <a:lstStyle/>
                    <a:p>
                      <a:pPr algn="ctr">
                        <a:lnSpc>
                          <a:spcPts val="2800"/>
                        </a:lnSpc>
                        <a:defRPr/>
                      </a:pPr>
                      <a:endParaRPr lang="en-US" sz="1100"/>
                    </a:p>
                    <a:p>
                      <a:pPr algn="ctr">
                        <a:lnSpc>
                          <a:spcPts val="2800"/>
                        </a:lnSpc>
                      </a:pPr>
                      <a:r>
                        <a:rPr lang="en-US" sz="2000" b="true">
                          <a:solidFill>
                            <a:srgbClr val="000000"/>
                          </a:solidFill>
                          <a:latin typeface="Roboto Bold"/>
                          <a:ea typeface="Roboto Bold"/>
                          <a:cs typeface="Roboto Bold"/>
                          <a:sym typeface="Roboto Bold"/>
                        </a:rPr>
                        <a:t>  Kiến nghị</a:t>
                      </a:r>
                    </a:p>
                    <a:p>
                      <a:pPr algn="ctr">
                        <a:lnSpc>
                          <a:spcPts val="2800"/>
                        </a:lnSpc>
                      </a:pPr>
                      <a:r>
                        <a:rPr lang="en-US" sz="2000" b="true">
                          <a:solidFill>
                            <a:srgbClr val="FFFFFF"/>
                          </a:solidFill>
                          <a:latin typeface="Roboto Bold"/>
                          <a:ea typeface="Roboto Bold"/>
                          <a:cs typeface="Roboto Bold"/>
                          <a:sym typeface="Roboto Bold"/>
                        </a:rPr>
                        <a:t>  </a:t>
                      </a:r>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solidFill>
                      <a:srgbClr val="99ACFF"/>
                    </a:solidFill>
                  </a:tcPr>
                </a:tc>
              </a:tr>
              <a:tr h="1186258">
                <a:tc>
                  <a:txBody>
                    <a:bodyPr anchor="t" rtlCol="false"/>
                    <a:lstStyle/>
                    <a:p>
                      <a:pPr algn="ctr">
                        <a:lnSpc>
                          <a:spcPts val="2800"/>
                        </a:lnSpc>
                        <a:defRPr/>
                      </a:pPr>
                      <a:r>
                        <a:rPr lang="en-US" sz="2000">
                          <a:solidFill>
                            <a:srgbClr val="000000"/>
                          </a:solidFill>
                          <a:latin typeface="Roboto"/>
                          <a:ea typeface="Roboto"/>
                          <a:cs typeface="Roboto"/>
                          <a:sym typeface="Roboto"/>
                        </a:rPr>
                        <a:t>Mobile chiếm 89.3% giao dịch</a:t>
                      </a:r>
                      <a:endParaRPr lang="en-US" sz="1100"/>
                    </a:p>
                    <a:p>
                      <a:pPr algn="ctr">
                        <a:lnSpc>
                          <a:spcPts val="2800"/>
                        </a:lnSpc>
                      </a:pPr>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Roboto"/>
                          <a:ea typeface="Roboto"/>
                          <a:cs typeface="Roboto"/>
                          <a:sym typeface="Roboto"/>
                        </a:rPr>
                        <a:t>Ưu tiên tối ưu UX/UI, tốc độ tải và thao tác đặt vé trên app</a:t>
                      </a:r>
                      <a:endParaRPr lang="en-US" sz="1100"/>
                    </a:p>
                    <a:p>
                      <a:pPr algn="ctr">
                        <a:lnSpc>
                          <a:spcPts val="2800"/>
                        </a:lnSpc>
                      </a:pPr>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tcPr>
                </a:tc>
              </a:tr>
              <a:tr h="960151">
                <a:tc>
                  <a:txBody>
                    <a:bodyPr anchor="t" rtlCol="false"/>
                    <a:lstStyle/>
                    <a:p>
                      <a:pPr algn="ctr">
                        <a:lnSpc>
                          <a:spcPts val="2800"/>
                        </a:lnSpc>
                        <a:defRPr/>
                      </a:pPr>
                      <a:r>
                        <a:rPr lang="en-US" sz="2000">
                          <a:solidFill>
                            <a:srgbClr val="000000"/>
                          </a:solidFill>
                          <a:latin typeface="Roboto"/>
                          <a:ea typeface="Roboto"/>
                          <a:cs typeface="Roboto"/>
                          <a:sym typeface="Roboto"/>
                        </a:rPr>
                        <a:t>Money in app + bank account chiếm khoảng 80%</a:t>
                      </a:r>
                      <a:endParaRPr lang="en-US" sz="1100"/>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Roboto"/>
                          <a:ea typeface="Roboto"/>
                          <a:cs typeface="Roboto"/>
                          <a:sym typeface="Roboto"/>
                        </a:rPr>
                        <a:t>Tối ưu riêng hai luồng thanh toán này trước credit/debit card</a:t>
                      </a:r>
                      <a:endParaRPr lang="en-US" sz="1100"/>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tcPr>
                </a:tc>
              </a:tr>
              <a:tr h="960151">
                <a:tc>
                  <a:txBody>
                    <a:bodyPr anchor="t" rtlCol="false"/>
                    <a:lstStyle/>
                    <a:p>
                      <a:pPr algn="ctr">
                        <a:lnSpc>
                          <a:spcPts val="2800"/>
                        </a:lnSpc>
                        <a:defRPr/>
                      </a:pPr>
                      <a:r>
                        <a:rPr lang="en-US" sz="2000">
                          <a:solidFill>
                            <a:srgbClr val="000000"/>
                          </a:solidFill>
                          <a:latin typeface="Roboto"/>
                          <a:ea typeface="Roboto"/>
                          <a:cs typeface="Roboto"/>
                          <a:sym typeface="Roboto"/>
                        </a:rPr>
                        <a:t>Payment success rate biến động theo tháng</a:t>
                      </a:r>
                      <a:endParaRPr lang="en-US" sz="1100"/>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Roboto"/>
                          <a:ea typeface="Roboto"/>
                          <a:cs typeface="Roboto"/>
                          <a:sym typeface="Roboto"/>
                        </a:rPr>
                        <a:t>Xây dashboard theo dõi success rate theo tháng, campaign, phim hot và payment method</a:t>
                      </a:r>
                      <a:endParaRPr lang="en-US" sz="1100"/>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tcPr>
                </a:tc>
              </a:tr>
              <a:tr h="960151">
                <a:tc>
                  <a:txBody>
                    <a:bodyPr anchor="t" rtlCol="false"/>
                    <a:lstStyle/>
                    <a:p>
                      <a:pPr algn="ctr">
                        <a:lnSpc>
                          <a:spcPts val="2800"/>
                        </a:lnSpc>
                        <a:defRPr/>
                      </a:pPr>
                      <a:r>
                        <a:rPr lang="en-US" sz="2000">
                          <a:solidFill>
                            <a:srgbClr val="000000"/>
                          </a:solidFill>
                          <a:latin typeface="Roboto"/>
                          <a:ea typeface="Roboto"/>
                          <a:cs typeface="Roboto"/>
                          <a:sym typeface="Roboto"/>
                        </a:rPr>
                        <a:t>External/bank error cao</a:t>
                      </a:r>
                      <a:endParaRPr lang="en-US" sz="1100"/>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Roboto"/>
                          <a:ea typeface="Roboto"/>
                          <a:cs typeface="Roboto"/>
                          <a:sym typeface="Roboto"/>
                        </a:rPr>
                        <a:t>Làm việc với ngân hàng/payment gateway để kiểm soát timeout, response code và tỷ lệ lỗi</a:t>
                      </a:r>
                      <a:endParaRPr lang="en-US" sz="1100"/>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tcPr>
                </a:tc>
              </a:tr>
              <a:tr h="578156">
                <a:tc>
                  <a:txBody>
                    <a:bodyPr anchor="t" rtlCol="false"/>
                    <a:lstStyle/>
                    <a:p>
                      <a:pPr algn="ctr">
                        <a:lnSpc>
                          <a:spcPts val="2800"/>
                        </a:lnSpc>
                        <a:defRPr/>
                      </a:pPr>
                      <a:r>
                        <a:rPr lang="en-US" sz="2000">
                          <a:solidFill>
                            <a:srgbClr val="000000"/>
                          </a:solidFill>
                          <a:latin typeface="Roboto"/>
                          <a:ea typeface="Roboto"/>
                          <a:cs typeface="Roboto"/>
                          <a:sym typeface="Roboto"/>
                        </a:rPr>
                        <a:t>Payment failed from bank nổi bật</a:t>
                      </a:r>
                      <a:endParaRPr lang="en-US" sz="1100"/>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Roboto"/>
                          <a:ea typeface="Roboto"/>
                          <a:cs typeface="Roboto"/>
                          <a:sym typeface="Roboto"/>
                        </a:rPr>
                        <a:t>Thiết kế retry flow: thanh toán lại, đổi phương thức, giữ vé tạm thời</a:t>
                      </a:r>
                      <a:endParaRPr lang="en-US" sz="1100"/>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tcPr>
                </a:tc>
              </a:tr>
              <a:tr h="578156">
                <a:tc>
                  <a:txBody>
                    <a:bodyPr anchor="t" rtlCol="false"/>
                    <a:lstStyle/>
                    <a:p>
                      <a:pPr algn="ctr">
                        <a:lnSpc>
                          <a:spcPts val="2800"/>
                        </a:lnSpc>
                        <a:defRPr/>
                      </a:pPr>
                      <a:r>
                        <a:rPr lang="en-US" sz="2000">
                          <a:solidFill>
                            <a:srgbClr val="000000"/>
                          </a:solidFill>
                          <a:latin typeface="Roboto"/>
                          <a:ea typeface="Roboto"/>
                          <a:cs typeface="Roboto"/>
                          <a:sym typeface="Roboto"/>
                        </a:rPr>
                        <a:t>No response from your bank xuất hiện nhiều</a:t>
                      </a:r>
                      <a:endParaRPr lang="en-US" sz="1100"/>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Roboto"/>
                          <a:ea typeface="Roboto"/>
                          <a:cs typeface="Roboto"/>
                          <a:sym typeface="Roboto"/>
                        </a:rPr>
                        <a:t>Hiển thị thông báo rõ ràng và gợi ý khách đổi sang phương thức khác</a:t>
                      </a:r>
                      <a:endParaRPr lang="en-US" sz="1100"/>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tcPr>
                </a:tc>
              </a:tr>
              <a:tr h="578156">
                <a:tc>
                  <a:txBody>
                    <a:bodyPr anchor="t" rtlCol="false"/>
                    <a:lstStyle/>
                    <a:p>
                      <a:pPr algn="ctr">
                        <a:lnSpc>
                          <a:spcPts val="2800"/>
                        </a:lnSpc>
                        <a:defRPr/>
                      </a:pPr>
                      <a:r>
                        <a:rPr lang="en-US" sz="2000">
                          <a:solidFill>
                            <a:srgbClr val="000000"/>
                          </a:solidFill>
                          <a:latin typeface="Roboto"/>
                          <a:ea typeface="Roboto"/>
                          <a:cs typeface="Roboto"/>
                          <a:sym typeface="Roboto"/>
                        </a:rPr>
                        <a:t>Customer error vẫn tồn tại</a:t>
                      </a:r>
                      <a:endParaRPr lang="en-US" sz="1100"/>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Roboto"/>
                          <a:ea typeface="Roboto"/>
                          <a:cs typeface="Roboto"/>
                          <a:sym typeface="Roboto"/>
                        </a:rPr>
                        <a:t>Cảnh báo thiếu số dư, hướng dẫn xác thực tài khoản, thông báo lỗi dễ hiểu</a:t>
                      </a:r>
                      <a:endParaRPr lang="en-US" sz="1100"/>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tcPr>
                </a:tc>
              </a:tr>
              <a:tr h="960151">
                <a:tc>
                  <a:txBody>
                    <a:bodyPr anchor="t" rtlCol="false"/>
                    <a:lstStyle/>
                    <a:p>
                      <a:pPr algn="ctr">
                        <a:lnSpc>
                          <a:spcPts val="2800"/>
                        </a:lnSpc>
                        <a:defRPr/>
                      </a:pPr>
                      <a:r>
                        <a:rPr lang="en-US" sz="2000">
                          <a:solidFill>
                            <a:srgbClr val="000000"/>
                          </a:solidFill>
                          <a:latin typeface="Roboto"/>
                          <a:ea typeface="Roboto"/>
                          <a:cs typeface="Roboto"/>
                          <a:sym typeface="Roboto"/>
                        </a:rPr>
                        <a:t>Giao dịch tăng mạnh trong năm 2022</a:t>
                      </a:r>
                      <a:endParaRPr lang="en-US" sz="1100"/>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tcPr>
                </a:tc>
                <a:tc>
                  <a:txBody>
                    <a:bodyPr anchor="t" rtlCol="false"/>
                    <a:lstStyle/>
                    <a:p>
                      <a:pPr algn="ctr">
                        <a:lnSpc>
                          <a:spcPts val="2800"/>
                        </a:lnSpc>
                        <a:defRPr/>
                      </a:pPr>
                      <a:r>
                        <a:rPr lang="en-US" sz="2000">
                          <a:solidFill>
                            <a:srgbClr val="000000"/>
                          </a:solidFill>
                          <a:latin typeface="Roboto"/>
                          <a:ea typeface="Roboto"/>
                          <a:cs typeface="Roboto"/>
                          <a:sym typeface="Roboto"/>
                        </a:rPr>
                        <a:t>Chuẩn bị năng lực hệ thống/payment monitoring trước mùa phim bom tấn hoặc campaign lớn</a:t>
                      </a:r>
                      <a:endParaRPr lang="en-US" sz="1100"/>
                    </a:p>
                  </a:txBody>
                  <a:tcPr marL="0" marR="0" marT="0" marB="0" anchor="ctr">
                    <a:lnL cmpd="sng" algn="ctr" cap="flat" w="38100">
                      <a:solidFill>
                        <a:srgbClr val="AFBEFF"/>
                      </a:solidFill>
                      <a:prstDash val="solid"/>
                      <a:round/>
                      <a:headEnd type="none" w="med" len="med"/>
                      <a:tailEnd type="none" w="med" len="med"/>
                    </a:lnL>
                    <a:lnR cmpd="sng" algn="ctr" cap="flat" w="38100">
                      <a:solidFill>
                        <a:srgbClr val="AFBEFF"/>
                      </a:solidFill>
                      <a:prstDash val="solid"/>
                      <a:round/>
                      <a:headEnd type="none" w="med" len="med"/>
                      <a:tailEnd type="none" w="med" len="med"/>
                    </a:lnR>
                    <a:lnT cmpd="sng" algn="ctr" cap="flat" w="38100">
                      <a:solidFill>
                        <a:srgbClr val="AFBEFF"/>
                      </a:solidFill>
                      <a:prstDash val="solid"/>
                      <a:round/>
                      <a:headEnd type="none" w="med" len="med"/>
                      <a:tailEnd type="none" w="med" len="med"/>
                    </a:lnT>
                    <a:lnB cmpd="sng" algn="ctr" cap="flat" w="38100">
                      <a:solidFill>
                        <a:srgbClr val="AFBEFF"/>
                      </a:solidFill>
                      <a:prstDash val="solid"/>
                      <a:round/>
                      <a:headEnd type="none" w="med" len="med"/>
                      <a:tailEnd type="none" w="med" len="med"/>
                    </a:lnB>
                  </a:tcPr>
                </a:tc>
              </a:tr>
            </a:tbl>
          </a:graphicData>
        </a:graphic>
      </p:graphicFrame>
      <p:grpSp>
        <p:nvGrpSpPr>
          <p:cNvPr name="Group 4" id="4"/>
          <p:cNvGrpSpPr/>
          <p:nvPr/>
        </p:nvGrpSpPr>
        <p:grpSpPr>
          <a:xfrm rot="0">
            <a:off x="-9525" y="254672"/>
            <a:ext cx="10677992" cy="941289"/>
            <a:chOff x="0" y="0"/>
            <a:chExt cx="14237323" cy="1255052"/>
          </a:xfrm>
        </p:grpSpPr>
        <p:grpSp>
          <p:nvGrpSpPr>
            <p:cNvPr name="Group 5" id="5"/>
            <p:cNvGrpSpPr/>
            <p:nvPr/>
          </p:nvGrpSpPr>
          <p:grpSpPr>
            <a:xfrm rot="-5400000">
              <a:off x="6491135" y="-6491135"/>
              <a:ext cx="1255052" cy="14237323"/>
              <a:chOff x="0" y="0"/>
              <a:chExt cx="189807" cy="2153175"/>
            </a:xfrm>
          </p:grpSpPr>
          <p:sp>
            <p:nvSpPr>
              <p:cNvPr name="Freeform 6" id="6"/>
              <p:cNvSpPr/>
              <p:nvPr/>
            </p:nvSpPr>
            <p:spPr>
              <a:xfrm flipH="false" flipV="false" rot="0">
                <a:off x="0" y="0"/>
                <a:ext cx="189807" cy="2153175"/>
              </a:xfrm>
              <a:custGeom>
                <a:avLst/>
                <a:gdLst/>
                <a:ahLst/>
                <a:cxnLst/>
                <a:rect r="r" b="b" t="t" l="l"/>
                <a:pathLst>
                  <a:path h="2153175" w="189807">
                    <a:moveTo>
                      <a:pt x="189807" y="68970"/>
                    </a:moveTo>
                    <a:lnTo>
                      <a:pt x="189807" y="1984265"/>
                    </a:lnTo>
                    <a:lnTo>
                      <a:pt x="94904" y="2153175"/>
                    </a:lnTo>
                    <a:lnTo>
                      <a:pt x="0" y="1984265"/>
                    </a:lnTo>
                    <a:lnTo>
                      <a:pt x="0" y="68970"/>
                    </a:lnTo>
                    <a:cubicBezTo>
                      <a:pt x="0" y="22860"/>
                      <a:pt x="11388" y="0"/>
                      <a:pt x="24675" y="0"/>
                    </a:cubicBezTo>
                    <a:lnTo>
                      <a:pt x="165132" y="0"/>
                    </a:lnTo>
                    <a:cubicBezTo>
                      <a:pt x="178419" y="0"/>
                      <a:pt x="189807" y="22860"/>
                      <a:pt x="189807" y="68970"/>
                    </a:cubicBezTo>
                    <a:close/>
                  </a:path>
                </a:pathLst>
              </a:custGeom>
              <a:gradFill rotWithShape="true">
                <a:gsLst>
                  <a:gs pos="0">
                    <a:srgbClr val="001F65">
                      <a:alpha val="100000"/>
                    </a:srgbClr>
                  </a:gs>
                  <a:gs pos="100000">
                    <a:srgbClr val="6895FD">
                      <a:alpha val="100000"/>
                    </a:srgbClr>
                  </a:gs>
                </a:gsLst>
                <a:lin ang="5400000"/>
              </a:gradFill>
            </p:spPr>
          </p:sp>
          <p:sp>
            <p:nvSpPr>
              <p:cNvPr name="TextBox 7" id="7"/>
              <p:cNvSpPr txBox="true"/>
              <p:nvPr/>
            </p:nvSpPr>
            <p:spPr>
              <a:xfrm>
                <a:off x="0" y="-38100"/>
                <a:ext cx="189807" cy="201474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8" id="8"/>
            <p:cNvSpPr txBox="true"/>
            <p:nvPr/>
          </p:nvSpPr>
          <p:spPr>
            <a:xfrm rot="0">
              <a:off x="556466" y="163180"/>
              <a:ext cx="12366369" cy="1037577"/>
            </a:xfrm>
            <a:prstGeom prst="rect">
              <a:avLst/>
            </a:prstGeom>
          </p:spPr>
          <p:txBody>
            <a:bodyPr anchor="t" rtlCol="false" tIns="0" lIns="0" bIns="0" rIns="0">
              <a:spAutoFit/>
            </a:bodyPr>
            <a:lstStyle/>
            <a:p>
              <a:pPr algn="l" marL="0" indent="0" lvl="0">
                <a:lnSpc>
                  <a:spcPts val="5578"/>
                </a:lnSpc>
              </a:pPr>
              <a:r>
                <a:rPr lang="en-US" b="true" sz="5692" spc="-364">
                  <a:solidFill>
                    <a:srgbClr val="FFFFFF"/>
                  </a:solidFill>
                  <a:latin typeface="Noto Sans Bold"/>
                  <a:ea typeface="Noto Sans Bold"/>
                  <a:cs typeface="Noto Sans Bold"/>
                  <a:sym typeface="Noto Sans Bold"/>
                </a:rPr>
                <a:t>Kiế</a:t>
              </a:r>
              <a:r>
                <a:rPr lang="en-US" b="true" sz="5692" spc="-364">
                  <a:solidFill>
                    <a:srgbClr val="FFFFFF"/>
                  </a:solidFill>
                  <a:latin typeface="Noto Sans Bold"/>
                  <a:ea typeface="Noto Sans Bold"/>
                  <a:cs typeface="Noto Sans Bold"/>
                  <a:sym typeface="Noto Sans Bold"/>
                </a:rPr>
                <a:t>n nghị cải tiến thanh toán</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5400000">
            <a:off x="3759666" y="5692132"/>
            <a:ext cx="844705" cy="478943"/>
          </a:xfrm>
          <a:custGeom>
            <a:avLst/>
            <a:gdLst/>
            <a:ahLst/>
            <a:cxnLst/>
            <a:rect r="r" b="b" t="t" l="l"/>
            <a:pathLst>
              <a:path h="478943" w="844705">
                <a:moveTo>
                  <a:pt x="0" y="0"/>
                </a:moveTo>
                <a:lnTo>
                  <a:pt x="844705" y="0"/>
                </a:lnTo>
                <a:lnTo>
                  <a:pt x="844705" y="478943"/>
                </a:lnTo>
                <a:lnTo>
                  <a:pt x="0" y="4789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5400000">
            <a:off x="8334359" y="5692132"/>
            <a:ext cx="844705" cy="478943"/>
          </a:xfrm>
          <a:custGeom>
            <a:avLst/>
            <a:gdLst/>
            <a:ahLst/>
            <a:cxnLst/>
            <a:rect r="r" b="b" t="t" l="l"/>
            <a:pathLst>
              <a:path h="478943" w="844705">
                <a:moveTo>
                  <a:pt x="0" y="0"/>
                </a:moveTo>
                <a:lnTo>
                  <a:pt x="844705" y="0"/>
                </a:lnTo>
                <a:lnTo>
                  <a:pt x="844705" y="478943"/>
                </a:lnTo>
                <a:lnTo>
                  <a:pt x="0" y="4789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5400000">
            <a:off x="12907748" y="5692132"/>
            <a:ext cx="844705" cy="478943"/>
          </a:xfrm>
          <a:custGeom>
            <a:avLst/>
            <a:gdLst/>
            <a:ahLst/>
            <a:cxnLst/>
            <a:rect r="r" b="b" t="t" l="l"/>
            <a:pathLst>
              <a:path h="478943" w="844705">
                <a:moveTo>
                  <a:pt x="0" y="0"/>
                </a:moveTo>
                <a:lnTo>
                  <a:pt x="844705" y="0"/>
                </a:lnTo>
                <a:lnTo>
                  <a:pt x="844705" y="478943"/>
                </a:lnTo>
                <a:lnTo>
                  <a:pt x="0" y="4789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2610659" y="6443250"/>
            <a:ext cx="3409950" cy="1970967"/>
            <a:chOff x="0" y="0"/>
            <a:chExt cx="898094" cy="519103"/>
          </a:xfrm>
        </p:grpSpPr>
        <p:sp>
          <p:nvSpPr>
            <p:cNvPr name="Freeform 7" id="7"/>
            <p:cNvSpPr/>
            <p:nvPr/>
          </p:nvSpPr>
          <p:spPr>
            <a:xfrm flipH="false" flipV="false" rot="0">
              <a:off x="0" y="0"/>
              <a:ext cx="898094" cy="519103"/>
            </a:xfrm>
            <a:custGeom>
              <a:avLst/>
              <a:gdLst/>
              <a:ahLst/>
              <a:cxnLst/>
              <a:rect r="r" b="b" t="t" l="l"/>
              <a:pathLst>
                <a:path h="519103" w="898094">
                  <a:moveTo>
                    <a:pt x="694894" y="0"/>
                  </a:moveTo>
                  <a:cubicBezTo>
                    <a:pt x="807118" y="0"/>
                    <a:pt x="898094" y="116205"/>
                    <a:pt x="898094" y="259551"/>
                  </a:cubicBezTo>
                  <a:cubicBezTo>
                    <a:pt x="898094" y="402897"/>
                    <a:pt x="807118" y="519103"/>
                    <a:pt x="694894" y="519103"/>
                  </a:cubicBezTo>
                  <a:lnTo>
                    <a:pt x="203200" y="519103"/>
                  </a:lnTo>
                  <a:cubicBezTo>
                    <a:pt x="90976" y="519103"/>
                    <a:pt x="0" y="402897"/>
                    <a:pt x="0" y="259551"/>
                  </a:cubicBezTo>
                  <a:cubicBezTo>
                    <a:pt x="0" y="116205"/>
                    <a:pt x="90976" y="0"/>
                    <a:pt x="203200" y="0"/>
                  </a:cubicBezTo>
                  <a:close/>
                </a:path>
              </a:pathLst>
            </a:custGeom>
            <a:solidFill>
              <a:srgbClr val="6984FE"/>
            </a:solidFill>
          </p:spPr>
        </p:sp>
        <p:sp>
          <p:nvSpPr>
            <p:cNvPr name="TextBox 8" id="8"/>
            <p:cNvSpPr txBox="true"/>
            <p:nvPr/>
          </p:nvSpPr>
          <p:spPr>
            <a:xfrm>
              <a:off x="0" y="9525"/>
              <a:ext cx="898094" cy="509578"/>
            </a:xfrm>
            <a:prstGeom prst="rect">
              <a:avLst/>
            </a:prstGeom>
          </p:spPr>
          <p:txBody>
            <a:bodyPr anchor="ctr" rtlCol="false" tIns="50800" lIns="50800" bIns="50800" rIns="50800"/>
            <a:lstStyle/>
            <a:p>
              <a:pPr algn="ctr">
                <a:lnSpc>
                  <a:spcPts val="2855"/>
                </a:lnSpc>
              </a:pPr>
              <a:r>
                <a:rPr lang="en-US" b="true" sz="2549">
                  <a:solidFill>
                    <a:srgbClr val="FEFEFE"/>
                  </a:solidFill>
                  <a:latin typeface="Roboto Bold"/>
                  <a:ea typeface="Roboto Bold"/>
                  <a:cs typeface="Roboto Bold"/>
                  <a:sym typeface="Roboto Bold"/>
                </a:rPr>
                <a:t>Giảm thất bại thanh toán,tăng khách mua lại</a:t>
              </a:r>
            </a:p>
          </p:txBody>
        </p:sp>
      </p:grpSp>
      <p:grpSp>
        <p:nvGrpSpPr>
          <p:cNvPr name="Group 9" id="9"/>
          <p:cNvGrpSpPr/>
          <p:nvPr/>
        </p:nvGrpSpPr>
        <p:grpSpPr>
          <a:xfrm rot="0">
            <a:off x="7115984" y="6443250"/>
            <a:ext cx="3409845" cy="1970967"/>
            <a:chOff x="0" y="0"/>
            <a:chExt cx="898066" cy="519103"/>
          </a:xfrm>
        </p:grpSpPr>
        <p:sp>
          <p:nvSpPr>
            <p:cNvPr name="Freeform 10" id="10"/>
            <p:cNvSpPr/>
            <p:nvPr/>
          </p:nvSpPr>
          <p:spPr>
            <a:xfrm flipH="false" flipV="false" rot="0">
              <a:off x="0" y="0"/>
              <a:ext cx="898066" cy="519103"/>
            </a:xfrm>
            <a:custGeom>
              <a:avLst/>
              <a:gdLst/>
              <a:ahLst/>
              <a:cxnLst/>
              <a:rect r="r" b="b" t="t" l="l"/>
              <a:pathLst>
                <a:path h="519103" w="898066">
                  <a:moveTo>
                    <a:pt x="694866" y="0"/>
                  </a:moveTo>
                  <a:cubicBezTo>
                    <a:pt x="807090" y="0"/>
                    <a:pt x="898066" y="116205"/>
                    <a:pt x="898066" y="259551"/>
                  </a:cubicBezTo>
                  <a:cubicBezTo>
                    <a:pt x="898066" y="402897"/>
                    <a:pt x="807090" y="519103"/>
                    <a:pt x="694866" y="519103"/>
                  </a:cubicBezTo>
                  <a:lnTo>
                    <a:pt x="203200" y="519103"/>
                  </a:lnTo>
                  <a:cubicBezTo>
                    <a:pt x="90976" y="519103"/>
                    <a:pt x="0" y="402897"/>
                    <a:pt x="0" y="259551"/>
                  </a:cubicBezTo>
                  <a:cubicBezTo>
                    <a:pt x="0" y="116205"/>
                    <a:pt x="90976" y="0"/>
                    <a:pt x="203200" y="0"/>
                  </a:cubicBezTo>
                  <a:close/>
                </a:path>
              </a:pathLst>
            </a:custGeom>
            <a:solidFill>
              <a:srgbClr val="6984FE"/>
            </a:solidFill>
            <a:ln cap="sq">
              <a:noFill/>
              <a:prstDash val="solid"/>
              <a:miter/>
            </a:ln>
          </p:spPr>
        </p:sp>
        <p:sp>
          <p:nvSpPr>
            <p:cNvPr name="TextBox 11" id="11"/>
            <p:cNvSpPr txBox="true"/>
            <p:nvPr/>
          </p:nvSpPr>
          <p:spPr>
            <a:xfrm>
              <a:off x="0" y="9525"/>
              <a:ext cx="898066" cy="509578"/>
            </a:xfrm>
            <a:prstGeom prst="rect">
              <a:avLst/>
            </a:prstGeom>
          </p:spPr>
          <p:txBody>
            <a:bodyPr anchor="ctr" rtlCol="false" tIns="50800" lIns="50800" bIns="50800" rIns="50800"/>
            <a:lstStyle/>
            <a:p>
              <a:pPr algn="ctr" marL="0" indent="0" lvl="0">
                <a:lnSpc>
                  <a:spcPts val="2855"/>
                </a:lnSpc>
                <a:spcBef>
                  <a:spcPct val="0"/>
                </a:spcBef>
              </a:pPr>
              <a:r>
                <a:rPr lang="en-US" b="true" sz="2549" strike="noStrike" u="none">
                  <a:solidFill>
                    <a:srgbClr val="FEFEFE"/>
                  </a:solidFill>
                  <a:latin typeface="Roboto Bold"/>
                  <a:ea typeface="Roboto Bold"/>
                  <a:cs typeface="Roboto Bold"/>
                  <a:sym typeface="Roboto Bold"/>
                </a:rPr>
                <a:t>Giảm phụ thuộc giảm giá, tối ưu hiệu quả </a:t>
              </a:r>
            </a:p>
            <a:p>
              <a:pPr algn="ctr" marL="0" indent="0" lvl="0">
                <a:lnSpc>
                  <a:spcPts val="2855"/>
                </a:lnSpc>
                <a:spcBef>
                  <a:spcPct val="0"/>
                </a:spcBef>
              </a:pPr>
              <a:r>
                <a:rPr lang="en-US" b="true" sz="2549" strike="noStrike" u="none">
                  <a:solidFill>
                    <a:srgbClr val="FEFEFE"/>
                  </a:solidFill>
                  <a:latin typeface="Roboto Bold"/>
                  <a:ea typeface="Roboto Bold"/>
                  <a:cs typeface="Roboto Bold"/>
                  <a:sym typeface="Roboto Bold"/>
                </a:rPr>
                <a:t>chiến dịch</a:t>
              </a:r>
            </a:p>
          </p:txBody>
        </p:sp>
      </p:grpSp>
      <p:grpSp>
        <p:nvGrpSpPr>
          <p:cNvPr name="Group 12" id="12"/>
          <p:cNvGrpSpPr/>
          <p:nvPr/>
        </p:nvGrpSpPr>
        <p:grpSpPr>
          <a:xfrm rot="0">
            <a:off x="11621203" y="6443250"/>
            <a:ext cx="3409950" cy="1970967"/>
            <a:chOff x="0" y="0"/>
            <a:chExt cx="898094" cy="519103"/>
          </a:xfrm>
        </p:grpSpPr>
        <p:sp>
          <p:nvSpPr>
            <p:cNvPr name="Freeform 13" id="13"/>
            <p:cNvSpPr/>
            <p:nvPr/>
          </p:nvSpPr>
          <p:spPr>
            <a:xfrm flipH="false" flipV="false" rot="0">
              <a:off x="0" y="0"/>
              <a:ext cx="898094" cy="519103"/>
            </a:xfrm>
            <a:custGeom>
              <a:avLst/>
              <a:gdLst/>
              <a:ahLst/>
              <a:cxnLst/>
              <a:rect r="r" b="b" t="t" l="l"/>
              <a:pathLst>
                <a:path h="519103" w="898094">
                  <a:moveTo>
                    <a:pt x="694894" y="0"/>
                  </a:moveTo>
                  <a:cubicBezTo>
                    <a:pt x="807118" y="0"/>
                    <a:pt x="898094" y="116205"/>
                    <a:pt x="898094" y="259551"/>
                  </a:cubicBezTo>
                  <a:cubicBezTo>
                    <a:pt x="898094" y="402897"/>
                    <a:pt x="807118" y="519103"/>
                    <a:pt x="694894" y="519103"/>
                  </a:cubicBezTo>
                  <a:lnTo>
                    <a:pt x="203200" y="519103"/>
                  </a:lnTo>
                  <a:cubicBezTo>
                    <a:pt x="90976" y="519103"/>
                    <a:pt x="0" y="402897"/>
                    <a:pt x="0" y="259551"/>
                  </a:cubicBezTo>
                  <a:cubicBezTo>
                    <a:pt x="0" y="116205"/>
                    <a:pt x="90976" y="0"/>
                    <a:pt x="203200" y="0"/>
                  </a:cubicBezTo>
                  <a:close/>
                </a:path>
              </a:pathLst>
            </a:custGeom>
            <a:solidFill>
              <a:srgbClr val="6984FE"/>
            </a:solidFill>
            <a:ln cap="sq">
              <a:noFill/>
              <a:prstDash val="solid"/>
              <a:miter/>
            </a:ln>
          </p:spPr>
        </p:sp>
        <p:sp>
          <p:nvSpPr>
            <p:cNvPr name="TextBox 14" id="14"/>
            <p:cNvSpPr txBox="true"/>
            <p:nvPr/>
          </p:nvSpPr>
          <p:spPr>
            <a:xfrm>
              <a:off x="0" y="9525"/>
              <a:ext cx="898094" cy="509578"/>
            </a:xfrm>
            <a:prstGeom prst="rect">
              <a:avLst/>
            </a:prstGeom>
          </p:spPr>
          <p:txBody>
            <a:bodyPr anchor="ctr" rtlCol="false" tIns="50800" lIns="50800" bIns="50800" rIns="50800"/>
            <a:lstStyle/>
            <a:p>
              <a:pPr algn="ctr" marL="0" indent="0" lvl="0">
                <a:lnSpc>
                  <a:spcPts val="2855"/>
                </a:lnSpc>
                <a:spcBef>
                  <a:spcPct val="0"/>
                </a:spcBef>
              </a:pPr>
              <a:r>
                <a:rPr lang="en-US" b="true" sz="2549" strike="noStrike" u="none">
                  <a:solidFill>
                    <a:srgbClr val="FEFEFE"/>
                  </a:solidFill>
                  <a:latin typeface="Roboto Bold"/>
                  <a:ea typeface="Roboto Bold"/>
                  <a:cs typeface="Roboto Bold"/>
                  <a:sym typeface="Roboto Bold"/>
                </a:rPr>
                <a:t>Cá nhân hóa ưu đãi</a:t>
              </a:r>
            </a:p>
          </p:txBody>
        </p:sp>
      </p:grpSp>
      <p:grpSp>
        <p:nvGrpSpPr>
          <p:cNvPr name="Group 15" id="15"/>
          <p:cNvGrpSpPr/>
          <p:nvPr/>
        </p:nvGrpSpPr>
        <p:grpSpPr>
          <a:xfrm rot="0">
            <a:off x="2472134" y="2946869"/>
            <a:ext cx="4018209" cy="2468550"/>
            <a:chOff x="0" y="0"/>
            <a:chExt cx="5357612" cy="3291401"/>
          </a:xfrm>
        </p:grpSpPr>
        <p:grpSp>
          <p:nvGrpSpPr>
            <p:cNvPr name="Group 16" id="16"/>
            <p:cNvGrpSpPr/>
            <p:nvPr/>
          </p:nvGrpSpPr>
          <p:grpSpPr>
            <a:xfrm rot="-5400000">
              <a:off x="1037118" y="-1022434"/>
              <a:ext cx="3262397" cy="5336633"/>
              <a:chOff x="0" y="0"/>
              <a:chExt cx="493387" cy="807083"/>
            </a:xfrm>
          </p:grpSpPr>
          <p:sp>
            <p:nvSpPr>
              <p:cNvPr name="Freeform 17" id="17"/>
              <p:cNvSpPr/>
              <p:nvPr/>
            </p:nvSpPr>
            <p:spPr>
              <a:xfrm flipH="false" flipV="false" rot="0">
                <a:off x="0" y="0"/>
                <a:ext cx="493387" cy="807083"/>
              </a:xfrm>
              <a:custGeom>
                <a:avLst/>
                <a:gdLst/>
                <a:ahLst/>
                <a:cxnLst/>
                <a:rect r="r" b="b" t="t" l="l"/>
                <a:pathLst>
                  <a:path h="807083" w="493387">
                    <a:moveTo>
                      <a:pt x="493387" y="51876"/>
                    </a:moveTo>
                    <a:lnTo>
                      <a:pt x="493387" y="638173"/>
                    </a:lnTo>
                    <a:lnTo>
                      <a:pt x="246694" y="807083"/>
                    </a:lnTo>
                    <a:lnTo>
                      <a:pt x="0" y="638173"/>
                    </a:lnTo>
                    <a:lnTo>
                      <a:pt x="0" y="51876"/>
                    </a:lnTo>
                    <a:cubicBezTo>
                      <a:pt x="0" y="22860"/>
                      <a:pt x="29603" y="0"/>
                      <a:pt x="64140" y="0"/>
                    </a:cubicBezTo>
                    <a:lnTo>
                      <a:pt x="429247" y="0"/>
                    </a:lnTo>
                    <a:cubicBezTo>
                      <a:pt x="463784" y="0"/>
                      <a:pt x="493387" y="22860"/>
                      <a:pt x="493387" y="51876"/>
                    </a:cubicBezTo>
                    <a:close/>
                  </a:path>
                </a:pathLst>
              </a:custGeom>
              <a:solidFill>
                <a:srgbClr val="AFBEFF"/>
              </a:solidFill>
              <a:ln cap="sq">
                <a:noFill/>
                <a:prstDash val="sysDot"/>
                <a:miter/>
              </a:ln>
            </p:spPr>
          </p:sp>
          <p:sp>
            <p:nvSpPr>
              <p:cNvPr name="TextBox 18" id="18"/>
              <p:cNvSpPr txBox="true"/>
              <p:nvPr/>
            </p:nvSpPr>
            <p:spPr>
              <a:xfrm>
                <a:off x="0" y="-323850"/>
                <a:ext cx="493387" cy="954403"/>
              </a:xfrm>
              <a:prstGeom prst="rect">
                <a:avLst/>
              </a:prstGeom>
            </p:spPr>
            <p:txBody>
              <a:bodyPr anchor="ctr" rtlCol="false" tIns="50800" lIns="50800" bIns="50800" rIns="50800"/>
              <a:lstStyle/>
              <a:p>
                <a:pPr algn="l">
                  <a:lnSpc>
                    <a:spcPts val="6000"/>
                  </a:lnSpc>
                </a:pPr>
              </a:p>
            </p:txBody>
          </p:sp>
        </p:grpSp>
        <p:sp>
          <p:nvSpPr>
            <p:cNvPr name="TextBox 19" id="19"/>
            <p:cNvSpPr txBox="true"/>
            <p:nvPr/>
          </p:nvSpPr>
          <p:spPr>
            <a:xfrm rot="0">
              <a:off x="179471" y="487208"/>
              <a:ext cx="4525708" cy="2211070"/>
            </a:xfrm>
            <a:prstGeom prst="rect">
              <a:avLst/>
            </a:prstGeom>
          </p:spPr>
          <p:txBody>
            <a:bodyPr anchor="t" rtlCol="false" tIns="0" lIns="0" bIns="0" rIns="0">
              <a:spAutoFit/>
            </a:bodyPr>
            <a:lstStyle/>
            <a:p>
              <a:pPr algn="l">
                <a:lnSpc>
                  <a:spcPts val="3359"/>
                </a:lnSpc>
                <a:spcBef>
                  <a:spcPct val="0"/>
                </a:spcBef>
              </a:pPr>
              <a:r>
                <a:rPr lang="en-US" b="true" sz="2400">
                  <a:solidFill>
                    <a:srgbClr val="000000">
                      <a:alpha val="69804"/>
                    </a:srgbClr>
                  </a:solidFill>
                  <a:latin typeface="Roboto Bold"/>
                  <a:ea typeface="Roboto Bold"/>
                  <a:cs typeface="Roboto Bold"/>
                  <a:sym typeface="Roboto Bold"/>
                </a:rPr>
                <a:t>Tối ưu mobile + làm việc với ngân hàng, Tạo coupon cho lần mua </a:t>
              </a:r>
            </a:p>
            <a:p>
              <a:pPr algn="l">
                <a:lnSpc>
                  <a:spcPts val="3359"/>
                </a:lnSpc>
                <a:spcBef>
                  <a:spcPct val="0"/>
                </a:spcBef>
              </a:pPr>
              <a:r>
                <a:rPr lang="en-US" b="true" sz="2400">
                  <a:solidFill>
                    <a:srgbClr val="000000">
                      <a:alpha val="69804"/>
                    </a:srgbClr>
                  </a:solidFill>
                  <a:latin typeface="Roboto Bold"/>
                  <a:ea typeface="Roboto Bold"/>
                  <a:cs typeface="Roboto Bold"/>
                  <a:sym typeface="Roboto Bold"/>
                </a:rPr>
                <a:t>thứ hai</a:t>
              </a:r>
            </a:p>
          </p:txBody>
        </p:sp>
        <p:sp>
          <p:nvSpPr>
            <p:cNvPr name="AutoShape 20" id="20"/>
            <p:cNvSpPr/>
            <p:nvPr/>
          </p:nvSpPr>
          <p:spPr>
            <a:xfrm>
              <a:off x="4180946" y="14684"/>
              <a:ext cx="1155687" cy="1631198"/>
            </a:xfrm>
            <a:prstGeom prst="line">
              <a:avLst/>
            </a:prstGeom>
            <a:ln cap="flat" w="50800">
              <a:solidFill>
                <a:srgbClr val="4369F8"/>
              </a:solidFill>
              <a:prstDash val="solid"/>
              <a:headEnd type="none" len="sm" w="sm"/>
              <a:tailEnd type="none" len="sm" w="sm"/>
            </a:ln>
          </p:spPr>
        </p:sp>
        <p:sp>
          <p:nvSpPr>
            <p:cNvPr name="AutoShape 21" id="21"/>
            <p:cNvSpPr/>
            <p:nvPr/>
          </p:nvSpPr>
          <p:spPr>
            <a:xfrm flipH="true">
              <a:off x="4206395" y="1621318"/>
              <a:ext cx="1130238" cy="1655762"/>
            </a:xfrm>
            <a:prstGeom prst="line">
              <a:avLst/>
            </a:prstGeom>
            <a:ln cap="flat" w="50800">
              <a:solidFill>
                <a:srgbClr val="4369F8"/>
              </a:solidFill>
              <a:prstDash val="solid"/>
              <a:headEnd type="none" len="sm" w="sm"/>
              <a:tailEnd type="none" len="sm" w="sm"/>
            </a:ln>
          </p:spPr>
        </p:sp>
      </p:grpSp>
      <p:grpSp>
        <p:nvGrpSpPr>
          <p:cNvPr name="Group 22" id="22"/>
          <p:cNvGrpSpPr/>
          <p:nvPr/>
        </p:nvGrpSpPr>
        <p:grpSpPr>
          <a:xfrm rot="0">
            <a:off x="6994946" y="2957882"/>
            <a:ext cx="4002475" cy="2468550"/>
            <a:chOff x="0" y="0"/>
            <a:chExt cx="5336633" cy="3291401"/>
          </a:xfrm>
        </p:grpSpPr>
        <p:grpSp>
          <p:nvGrpSpPr>
            <p:cNvPr name="Group 23" id="23"/>
            <p:cNvGrpSpPr/>
            <p:nvPr/>
          </p:nvGrpSpPr>
          <p:grpSpPr>
            <a:xfrm rot="-5400000">
              <a:off x="1037118" y="-1037118"/>
              <a:ext cx="3262397" cy="5336633"/>
              <a:chOff x="0" y="0"/>
              <a:chExt cx="493387" cy="807083"/>
            </a:xfrm>
          </p:grpSpPr>
          <p:sp>
            <p:nvSpPr>
              <p:cNvPr name="Freeform 24" id="24"/>
              <p:cNvSpPr/>
              <p:nvPr/>
            </p:nvSpPr>
            <p:spPr>
              <a:xfrm flipH="false" flipV="false" rot="0">
                <a:off x="0" y="0"/>
                <a:ext cx="493387" cy="807083"/>
              </a:xfrm>
              <a:custGeom>
                <a:avLst/>
                <a:gdLst/>
                <a:ahLst/>
                <a:cxnLst/>
                <a:rect r="r" b="b" t="t" l="l"/>
                <a:pathLst>
                  <a:path h="807083" w="493387">
                    <a:moveTo>
                      <a:pt x="493387" y="51876"/>
                    </a:moveTo>
                    <a:lnTo>
                      <a:pt x="493387" y="638173"/>
                    </a:lnTo>
                    <a:lnTo>
                      <a:pt x="246694" y="807083"/>
                    </a:lnTo>
                    <a:lnTo>
                      <a:pt x="0" y="638173"/>
                    </a:lnTo>
                    <a:lnTo>
                      <a:pt x="0" y="51876"/>
                    </a:lnTo>
                    <a:cubicBezTo>
                      <a:pt x="0" y="22860"/>
                      <a:pt x="29603" y="0"/>
                      <a:pt x="64140" y="0"/>
                    </a:cubicBezTo>
                    <a:lnTo>
                      <a:pt x="429247" y="0"/>
                    </a:lnTo>
                    <a:cubicBezTo>
                      <a:pt x="463784" y="0"/>
                      <a:pt x="493387" y="22860"/>
                      <a:pt x="493387" y="51876"/>
                    </a:cubicBezTo>
                    <a:close/>
                  </a:path>
                </a:pathLst>
              </a:custGeom>
              <a:solidFill>
                <a:srgbClr val="AFBEFF"/>
              </a:solidFill>
              <a:ln cap="sq">
                <a:noFill/>
                <a:prstDash val="sysDot"/>
                <a:miter/>
              </a:ln>
            </p:spPr>
          </p:sp>
          <p:sp>
            <p:nvSpPr>
              <p:cNvPr name="TextBox 25" id="25"/>
              <p:cNvSpPr txBox="true"/>
              <p:nvPr/>
            </p:nvSpPr>
            <p:spPr>
              <a:xfrm>
                <a:off x="0" y="-323850"/>
                <a:ext cx="493387" cy="954403"/>
              </a:xfrm>
              <a:prstGeom prst="rect">
                <a:avLst/>
              </a:prstGeom>
            </p:spPr>
            <p:txBody>
              <a:bodyPr anchor="ctr" rtlCol="false" tIns="50800" lIns="50800" bIns="50800" rIns="50800"/>
              <a:lstStyle/>
              <a:p>
                <a:pPr algn="l" marL="0" indent="0" lvl="0">
                  <a:lnSpc>
                    <a:spcPts val="6000"/>
                  </a:lnSpc>
                  <a:spcBef>
                    <a:spcPct val="0"/>
                  </a:spcBef>
                </a:pPr>
              </a:p>
            </p:txBody>
          </p:sp>
        </p:grpSp>
        <p:sp>
          <p:nvSpPr>
            <p:cNvPr name="TextBox 26" id="26"/>
            <p:cNvSpPr txBox="true"/>
            <p:nvPr/>
          </p:nvSpPr>
          <p:spPr>
            <a:xfrm rot="0">
              <a:off x="105845" y="472525"/>
              <a:ext cx="4676614" cy="2211070"/>
            </a:xfrm>
            <a:prstGeom prst="rect">
              <a:avLst/>
            </a:prstGeom>
          </p:spPr>
          <p:txBody>
            <a:bodyPr anchor="t" rtlCol="false" tIns="0" lIns="0" bIns="0" rIns="0">
              <a:spAutoFit/>
            </a:bodyPr>
            <a:lstStyle/>
            <a:p>
              <a:pPr algn="l" marL="0" indent="0" lvl="0">
                <a:lnSpc>
                  <a:spcPts val="3359"/>
                </a:lnSpc>
                <a:spcBef>
                  <a:spcPct val="0"/>
                </a:spcBef>
              </a:pPr>
              <a:r>
                <a:rPr lang="en-US" b="true" sz="2400" strike="noStrike" u="none">
                  <a:solidFill>
                    <a:srgbClr val="000000">
                      <a:alpha val="69804"/>
                    </a:srgbClr>
                  </a:solidFill>
                  <a:latin typeface="Roboto Bold"/>
                  <a:ea typeface="Roboto Bold"/>
                  <a:cs typeface="Roboto Bold"/>
                  <a:sym typeface="Roboto Bold"/>
                </a:rPr>
                <a:t>Khuyến mãi theo vòng đời khách hàng, lên chiến dịch cuối tuần và ngày thấp điểm</a:t>
              </a:r>
            </a:p>
          </p:txBody>
        </p:sp>
        <p:sp>
          <p:nvSpPr>
            <p:cNvPr name="AutoShape 27" id="27"/>
            <p:cNvSpPr/>
            <p:nvPr/>
          </p:nvSpPr>
          <p:spPr>
            <a:xfrm>
              <a:off x="4159968" y="14684"/>
              <a:ext cx="1155687" cy="1631198"/>
            </a:xfrm>
            <a:prstGeom prst="line">
              <a:avLst/>
            </a:prstGeom>
            <a:ln cap="flat" w="50800">
              <a:solidFill>
                <a:srgbClr val="4369F8"/>
              </a:solidFill>
              <a:prstDash val="solid"/>
              <a:headEnd type="none" len="sm" w="sm"/>
              <a:tailEnd type="none" len="sm" w="sm"/>
            </a:ln>
          </p:spPr>
        </p:sp>
        <p:sp>
          <p:nvSpPr>
            <p:cNvPr name="AutoShape 28" id="28"/>
            <p:cNvSpPr/>
            <p:nvPr/>
          </p:nvSpPr>
          <p:spPr>
            <a:xfrm flipH="true">
              <a:off x="4185417" y="1621318"/>
              <a:ext cx="1130238" cy="1655762"/>
            </a:xfrm>
            <a:prstGeom prst="line">
              <a:avLst/>
            </a:prstGeom>
            <a:ln cap="flat" w="50800">
              <a:solidFill>
                <a:srgbClr val="4369F8"/>
              </a:solidFill>
              <a:prstDash val="solid"/>
              <a:headEnd type="none" len="sm" w="sm"/>
              <a:tailEnd type="none" len="sm" w="sm"/>
            </a:ln>
          </p:spPr>
        </p:sp>
      </p:grpSp>
      <p:grpSp>
        <p:nvGrpSpPr>
          <p:cNvPr name="Group 29" id="29"/>
          <p:cNvGrpSpPr/>
          <p:nvPr/>
        </p:nvGrpSpPr>
        <p:grpSpPr>
          <a:xfrm rot="0">
            <a:off x="11517758" y="2957882"/>
            <a:ext cx="4002475" cy="2468550"/>
            <a:chOff x="0" y="0"/>
            <a:chExt cx="5336633" cy="3291401"/>
          </a:xfrm>
        </p:grpSpPr>
        <p:grpSp>
          <p:nvGrpSpPr>
            <p:cNvPr name="Group 30" id="30"/>
            <p:cNvGrpSpPr/>
            <p:nvPr/>
          </p:nvGrpSpPr>
          <p:grpSpPr>
            <a:xfrm rot="-5400000">
              <a:off x="1037118" y="-1037118"/>
              <a:ext cx="3262397" cy="5336633"/>
              <a:chOff x="0" y="0"/>
              <a:chExt cx="493387" cy="807083"/>
            </a:xfrm>
          </p:grpSpPr>
          <p:sp>
            <p:nvSpPr>
              <p:cNvPr name="Freeform 31" id="31"/>
              <p:cNvSpPr/>
              <p:nvPr/>
            </p:nvSpPr>
            <p:spPr>
              <a:xfrm flipH="false" flipV="false" rot="0">
                <a:off x="0" y="0"/>
                <a:ext cx="493387" cy="807083"/>
              </a:xfrm>
              <a:custGeom>
                <a:avLst/>
                <a:gdLst/>
                <a:ahLst/>
                <a:cxnLst/>
                <a:rect r="r" b="b" t="t" l="l"/>
                <a:pathLst>
                  <a:path h="807083" w="493387">
                    <a:moveTo>
                      <a:pt x="493387" y="51876"/>
                    </a:moveTo>
                    <a:lnTo>
                      <a:pt x="493387" y="638173"/>
                    </a:lnTo>
                    <a:lnTo>
                      <a:pt x="246694" y="807083"/>
                    </a:lnTo>
                    <a:lnTo>
                      <a:pt x="0" y="638173"/>
                    </a:lnTo>
                    <a:lnTo>
                      <a:pt x="0" y="51876"/>
                    </a:lnTo>
                    <a:cubicBezTo>
                      <a:pt x="0" y="22860"/>
                      <a:pt x="29603" y="0"/>
                      <a:pt x="64140" y="0"/>
                    </a:cubicBezTo>
                    <a:lnTo>
                      <a:pt x="429247" y="0"/>
                    </a:lnTo>
                    <a:cubicBezTo>
                      <a:pt x="463784" y="0"/>
                      <a:pt x="493387" y="22860"/>
                      <a:pt x="493387" y="51876"/>
                    </a:cubicBezTo>
                    <a:close/>
                  </a:path>
                </a:pathLst>
              </a:custGeom>
              <a:solidFill>
                <a:srgbClr val="AFBEFF"/>
              </a:solidFill>
              <a:ln cap="sq">
                <a:noFill/>
                <a:prstDash val="sysDot"/>
                <a:miter/>
              </a:ln>
            </p:spPr>
          </p:sp>
          <p:sp>
            <p:nvSpPr>
              <p:cNvPr name="TextBox 32" id="32"/>
              <p:cNvSpPr txBox="true"/>
              <p:nvPr/>
            </p:nvSpPr>
            <p:spPr>
              <a:xfrm>
                <a:off x="0" y="-323850"/>
                <a:ext cx="493387" cy="954403"/>
              </a:xfrm>
              <a:prstGeom prst="rect">
                <a:avLst/>
              </a:prstGeom>
            </p:spPr>
            <p:txBody>
              <a:bodyPr anchor="ctr" rtlCol="false" tIns="50800" lIns="50800" bIns="50800" rIns="50800"/>
              <a:lstStyle/>
              <a:p>
                <a:pPr algn="l" marL="0" indent="0" lvl="0">
                  <a:lnSpc>
                    <a:spcPts val="6000"/>
                  </a:lnSpc>
                  <a:spcBef>
                    <a:spcPct val="0"/>
                  </a:spcBef>
                </a:pPr>
              </a:p>
            </p:txBody>
          </p:sp>
        </p:grpSp>
        <p:sp>
          <p:nvSpPr>
            <p:cNvPr name="TextBox 33" id="33"/>
            <p:cNvSpPr txBox="true"/>
            <p:nvPr/>
          </p:nvSpPr>
          <p:spPr>
            <a:xfrm rot="0">
              <a:off x="106317" y="472525"/>
              <a:ext cx="4856622" cy="2211070"/>
            </a:xfrm>
            <a:prstGeom prst="rect">
              <a:avLst/>
            </a:prstGeom>
          </p:spPr>
          <p:txBody>
            <a:bodyPr anchor="t" rtlCol="false" tIns="0" lIns="0" bIns="0" rIns="0">
              <a:spAutoFit/>
            </a:bodyPr>
            <a:lstStyle/>
            <a:p>
              <a:pPr algn="l" marL="0" indent="0" lvl="0">
                <a:lnSpc>
                  <a:spcPts val="3359"/>
                </a:lnSpc>
                <a:spcBef>
                  <a:spcPct val="0"/>
                </a:spcBef>
              </a:pPr>
              <a:r>
                <a:rPr lang="en-US" b="true" sz="2400" strike="noStrike" u="none">
                  <a:solidFill>
                    <a:srgbClr val="000000">
                      <a:alpha val="69804"/>
                    </a:srgbClr>
                  </a:solidFill>
                  <a:latin typeface="Roboto Bold"/>
                  <a:ea typeface="Roboto Bold"/>
                  <a:cs typeface="Roboto Bold"/>
                  <a:sym typeface="Roboto Bold"/>
                </a:rPr>
                <a:t>Phân nhóm khách hàng theo hành vi mua, promotion và giá trị chi tiêu</a:t>
              </a:r>
            </a:p>
          </p:txBody>
        </p:sp>
        <p:sp>
          <p:nvSpPr>
            <p:cNvPr name="AutoShape 34" id="34"/>
            <p:cNvSpPr/>
            <p:nvPr/>
          </p:nvSpPr>
          <p:spPr>
            <a:xfrm>
              <a:off x="4159968" y="14684"/>
              <a:ext cx="1155687" cy="1631198"/>
            </a:xfrm>
            <a:prstGeom prst="line">
              <a:avLst/>
            </a:prstGeom>
            <a:ln cap="flat" w="50800">
              <a:solidFill>
                <a:srgbClr val="4369F8"/>
              </a:solidFill>
              <a:prstDash val="solid"/>
              <a:headEnd type="none" len="sm" w="sm"/>
              <a:tailEnd type="none" len="sm" w="sm"/>
            </a:ln>
          </p:spPr>
        </p:sp>
        <p:sp>
          <p:nvSpPr>
            <p:cNvPr name="AutoShape 35" id="35"/>
            <p:cNvSpPr/>
            <p:nvPr/>
          </p:nvSpPr>
          <p:spPr>
            <a:xfrm flipH="true">
              <a:off x="4185417" y="1621318"/>
              <a:ext cx="1130238" cy="1655762"/>
            </a:xfrm>
            <a:prstGeom prst="line">
              <a:avLst/>
            </a:prstGeom>
            <a:ln cap="flat" w="50800">
              <a:solidFill>
                <a:srgbClr val="4369F8"/>
              </a:solidFill>
              <a:prstDash val="solid"/>
              <a:headEnd type="none" len="sm" w="sm"/>
              <a:tailEnd type="none" len="sm" w="sm"/>
            </a:ln>
          </p:spPr>
        </p:sp>
      </p:grpSp>
      <p:grpSp>
        <p:nvGrpSpPr>
          <p:cNvPr name="Group 36" id="36"/>
          <p:cNvGrpSpPr/>
          <p:nvPr/>
        </p:nvGrpSpPr>
        <p:grpSpPr>
          <a:xfrm rot="0">
            <a:off x="3872989" y="2109096"/>
            <a:ext cx="9767446" cy="641766"/>
            <a:chOff x="0" y="0"/>
            <a:chExt cx="13023261" cy="855689"/>
          </a:xfrm>
        </p:grpSpPr>
        <p:sp>
          <p:nvSpPr>
            <p:cNvPr name="Freeform 37" id="37"/>
            <p:cNvSpPr/>
            <p:nvPr/>
          </p:nvSpPr>
          <p:spPr>
            <a:xfrm flipH="false" flipV="false" rot="0">
              <a:off x="42454" y="23416"/>
              <a:ext cx="832272" cy="832272"/>
            </a:xfrm>
            <a:custGeom>
              <a:avLst/>
              <a:gdLst/>
              <a:ahLst/>
              <a:cxnLst/>
              <a:rect r="r" b="b" t="t" l="l"/>
              <a:pathLst>
                <a:path h="832272" w="832272">
                  <a:moveTo>
                    <a:pt x="0" y="0"/>
                  </a:moveTo>
                  <a:lnTo>
                    <a:pt x="832273" y="0"/>
                  </a:lnTo>
                  <a:lnTo>
                    <a:pt x="832273" y="832273"/>
                  </a:lnTo>
                  <a:lnTo>
                    <a:pt x="0" y="8322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8" id="38"/>
            <p:cNvGrpSpPr/>
            <p:nvPr/>
          </p:nvGrpSpPr>
          <p:grpSpPr>
            <a:xfrm rot="0">
              <a:off x="77718" y="58680"/>
              <a:ext cx="761744" cy="761744"/>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984FE"/>
              </a:solidFill>
            </p:spPr>
          </p:sp>
          <p:sp>
            <p:nvSpPr>
              <p:cNvPr name="TextBox 40" id="40"/>
              <p:cNvSpPr txBox="true"/>
              <p:nvPr/>
            </p:nvSpPr>
            <p:spPr>
              <a:xfrm>
                <a:off x="76200" y="0"/>
                <a:ext cx="660400" cy="736600"/>
              </a:xfrm>
              <a:prstGeom prst="rect">
                <a:avLst/>
              </a:prstGeom>
            </p:spPr>
            <p:txBody>
              <a:bodyPr anchor="ctr" rtlCol="false" tIns="50800" lIns="50800" bIns="50800" rIns="50800"/>
              <a:lstStyle/>
              <a:p>
                <a:pPr algn="ctr">
                  <a:lnSpc>
                    <a:spcPts val="3429"/>
                  </a:lnSpc>
                </a:pPr>
              </a:p>
            </p:txBody>
          </p:sp>
        </p:grpSp>
        <p:sp>
          <p:nvSpPr>
            <p:cNvPr name="TextBox 41" id="41"/>
            <p:cNvSpPr txBox="true"/>
            <p:nvPr/>
          </p:nvSpPr>
          <p:spPr>
            <a:xfrm rot="0">
              <a:off x="0" y="76236"/>
              <a:ext cx="917181" cy="669483"/>
            </a:xfrm>
            <a:prstGeom prst="rect">
              <a:avLst/>
            </a:prstGeom>
          </p:spPr>
          <p:txBody>
            <a:bodyPr anchor="t" rtlCol="false" tIns="0" lIns="0" bIns="0" rIns="0">
              <a:spAutoFit/>
            </a:bodyPr>
            <a:lstStyle/>
            <a:p>
              <a:pPr algn="ctr">
                <a:lnSpc>
                  <a:spcPts val="4255"/>
                </a:lnSpc>
              </a:pPr>
              <a:r>
                <a:rPr lang="en-US" b="true" sz="3039">
                  <a:solidFill>
                    <a:srgbClr val="FFFFFF"/>
                  </a:solidFill>
                  <a:latin typeface="Noto Sans Bold"/>
                  <a:ea typeface="Noto Sans Bold"/>
                  <a:cs typeface="Noto Sans Bold"/>
                  <a:sym typeface="Noto Sans Bold"/>
                </a:rPr>
                <a:t>1</a:t>
              </a:r>
            </a:p>
          </p:txBody>
        </p:sp>
        <p:sp>
          <p:nvSpPr>
            <p:cNvPr name="AutoShape 42" id="42"/>
            <p:cNvSpPr/>
            <p:nvPr/>
          </p:nvSpPr>
          <p:spPr>
            <a:xfrm flipV="true">
              <a:off x="874727" y="416136"/>
              <a:ext cx="5329022" cy="23416"/>
            </a:xfrm>
            <a:prstGeom prst="line">
              <a:avLst/>
            </a:prstGeom>
            <a:ln cap="flat" w="50800">
              <a:solidFill>
                <a:srgbClr val="4369F8"/>
              </a:solidFill>
              <a:prstDash val="solid"/>
              <a:headEnd type="none" len="sm" w="sm"/>
              <a:tailEnd type="none" len="sm" w="sm"/>
            </a:ln>
          </p:spPr>
        </p:sp>
        <p:sp>
          <p:nvSpPr>
            <p:cNvPr name="AutoShape 43" id="43"/>
            <p:cNvSpPr/>
            <p:nvPr/>
          </p:nvSpPr>
          <p:spPr>
            <a:xfrm>
              <a:off x="6771877" y="439552"/>
              <a:ext cx="5438848" cy="0"/>
            </a:xfrm>
            <a:prstGeom prst="line">
              <a:avLst/>
            </a:prstGeom>
            <a:ln cap="flat" w="50800">
              <a:solidFill>
                <a:srgbClr val="4369F8"/>
              </a:solidFill>
              <a:prstDash val="solid"/>
              <a:headEnd type="none" len="sm" w="sm"/>
              <a:tailEnd type="none" len="sm" w="sm"/>
            </a:ln>
          </p:spPr>
        </p:sp>
        <p:sp>
          <p:nvSpPr>
            <p:cNvPr name="Freeform 44" id="44"/>
            <p:cNvSpPr/>
            <p:nvPr/>
          </p:nvSpPr>
          <p:spPr>
            <a:xfrm flipH="false" flipV="false" rot="0">
              <a:off x="6161294" y="0"/>
              <a:ext cx="832272" cy="832272"/>
            </a:xfrm>
            <a:custGeom>
              <a:avLst/>
              <a:gdLst/>
              <a:ahLst/>
              <a:cxnLst/>
              <a:rect r="r" b="b" t="t" l="l"/>
              <a:pathLst>
                <a:path h="832272" w="832272">
                  <a:moveTo>
                    <a:pt x="0" y="0"/>
                  </a:moveTo>
                  <a:lnTo>
                    <a:pt x="832273" y="0"/>
                  </a:lnTo>
                  <a:lnTo>
                    <a:pt x="832273" y="832272"/>
                  </a:lnTo>
                  <a:lnTo>
                    <a:pt x="0" y="8322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5" id="45"/>
            <p:cNvGrpSpPr/>
            <p:nvPr/>
          </p:nvGrpSpPr>
          <p:grpSpPr>
            <a:xfrm rot="0">
              <a:off x="6196558" y="35264"/>
              <a:ext cx="761744" cy="761744"/>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984FE"/>
              </a:solidFill>
            </p:spPr>
          </p:sp>
          <p:sp>
            <p:nvSpPr>
              <p:cNvPr name="TextBox 47" id="47"/>
              <p:cNvSpPr txBox="true"/>
              <p:nvPr/>
            </p:nvSpPr>
            <p:spPr>
              <a:xfrm>
                <a:off x="76200" y="0"/>
                <a:ext cx="660400" cy="736600"/>
              </a:xfrm>
              <a:prstGeom prst="rect">
                <a:avLst/>
              </a:prstGeom>
            </p:spPr>
            <p:txBody>
              <a:bodyPr anchor="ctr" rtlCol="false" tIns="50800" lIns="50800" bIns="50800" rIns="50800"/>
              <a:lstStyle/>
              <a:p>
                <a:pPr algn="ctr">
                  <a:lnSpc>
                    <a:spcPts val="3429"/>
                  </a:lnSpc>
                </a:pPr>
              </a:p>
            </p:txBody>
          </p:sp>
        </p:grpSp>
        <p:sp>
          <p:nvSpPr>
            <p:cNvPr name="TextBox 48" id="48"/>
            <p:cNvSpPr txBox="true"/>
            <p:nvPr/>
          </p:nvSpPr>
          <p:spPr>
            <a:xfrm rot="0">
              <a:off x="6118840" y="52820"/>
              <a:ext cx="917181" cy="669483"/>
            </a:xfrm>
            <a:prstGeom prst="rect">
              <a:avLst/>
            </a:prstGeom>
          </p:spPr>
          <p:txBody>
            <a:bodyPr anchor="t" rtlCol="false" tIns="0" lIns="0" bIns="0" rIns="0">
              <a:spAutoFit/>
            </a:bodyPr>
            <a:lstStyle/>
            <a:p>
              <a:pPr algn="ctr">
                <a:lnSpc>
                  <a:spcPts val="4255"/>
                </a:lnSpc>
              </a:pPr>
              <a:r>
                <a:rPr lang="en-US" sz="3039" b="true">
                  <a:solidFill>
                    <a:srgbClr val="FFFFFF"/>
                  </a:solidFill>
                  <a:latin typeface="Noto Sans Bold"/>
                  <a:ea typeface="Noto Sans Bold"/>
                  <a:cs typeface="Noto Sans Bold"/>
                  <a:sym typeface="Noto Sans Bold"/>
                </a:rPr>
                <a:t>2</a:t>
              </a:r>
            </a:p>
          </p:txBody>
        </p:sp>
        <p:sp>
          <p:nvSpPr>
            <p:cNvPr name="Freeform 49" id="49"/>
            <p:cNvSpPr/>
            <p:nvPr/>
          </p:nvSpPr>
          <p:spPr>
            <a:xfrm flipH="false" flipV="false" rot="0">
              <a:off x="12148534" y="0"/>
              <a:ext cx="832272" cy="832272"/>
            </a:xfrm>
            <a:custGeom>
              <a:avLst/>
              <a:gdLst/>
              <a:ahLst/>
              <a:cxnLst/>
              <a:rect r="r" b="b" t="t" l="l"/>
              <a:pathLst>
                <a:path h="832272" w="832272">
                  <a:moveTo>
                    <a:pt x="0" y="0"/>
                  </a:moveTo>
                  <a:lnTo>
                    <a:pt x="832273" y="0"/>
                  </a:lnTo>
                  <a:lnTo>
                    <a:pt x="832273" y="832272"/>
                  </a:lnTo>
                  <a:lnTo>
                    <a:pt x="0" y="8322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0" id="50"/>
            <p:cNvGrpSpPr/>
            <p:nvPr/>
          </p:nvGrpSpPr>
          <p:grpSpPr>
            <a:xfrm rot="0">
              <a:off x="12183799" y="35264"/>
              <a:ext cx="761744" cy="761744"/>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984FE"/>
              </a:solidFill>
            </p:spPr>
          </p:sp>
          <p:sp>
            <p:nvSpPr>
              <p:cNvPr name="TextBox 52" id="52"/>
              <p:cNvSpPr txBox="true"/>
              <p:nvPr/>
            </p:nvSpPr>
            <p:spPr>
              <a:xfrm>
                <a:off x="76200" y="0"/>
                <a:ext cx="660400" cy="736600"/>
              </a:xfrm>
              <a:prstGeom prst="rect">
                <a:avLst/>
              </a:prstGeom>
            </p:spPr>
            <p:txBody>
              <a:bodyPr anchor="ctr" rtlCol="false" tIns="50800" lIns="50800" bIns="50800" rIns="50800"/>
              <a:lstStyle/>
              <a:p>
                <a:pPr algn="ctr">
                  <a:lnSpc>
                    <a:spcPts val="3429"/>
                  </a:lnSpc>
                </a:pPr>
              </a:p>
            </p:txBody>
          </p:sp>
        </p:grpSp>
        <p:sp>
          <p:nvSpPr>
            <p:cNvPr name="TextBox 53" id="53"/>
            <p:cNvSpPr txBox="true"/>
            <p:nvPr/>
          </p:nvSpPr>
          <p:spPr>
            <a:xfrm rot="0">
              <a:off x="12106080" y="52820"/>
              <a:ext cx="917181" cy="669483"/>
            </a:xfrm>
            <a:prstGeom prst="rect">
              <a:avLst/>
            </a:prstGeom>
          </p:spPr>
          <p:txBody>
            <a:bodyPr anchor="t" rtlCol="false" tIns="0" lIns="0" bIns="0" rIns="0">
              <a:spAutoFit/>
            </a:bodyPr>
            <a:lstStyle/>
            <a:p>
              <a:pPr algn="ctr">
                <a:lnSpc>
                  <a:spcPts val="4255"/>
                </a:lnSpc>
              </a:pPr>
              <a:r>
                <a:rPr lang="en-US" sz="3039" b="true">
                  <a:solidFill>
                    <a:srgbClr val="FFFFFF"/>
                  </a:solidFill>
                  <a:latin typeface="Noto Sans Bold"/>
                  <a:ea typeface="Noto Sans Bold"/>
                  <a:cs typeface="Noto Sans Bold"/>
                  <a:sym typeface="Noto Sans Bold"/>
                </a:rPr>
                <a:t>3</a:t>
              </a:r>
            </a:p>
          </p:txBody>
        </p:sp>
      </p:grpSp>
      <p:grpSp>
        <p:nvGrpSpPr>
          <p:cNvPr name="Group 54" id="54"/>
          <p:cNvGrpSpPr/>
          <p:nvPr/>
        </p:nvGrpSpPr>
        <p:grpSpPr>
          <a:xfrm rot="0">
            <a:off x="313351" y="0"/>
            <a:ext cx="17661298" cy="1472753"/>
            <a:chOff x="0" y="0"/>
            <a:chExt cx="3634012" cy="303036"/>
          </a:xfrm>
        </p:grpSpPr>
        <p:sp>
          <p:nvSpPr>
            <p:cNvPr name="Freeform 55" id="55"/>
            <p:cNvSpPr/>
            <p:nvPr/>
          </p:nvSpPr>
          <p:spPr>
            <a:xfrm flipH="false" flipV="false" rot="0">
              <a:off x="0" y="0"/>
              <a:ext cx="3634012" cy="303036"/>
            </a:xfrm>
            <a:custGeom>
              <a:avLst/>
              <a:gdLst/>
              <a:ahLst/>
              <a:cxnLst/>
              <a:rect r="r" b="b" t="t" l="l"/>
              <a:pathLst>
                <a:path h="303036" w="3634012">
                  <a:moveTo>
                    <a:pt x="8562" y="0"/>
                  </a:moveTo>
                  <a:lnTo>
                    <a:pt x="3625450" y="0"/>
                  </a:lnTo>
                  <a:cubicBezTo>
                    <a:pt x="3627721" y="0"/>
                    <a:pt x="3629899" y="902"/>
                    <a:pt x="3631504" y="2508"/>
                  </a:cubicBezTo>
                  <a:cubicBezTo>
                    <a:pt x="3633110" y="4113"/>
                    <a:pt x="3634012" y="6291"/>
                    <a:pt x="3634012" y="8562"/>
                  </a:cubicBezTo>
                  <a:lnTo>
                    <a:pt x="3634012" y="294474"/>
                  </a:lnTo>
                  <a:cubicBezTo>
                    <a:pt x="3634012" y="299202"/>
                    <a:pt x="3630179" y="303036"/>
                    <a:pt x="3625450" y="303036"/>
                  </a:cubicBezTo>
                  <a:lnTo>
                    <a:pt x="8562" y="303036"/>
                  </a:lnTo>
                  <a:cubicBezTo>
                    <a:pt x="6291" y="303036"/>
                    <a:pt x="4113" y="302134"/>
                    <a:pt x="2508" y="300528"/>
                  </a:cubicBezTo>
                  <a:cubicBezTo>
                    <a:pt x="902" y="298922"/>
                    <a:pt x="0" y="296745"/>
                    <a:pt x="0" y="294474"/>
                  </a:cubicBezTo>
                  <a:lnTo>
                    <a:pt x="0" y="8562"/>
                  </a:lnTo>
                  <a:cubicBezTo>
                    <a:pt x="0" y="3833"/>
                    <a:pt x="3833" y="0"/>
                    <a:pt x="8562" y="0"/>
                  </a:cubicBezTo>
                  <a:close/>
                </a:path>
              </a:pathLst>
            </a:custGeom>
            <a:gradFill rotWithShape="true">
              <a:gsLst>
                <a:gs pos="0">
                  <a:srgbClr val="001F65">
                    <a:alpha val="100000"/>
                  </a:srgbClr>
                </a:gs>
                <a:gs pos="100000">
                  <a:srgbClr val="6895FD">
                    <a:alpha val="100000"/>
                  </a:srgbClr>
                </a:gs>
              </a:gsLst>
              <a:lin ang="5400000"/>
            </a:gradFill>
          </p:spPr>
        </p:sp>
        <p:sp>
          <p:nvSpPr>
            <p:cNvPr name="TextBox 56" id="56"/>
            <p:cNvSpPr txBox="true"/>
            <p:nvPr/>
          </p:nvSpPr>
          <p:spPr>
            <a:xfrm>
              <a:off x="0" y="-76200"/>
              <a:ext cx="3634012" cy="379236"/>
            </a:xfrm>
            <a:prstGeom prst="rect">
              <a:avLst/>
            </a:prstGeom>
          </p:spPr>
          <p:txBody>
            <a:bodyPr anchor="ctr" rtlCol="false" tIns="50800" lIns="50800" bIns="50800" rIns="50800"/>
            <a:lstStyle/>
            <a:p>
              <a:pPr algn="ctr">
                <a:lnSpc>
                  <a:spcPts val="3040"/>
                </a:lnSpc>
              </a:pPr>
            </a:p>
          </p:txBody>
        </p:sp>
      </p:grpSp>
      <p:grpSp>
        <p:nvGrpSpPr>
          <p:cNvPr name="Group 57" id="57"/>
          <p:cNvGrpSpPr/>
          <p:nvPr/>
        </p:nvGrpSpPr>
        <p:grpSpPr>
          <a:xfrm rot="0">
            <a:off x="1392798" y="316561"/>
            <a:ext cx="15502405" cy="839631"/>
            <a:chOff x="0" y="0"/>
            <a:chExt cx="20669873" cy="1119509"/>
          </a:xfrm>
        </p:grpSpPr>
        <p:sp>
          <p:nvSpPr>
            <p:cNvPr name="TextBox 58" id="58"/>
            <p:cNvSpPr txBox="true"/>
            <p:nvPr/>
          </p:nvSpPr>
          <p:spPr>
            <a:xfrm rot="0">
              <a:off x="0" y="-114300"/>
              <a:ext cx="20669873" cy="1233809"/>
            </a:xfrm>
            <a:prstGeom prst="rect">
              <a:avLst/>
            </a:prstGeom>
          </p:spPr>
          <p:txBody>
            <a:bodyPr anchor="t" rtlCol="false" tIns="0" lIns="0" bIns="0" rIns="0">
              <a:spAutoFit/>
            </a:bodyPr>
            <a:lstStyle/>
            <a:p>
              <a:pPr algn="l" marL="0" indent="0" lvl="0">
                <a:lnSpc>
                  <a:spcPts val="7796"/>
                </a:lnSpc>
              </a:pPr>
              <a:r>
                <a:rPr lang="en-US" b="true" sz="5568" spc="-139">
                  <a:solidFill>
                    <a:srgbClr val="FFFFFF"/>
                  </a:solidFill>
                  <a:latin typeface="Roboto Bold"/>
                  <a:ea typeface="Roboto Bold"/>
                  <a:cs typeface="Roboto Bold"/>
                  <a:sym typeface="Roboto Bold"/>
                </a:rPr>
                <a:t>LỘ TRÌNH TRIỂN KHAI THEO GIAI ĐOẠN ƯU TIÊN</a:t>
              </a:r>
            </a:p>
          </p:txBody>
        </p:sp>
      </p:grpSp>
      <p:grpSp>
        <p:nvGrpSpPr>
          <p:cNvPr name="Group 59" id="59"/>
          <p:cNvGrpSpPr/>
          <p:nvPr/>
        </p:nvGrpSpPr>
        <p:grpSpPr>
          <a:xfrm rot="0">
            <a:off x="15897199" y="9050272"/>
            <a:ext cx="3086100" cy="3086100"/>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CF1FE">
                <a:alpha val="63922"/>
              </a:srgbClr>
            </a:solidFill>
          </p:spPr>
        </p:sp>
        <p:sp>
          <p:nvSpPr>
            <p:cNvPr name="TextBox 61" id="61"/>
            <p:cNvSpPr txBox="true"/>
            <p:nvPr/>
          </p:nvSpPr>
          <p:spPr>
            <a:xfrm>
              <a:off x="76200" y="9525"/>
              <a:ext cx="660400" cy="727075"/>
            </a:xfrm>
            <a:prstGeom prst="rect">
              <a:avLst/>
            </a:prstGeom>
          </p:spPr>
          <p:txBody>
            <a:bodyPr anchor="ctr" rtlCol="false" tIns="50800" lIns="50800" bIns="50800" rIns="50800"/>
            <a:lstStyle/>
            <a:p>
              <a:pPr algn="ctr">
                <a:lnSpc>
                  <a:spcPts val="3429"/>
                </a:lnSpc>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53447" y="2191825"/>
            <a:ext cx="16981106" cy="2951675"/>
            <a:chOff x="0" y="0"/>
            <a:chExt cx="22641474" cy="3935566"/>
          </a:xfrm>
        </p:grpSpPr>
        <p:grpSp>
          <p:nvGrpSpPr>
            <p:cNvPr name="Group 4" id="4"/>
            <p:cNvGrpSpPr/>
            <p:nvPr/>
          </p:nvGrpSpPr>
          <p:grpSpPr>
            <a:xfrm rot="-10800000">
              <a:off x="0" y="0"/>
              <a:ext cx="7288099" cy="3935566"/>
              <a:chOff x="0" y="0"/>
              <a:chExt cx="1124707" cy="607340"/>
            </a:xfrm>
          </p:grpSpPr>
          <p:sp>
            <p:nvSpPr>
              <p:cNvPr name="Freeform 5" id="5"/>
              <p:cNvSpPr/>
              <p:nvPr/>
            </p:nvSpPr>
            <p:spPr>
              <a:xfrm flipH="false" flipV="false" rot="0">
                <a:off x="0" y="0"/>
                <a:ext cx="1124707" cy="607340"/>
              </a:xfrm>
              <a:custGeom>
                <a:avLst/>
                <a:gdLst/>
                <a:ahLst/>
                <a:cxnLst/>
                <a:rect r="r" b="b" t="t" l="l"/>
                <a:pathLst>
                  <a:path h="607340" w="1124707">
                    <a:moveTo>
                      <a:pt x="27663" y="0"/>
                    </a:moveTo>
                    <a:lnTo>
                      <a:pt x="1097043" y="0"/>
                    </a:lnTo>
                    <a:cubicBezTo>
                      <a:pt x="1112321" y="0"/>
                      <a:pt x="1124707" y="12385"/>
                      <a:pt x="1124707" y="27663"/>
                    </a:cubicBezTo>
                    <a:lnTo>
                      <a:pt x="1124707" y="579677"/>
                    </a:lnTo>
                    <a:cubicBezTo>
                      <a:pt x="1124707" y="594955"/>
                      <a:pt x="1112321" y="607340"/>
                      <a:pt x="1097043" y="607340"/>
                    </a:cubicBezTo>
                    <a:lnTo>
                      <a:pt x="27663" y="607340"/>
                    </a:lnTo>
                    <a:cubicBezTo>
                      <a:pt x="12385" y="607340"/>
                      <a:pt x="0" y="594955"/>
                      <a:pt x="0" y="579677"/>
                    </a:cubicBezTo>
                    <a:lnTo>
                      <a:pt x="0" y="27663"/>
                    </a:lnTo>
                    <a:cubicBezTo>
                      <a:pt x="0" y="12385"/>
                      <a:pt x="12385" y="0"/>
                      <a:pt x="27663" y="0"/>
                    </a:cubicBezTo>
                    <a:close/>
                  </a:path>
                </a:pathLst>
              </a:custGeom>
              <a:solidFill>
                <a:srgbClr val="FEFEFE"/>
              </a:solidFill>
              <a:ln w="28575" cap="rnd">
                <a:solidFill>
                  <a:srgbClr val="C6D6FF"/>
                </a:solidFill>
                <a:prstDash val="solid"/>
                <a:round/>
              </a:ln>
            </p:spPr>
          </p:sp>
          <p:sp>
            <p:nvSpPr>
              <p:cNvPr name="TextBox 6" id="6"/>
              <p:cNvSpPr txBox="true"/>
              <p:nvPr/>
            </p:nvSpPr>
            <p:spPr>
              <a:xfrm>
                <a:off x="0" y="-76200"/>
                <a:ext cx="1124707" cy="683540"/>
              </a:xfrm>
              <a:prstGeom prst="rect">
                <a:avLst/>
              </a:prstGeom>
            </p:spPr>
            <p:txBody>
              <a:bodyPr anchor="ctr" rtlCol="false" tIns="50800" lIns="50800" bIns="50800" rIns="50800"/>
              <a:lstStyle/>
              <a:p>
                <a:pPr algn="ctr">
                  <a:lnSpc>
                    <a:spcPts val="3429"/>
                  </a:lnSpc>
                </a:pPr>
              </a:p>
            </p:txBody>
          </p:sp>
        </p:grpSp>
        <p:grpSp>
          <p:nvGrpSpPr>
            <p:cNvPr name="Group 7" id="7"/>
            <p:cNvGrpSpPr/>
            <p:nvPr/>
          </p:nvGrpSpPr>
          <p:grpSpPr>
            <a:xfrm rot="-10800000">
              <a:off x="7676688" y="0"/>
              <a:ext cx="7288099" cy="3935566"/>
              <a:chOff x="0" y="0"/>
              <a:chExt cx="1124707" cy="607340"/>
            </a:xfrm>
          </p:grpSpPr>
          <p:sp>
            <p:nvSpPr>
              <p:cNvPr name="Freeform 8" id="8"/>
              <p:cNvSpPr/>
              <p:nvPr/>
            </p:nvSpPr>
            <p:spPr>
              <a:xfrm flipH="false" flipV="false" rot="0">
                <a:off x="0" y="0"/>
                <a:ext cx="1124707" cy="607340"/>
              </a:xfrm>
              <a:custGeom>
                <a:avLst/>
                <a:gdLst/>
                <a:ahLst/>
                <a:cxnLst/>
                <a:rect r="r" b="b" t="t" l="l"/>
                <a:pathLst>
                  <a:path h="607340" w="1124707">
                    <a:moveTo>
                      <a:pt x="27663" y="0"/>
                    </a:moveTo>
                    <a:lnTo>
                      <a:pt x="1097043" y="0"/>
                    </a:lnTo>
                    <a:cubicBezTo>
                      <a:pt x="1112321" y="0"/>
                      <a:pt x="1124707" y="12385"/>
                      <a:pt x="1124707" y="27663"/>
                    </a:cubicBezTo>
                    <a:lnTo>
                      <a:pt x="1124707" y="579677"/>
                    </a:lnTo>
                    <a:cubicBezTo>
                      <a:pt x="1124707" y="594955"/>
                      <a:pt x="1112321" y="607340"/>
                      <a:pt x="1097043" y="607340"/>
                    </a:cubicBezTo>
                    <a:lnTo>
                      <a:pt x="27663" y="607340"/>
                    </a:lnTo>
                    <a:cubicBezTo>
                      <a:pt x="12385" y="607340"/>
                      <a:pt x="0" y="594955"/>
                      <a:pt x="0" y="579677"/>
                    </a:cubicBezTo>
                    <a:lnTo>
                      <a:pt x="0" y="27663"/>
                    </a:lnTo>
                    <a:cubicBezTo>
                      <a:pt x="0" y="12385"/>
                      <a:pt x="12385" y="0"/>
                      <a:pt x="27663" y="0"/>
                    </a:cubicBezTo>
                    <a:close/>
                  </a:path>
                </a:pathLst>
              </a:custGeom>
              <a:solidFill>
                <a:srgbClr val="FEFEFE"/>
              </a:solidFill>
              <a:ln w="28575" cap="rnd">
                <a:solidFill>
                  <a:srgbClr val="C6D6FF"/>
                </a:solidFill>
                <a:prstDash val="solid"/>
                <a:round/>
              </a:ln>
            </p:spPr>
          </p:sp>
          <p:sp>
            <p:nvSpPr>
              <p:cNvPr name="TextBox 9" id="9"/>
              <p:cNvSpPr txBox="true"/>
              <p:nvPr/>
            </p:nvSpPr>
            <p:spPr>
              <a:xfrm>
                <a:off x="0" y="-76200"/>
                <a:ext cx="1124707" cy="683540"/>
              </a:xfrm>
              <a:prstGeom prst="rect">
                <a:avLst/>
              </a:prstGeom>
            </p:spPr>
            <p:txBody>
              <a:bodyPr anchor="ctr" rtlCol="false" tIns="50800" lIns="50800" bIns="50800" rIns="50800"/>
              <a:lstStyle/>
              <a:p>
                <a:pPr algn="ctr">
                  <a:lnSpc>
                    <a:spcPts val="3429"/>
                  </a:lnSpc>
                </a:pPr>
              </a:p>
            </p:txBody>
          </p:sp>
        </p:grpSp>
        <p:grpSp>
          <p:nvGrpSpPr>
            <p:cNvPr name="Group 10" id="10"/>
            <p:cNvGrpSpPr/>
            <p:nvPr/>
          </p:nvGrpSpPr>
          <p:grpSpPr>
            <a:xfrm rot="-10800000">
              <a:off x="15353375" y="0"/>
              <a:ext cx="7288099" cy="3935566"/>
              <a:chOff x="0" y="0"/>
              <a:chExt cx="1124707" cy="607340"/>
            </a:xfrm>
          </p:grpSpPr>
          <p:sp>
            <p:nvSpPr>
              <p:cNvPr name="Freeform 11" id="11"/>
              <p:cNvSpPr/>
              <p:nvPr/>
            </p:nvSpPr>
            <p:spPr>
              <a:xfrm flipH="false" flipV="false" rot="0">
                <a:off x="0" y="0"/>
                <a:ext cx="1124707" cy="607340"/>
              </a:xfrm>
              <a:custGeom>
                <a:avLst/>
                <a:gdLst/>
                <a:ahLst/>
                <a:cxnLst/>
                <a:rect r="r" b="b" t="t" l="l"/>
                <a:pathLst>
                  <a:path h="607340" w="1124707">
                    <a:moveTo>
                      <a:pt x="27663" y="0"/>
                    </a:moveTo>
                    <a:lnTo>
                      <a:pt x="1097043" y="0"/>
                    </a:lnTo>
                    <a:cubicBezTo>
                      <a:pt x="1112321" y="0"/>
                      <a:pt x="1124707" y="12385"/>
                      <a:pt x="1124707" y="27663"/>
                    </a:cubicBezTo>
                    <a:lnTo>
                      <a:pt x="1124707" y="579677"/>
                    </a:lnTo>
                    <a:cubicBezTo>
                      <a:pt x="1124707" y="594955"/>
                      <a:pt x="1112321" y="607340"/>
                      <a:pt x="1097043" y="607340"/>
                    </a:cubicBezTo>
                    <a:lnTo>
                      <a:pt x="27663" y="607340"/>
                    </a:lnTo>
                    <a:cubicBezTo>
                      <a:pt x="12385" y="607340"/>
                      <a:pt x="0" y="594955"/>
                      <a:pt x="0" y="579677"/>
                    </a:cubicBezTo>
                    <a:lnTo>
                      <a:pt x="0" y="27663"/>
                    </a:lnTo>
                    <a:cubicBezTo>
                      <a:pt x="0" y="12385"/>
                      <a:pt x="12385" y="0"/>
                      <a:pt x="27663" y="0"/>
                    </a:cubicBezTo>
                    <a:close/>
                  </a:path>
                </a:pathLst>
              </a:custGeom>
              <a:solidFill>
                <a:srgbClr val="FEFEFE"/>
              </a:solidFill>
              <a:ln w="28575" cap="rnd">
                <a:solidFill>
                  <a:srgbClr val="C6D6FF"/>
                </a:solidFill>
                <a:prstDash val="solid"/>
                <a:round/>
              </a:ln>
            </p:spPr>
          </p:sp>
          <p:sp>
            <p:nvSpPr>
              <p:cNvPr name="TextBox 12" id="12"/>
              <p:cNvSpPr txBox="true"/>
              <p:nvPr/>
            </p:nvSpPr>
            <p:spPr>
              <a:xfrm>
                <a:off x="0" y="-76200"/>
                <a:ext cx="1124707" cy="683540"/>
              </a:xfrm>
              <a:prstGeom prst="rect">
                <a:avLst/>
              </a:prstGeom>
            </p:spPr>
            <p:txBody>
              <a:bodyPr anchor="ctr" rtlCol="false" tIns="50800" lIns="50800" bIns="50800" rIns="50800"/>
              <a:lstStyle/>
              <a:p>
                <a:pPr algn="ctr">
                  <a:lnSpc>
                    <a:spcPts val="3429"/>
                  </a:lnSpc>
                </a:pPr>
              </a:p>
            </p:txBody>
          </p:sp>
        </p:grpSp>
      </p:grpSp>
      <p:sp>
        <p:nvSpPr>
          <p:cNvPr name="AutoShape 13" id="13"/>
          <p:cNvSpPr/>
          <p:nvPr/>
        </p:nvSpPr>
        <p:spPr>
          <a:xfrm>
            <a:off x="657281" y="3348472"/>
            <a:ext cx="5458407" cy="0"/>
          </a:xfrm>
          <a:prstGeom prst="line">
            <a:avLst/>
          </a:prstGeom>
          <a:ln cap="rnd" w="19050">
            <a:solidFill>
              <a:srgbClr val="6984FE"/>
            </a:solidFill>
            <a:prstDash val="solid"/>
            <a:headEnd type="none" len="sm" w="sm"/>
            <a:tailEnd type="none" len="sm" w="sm"/>
          </a:ln>
        </p:spPr>
      </p:sp>
      <p:sp>
        <p:nvSpPr>
          <p:cNvPr name="AutoShape 14" id="14"/>
          <p:cNvSpPr/>
          <p:nvPr/>
        </p:nvSpPr>
        <p:spPr>
          <a:xfrm>
            <a:off x="6412880" y="3348472"/>
            <a:ext cx="5466074" cy="0"/>
          </a:xfrm>
          <a:prstGeom prst="line">
            <a:avLst/>
          </a:prstGeom>
          <a:ln cap="rnd" w="19050">
            <a:solidFill>
              <a:srgbClr val="6984FE"/>
            </a:solidFill>
            <a:prstDash val="solid"/>
            <a:headEnd type="none" len="sm" w="sm"/>
            <a:tailEnd type="none" len="sm" w="sm"/>
          </a:ln>
        </p:spPr>
      </p:sp>
      <p:sp>
        <p:nvSpPr>
          <p:cNvPr name="AutoShape 15" id="15"/>
          <p:cNvSpPr/>
          <p:nvPr/>
        </p:nvSpPr>
        <p:spPr>
          <a:xfrm>
            <a:off x="12172312" y="3348472"/>
            <a:ext cx="5417919" cy="0"/>
          </a:xfrm>
          <a:prstGeom prst="line">
            <a:avLst/>
          </a:prstGeom>
          <a:ln cap="rnd" w="19050">
            <a:solidFill>
              <a:srgbClr val="6984FE"/>
            </a:solidFill>
            <a:prstDash val="solid"/>
            <a:headEnd type="none" len="sm" w="sm"/>
            <a:tailEnd type="none" len="sm" w="sm"/>
          </a:ln>
        </p:spPr>
      </p:sp>
      <p:grpSp>
        <p:nvGrpSpPr>
          <p:cNvPr name="Group 16" id="16"/>
          <p:cNvGrpSpPr/>
          <p:nvPr/>
        </p:nvGrpSpPr>
        <p:grpSpPr>
          <a:xfrm rot="0">
            <a:off x="3078090" y="2246552"/>
            <a:ext cx="542827" cy="54282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029"/>
                </a:lnSpc>
              </a:pPr>
              <a:r>
                <a:rPr lang="en-US" b="true" sz="1449" spc="-92">
                  <a:solidFill>
                    <a:srgbClr val="FFFFFF"/>
                  </a:solidFill>
                  <a:latin typeface="Roboto Bold"/>
                  <a:ea typeface="Roboto Bold"/>
                  <a:cs typeface="Roboto Bold"/>
                  <a:sym typeface="Roboto Bold"/>
                </a:rPr>
                <a:t>1</a:t>
              </a:r>
            </a:p>
          </p:txBody>
        </p:sp>
      </p:grpSp>
      <p:grpSp>
        <p:nvGrpSpPr>
          <p:cNvPr name="Group 19" id="19"/>
          <p:cNvGrpSpPr/>
          <p:nvPr/>
        </p:nvGrpSpPr>
        <p:grpSpPr>
          <a:xfrm rot="0">
            <a:off x="8856979" y="2246552"/>
            <a:ext cx="542827" cy="542827"/>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marL="0" indent="0" lvl="0">
                <a:lnSpc>
                  <a:spcPts val="2029"/>
                </a:lnSpc>
                <a:spcBef>
                  <a:spcPct val="0"/>
                </a:spcBef>
              </a:pPr>
              <a:r>
                <a:rPr lang="en-US" b="true" sz="1449" spc="-92" strike="noStrike" u="none">
                  <a:solidFill>
                    <a:srgbClr val="FFFFFF"/>
                  </a:solidFill>
                  <a:latin typeface="Roboto Bold"/>
                  <a:ea typeface="Roboto Bold"/>
                  <a:cs typeface="Roboto Bold"/>
                  <a:sym typeface="Roboto Bold"/>
                </a:rPr>
                <a:t>2</a:t>
              </a:r>
            </a:p>
          </p:txBody>
        </p:sp>
      </p:grpSp>
      <p:grpSp>
        <p:nvGrpSpPr>
          <p:cNvPr name="Group 22" id="22"/>
          <p:cNvGrpSpPr/>
          <p:nvPr/>
        </p:nvGrpSpPr>
        <p:grpSpPr>
          <a:xfrm rot="0">
            <a:off x="14635869" y="2246552"/>
            <a:ext cx="542827" cy="542827"/>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marL="0" indent="0" lvl="0">
                <a:lnSpc>
                  <a:spcPts val="2029"/>
                </a:lnSpc>
                <a:spcBef>
                  <a:spcPct val="0"/>
                </a:spcBef>
              </a:pPr>
              <a:r>
                <a:rPr lang="en-US" b="true" sz="1449" spc="-92" strike="noStrike" u="none">
                  <a:solidFill>
                    <a:srgbClr val="FFFFFF"/>
                  </a:solidFill>
                  <a:latin typeface="Roboto Bold"/>
                  <a:ea typeface="Roboto Bold"/>
                  <a:cs typeface="Roboto Bold"/>
                  <a:sym typeface="Roboto Bold"/>
                </a:rPr>
                <a:t>3</a:t>
              </a:r>
            </a:p>
          </p:txBody>
        </p:sp>
      </p:grpSp>
      <p:grpSp>
        <p:nvGrpSpPr>
          <p:cNvPr name="Group 25" id="25"/>
          <p:cNvGrpSpPr/>
          <p:nvPr/>
        </p:nvGrpSpPr>
        <p:grpSpPr>
          <a:xfrm rot="0">
            <a:off x="657281" y="5695950"/>
            <a:ext cx="16981106" cy="2951675"/>
            <a:chOff x="0" y="0"/>
            <a:chExt cx="22641474" cy="3935566"/>
          </a:xfrm>
        </p:grpSpPr>
        <p:grpSp>
          <p:nvGrpSpPr>
            <p:cNvPr name="Group 26" id="26"/>
            <p:cNvGrpSpPr/>
            <p:nvPr/>
          </p:nvGrpSpPr>
          <p:grpSpPr>
            <a:xfrm rot="-10800000">
              <a:off x="0" y="0"/>
              <a:ext cx="7288099" cy="3935566"/>
              <a:chOff x="0" y="0"/>
              <a:chExt cx="1124707" cy="607340"/>
            </a:xfrm>
          </p:grpSpPr>
          <p:sp>
            <p:nvSpPr>
              <p:cNvPr name="Freeform 27" id="27"/>
              <p:cNvSpPr/>
              <p:nvPr/>
            </p:nvSpPr>
            <p:spPr>
              <a:xfrm flipH="false" flipV="false" rot="0">
                <a:off x="0" y="0"/>
                <a:ext cx="1124707" cy="607340"/>
              </a:xfrm>
              <a:custGeom>
                <a:avLst/>
                <a:gdLst/>
                <a:ahLst/>
                <a:cxnLst/>
                <a:rect r="r" b="b" t="t" l="l"/>
                <a:pathLst>
                  <a:path h="607340" w="1124707">
                    <a:moveTo>
                      <a:pt x="27663" y="0"/>
                    </a:moveTo>
                    <a:lnTo>
                      <a:pt x="1097043" y="0"/>
                    </a:lnTo>
                    <a:cubicBezTo>
                      <a:pt x="1112321" y="0"/>
                      <a:pt x="1124707" y="12385"/>
                      <a:pt x="1124707" y="27663"/>
                    </a:cubicBezTo>
                    <a:lnTo>
                      <a:pt x="1124707" y="579677"/>
                    </a:lnTo>
                    <a:cubicBezTo>
                      <a:pt x="1124707" y="594955"/>
                      <a:pt x="1112321" y="607340"/>
                      <a:pt x="1097043" y="607340"/>
                    </a:cubicBezTo>
                    <a:lnTo>
                      <a:pt x="27663" y="607340"/>
                    </a:lnTo>
                    <a:cubicBezTo>
                      <a:pt x="12385" y="607340"/>
                      <a:pt x="0" y="594955"/>
                      <a:pt x="0" y="579677"/>
                    </a:cubicBezTo>
                    <a:lnTo>
                      <a:pt x="0" y="27663"/>
                    </a:lnTo>
                    <a:cubicBezTo>
                      <a:pt x="0" y="12385"/>
                      <a:pt x="12385" y="0"/>
                      <a:pt x="27663" y="0"/>
                    </a:cubicBezTo>
                    <a:close/>
                  </a:path>
                </a:pathLst>
              </a:custGeom>
              <a:solidFill>
                <a:srgbClr val="FEFEFE"/>
              </a:solidFill>
              <a:ln w="28575" cap="rnd">
                <a:solidFill>
                  <a:srgbClr val="C6D6FF"/>
                </a:solidFill>
                <a:prstDash val="solid"/>
                <a:round/>
              </a:ln>
            </p:spPr>
          </p:sp>
          <p:sp>
            <p:nvSpPr>
              <p:cNvPr name="TextBox 28" id="28"/>
              <p:cNvSpPr txBox="true"/>
              <p:nvPr/>
            </p:nvSpPr>
            <p:spPr>
              <a:xfrm>
                <a:off x="0" y="-76200"/>
                <a:ext cx="1124707" cy="683540"/>
              </a:xfrm>
              <a:prstGeom prst="rect">
                <a:avLst/>
              </a:prstGeom>
            </p:spPr>
            <p:txBody>
              <a:bodyPr anchor="ctr" rtlCol="false" tIns="50800" lIns="50800" bIns="50800" rIns="50800"/>
              <a:lstStyle/>
              <a:p>
                <a:pPr algn="ctr" marL="0" indent="0" lvl="0">
                  <a:lnSpc>
                    <a:spcPts val="3429"/>
                  </a:lnSpc>
                  <a:spcBef>
                    <a:spcPct val="0"/>
                  </a:spcBef>
                </a:pPr>
              </a:p>
            </p:txBody>
          </p:sp>
        </p:grpSp>
        <p:grpSp>
          <p:nvGrpSpPr>
            <p:cNvPr name="Group 29" id="29"/>
            <p:cNvGrpSpPr/>
            <p:nvPr/>
          </p:nvGrpSpPr>
          <p:grpSpPr>
            <a:xfrm rot="-10800000">
              <a:off x="7676688" y="0"/>
              <a:ext cx="7288099" cy="3935566"/>
              <a:chOff x="0" y="0"/>
              <a:chExt cx="1124707" cy="607340"/>
            </a:xfrm>
          </p:grpSpPr>
          <p:sp>
            <p:nvSpPr>
              <p:cNvPr name="Freeform 30" id="30"/>
              <p:cNvSpPr/>
              <p:nvPr/>
            </p:nvSpPr>
            <p:spPr>
              <a:xfrm flipH="false" flipV="false" rot="0">
                <a:off x="0" y="0"/>
                <a:ext cx="1124707" cy="607340"/>
              </a:xfrm>
              <a:custGeom>
                <a:avLst/>
                <a:gdLst/>
                <a:ahLst/>
                <a:cxnLst/>
                <a:rect r="r" b="b" t="t" l="l"/>
                <a:pathLst>
                  <a:path h="607340" w="1124707">
                    <a:moveTo>
                      <a:pt x="27663" y="0"/>
                    </a:moveTo>
                    <a:lnTo>
                      <a:pt x="1097043" y="0"/>
                    </a:lnTo>
                    <a:cubicBezTo>
                      <a:pt x="1112321" y="0"/>
                      <a:pt x="1124707" y="12385"/>
                      <a:pt x="1124707" y="27663"/>
                    </a:cubicBezTo>
                    <a:lnTo>
                      <a:pt x="1124707" y="579677"/>
                    </a:lnTo>
                    <a:cubicBezTo>
                      <a:pt x="1124707" y="594955"/>
                      <a:pt x="1112321" y="607340"/>
                      <a:pt x="1097043" y="607340"/>
                    </a:cubicBezTo>
                    <a:lnTo>
                      <a:pt x="27663" y="607340"/>
                    </a:lnTo>
                    <a:cubicBezTo>
                      <a:pt x="12385" y="607340"/>
                      <a:pt x="0" y="594955"/>
                      <a:pt x="0" y="579677"/>
                    </a:cubicBezTo>
                    <a:lnTo>
                      <a:pt x="0" y="27663"/>
                    </a:lnTo>
                    <a:cubicBezTo>
                      <a:pt x="0" y="12385"/>
                      <a:pt x="12385" y="0"/>
                      <a:pt x="27663" y="0"/>
                    </a:cubicBezTo>
                    <a:close/>
                  </a:path>
                </a:pathLst>
              </a:custGeom>
              <a:solidFill>
                <a:srgbClr val="FEFEFE"/>
              </a:solidFill>
              <a:ln w="28575" cap="rnd">
                <a:solidFill>
                  <a:srgbClr val="C6D6FF"/>
                </a:solidFill>
                <a:prstDash val="solid"/>
                <a:round/>
              </a:ln>
            </p:spPr>
          </p:sp>
          <p:sp>
            <p:nvSpPr>
              <p:cNvPr name="TextBox 31" id="31"/>
              <p:cNvSpPr txBox="true"/>
              <p:nvPr/>
            </p:nvSpPr>
            <p:spPr>
              <a:xfrm>
                <a:off x="0" y="-76200"/>
                <a:ext cx="1124707" cy="683540"/>
              </a:xfrm>
              <a:prstGeom prst="rect">
                <a:avLst/>
              </a:prstGeom>
            </p:spPr>
            <p:txBody>
              <a:bodyPr anchor="ctr" rtlCol="false" tIns="50800" lIns="50800" bIns="50800" rIns="50800"/>
              <a:lstStyle/>
              <a:p>
                <a:pPr algn="ctr" marL="0" indent="0" lvl="0">
                  <a:lnSpc>
                    <a:spcPts val="3429"/>
                  </a:lnSpc>
                  <a:spcBef>
                    <a:spcPct val="0"/>
                  </a:spcBef>
                </a:pPr>
              </a:p>
            </p:txBody>
          </p:sp>
        </p:grpSp>
        <p:grpSp>
          <p:nvGrpSpPr>
            <p:cNvPr name="Group 32" id="32"/>
            <p:cNvGrpSpPr/>
            <p:nvPr/>
          </p:nvGrpSpPr>
          <p:grpSpPr>
            <a:xfrm rot="-10800000">
              <a:off x="15353375" y="0"/>
              <a:ext cx="7288099" cy="3935566"/>
              <a:chOff x="0" y="0"/>
              <a:chExt cx="1124707" cy="607340"/>
            </a:xfrm>
          </p:grpSpPr>
          <p:sp>
            <p:nvSpPr>
              <p:cNvPr name="Freeform 33" id="33"/>
              <p:cNvSpPr/>
              <p:nvPr/>
            </p:nvSpPr>
            <p:spPr>
              <a:xfrm flipH="false" flipV="false" rot="0">
                <a:off x="0" y="0"/>
                <a:ext cx="1124707" cy="607340"/>
              </a:xfrm>
              <a:custGeom>
                <a:avLst/>
                <a:gdLst/>
                <a:ahLst/>
                <a:cxnLst/>
                <a:rect r="r" b="b" t="t" l="l"/>
                <a:pathLst>
                  <a:path h="607340" w="1124707">
                    <a:moveTo>
                      <a:pt x="27663" y="0"/>
                    </a:moveTo>
                    <a:lnTo>
                      <a:pt x="1097043" y="0"/>
                    </a:lnTo>
                    <a:cubicBezTo>
                      <a:pt x="1112321" y="0"/>
                      <a:pt x="1124707" y="12385"/>
                      <a:pt x="1124707" y="27663"/>
                    </a:cubicBezTo>
                    <a:lnTo>
                      <a:pt x="1124707" y="579677"/>
                    </a:lnTo>
                    <a:cubicBezTo>
                      <a:pt x="1124707" y="594955"/>
                      <a:pt x="1112321" y="607340"/>
                      <a:pt x="1097043" y="607340"/>
                    </a:cubicBezTo>
                    <a:lnTo>
                      <a:pt x="27663" y="607340"/>
                    </a:lnTo>
                    <a:cubicBezTo>
                      <a:pt x="12385" y="607340"/>
                      <a:pt x="0" y="594955"/>
                      <a:pt x="0" y="579677"/>
                    </a:cubicBezTo>
                    <a:lnTo>
                      <a:pt x="0" y="27663"/>
                    </a:lnTo>
                    <a:cubicBezTo>
                      <a:pt x="0" y="12385"/>
                      <a:pt x="12385" y="0"/>
                      <a:pt x="27663" y="0"/>
                    </a:cubicBezTo>
                    <a:close/>
                  </a:path>
                </a:pathLst>
              </a:custGeom>
              <a:solidFill>
                <a:srgbClr val="FEFEFE"/>
              </a:solidFill>
              <a:ln w="28575" cap="rnd">
                <a:solidFill>
                  <a:srgbClr val="C6D6FF"/>
                </a:solidFill>
                <a:prstDash val="solid"/>
                <a:round/>
              </a:ln>
            </p:spPr>
          </p:sp>
          <p:sp>
            <p:nvSpPr>
              <p:cNvPr name="TextBox 34" id="34"/>
              <p:cNvSpPr txBox="true"/>
              <p:nvPr/>
            </p:nvSpPr>
            <p:spPr>
              <a:xfrm>
                <a:off x="0" y="-76200"/>
                <a:ext cx="1124707" cy="683540"/>
              </a:xfrm>
              <a:prstGeom prst="rect">
                <a:avLst/>
              </a:prstGeom>
            </p:spPr>
            <p:txBody>
              <a:bodyPr anchor="ctr" rtlCol="false" tIns="50800" lIns="50800" bIns="50800" rIns="50800"/>
              <a:lstStyle/>
              <a:p>
                <a:pPr algn="ctr" marL="0" indent="0" lvl="0">
                  <a:lnSpc>
                    <a:spcPts val="3429"/>
                  </a:lnSpc>
                  <a:spcBef>
                    <a:spcPct val="0"/>
                  </a:spcBef>
                </a:pPr>
              </a:p>
            </p:txBody>
          </p:sp>
        </p:grpSp>
      </p:grpSp>
      <p:sp>
        <p:nvSpPr>
          <p:cNvPr name="AutoShape 35" id="35"/>
          <p:cNvSpPr/>
          <p:nvPr/>
        </p:nvSpPr>
        <p:spPr>
          <a:xfrm>
            <a:off x="661114" y="6847835"/>
            <a:ext cx="5462241" cy="0"/>
          </a:xfrm>
          <a:prstGeom prst="line">
            <a:avLst/>
          </a:prstGeom>
          <a:ln cap="rnd" w="19050">
            <a:solidFill>
              <a:srgbClr val="6984FE"/>
            </a:solidFill>
            <a:prstDash val="solid"/>
            <a:headEnd type="none" len="sm" w="sm"/>
            <a:tailEnd type="none" len="sm" w="sm"/>
          </a:ln>
        </p:spPr>
      </p:sp>
      <p:sp>
        <p:nvSpPr>
          <p:cNvPr name="AutoShape 36" id="36"/>
          <p:cNvSpPr/>
          <p:nvPr/>
        </p:nvSpPr>
        <p:spPr>
          <a:xfrm flipV="true">
            <a:off x="6414796" y="6847835"/>
            <a:ext cx="5466074" cy="0"/>
          </a:xfrm>
          <a:prstGeom prst="line">
            <a:avLst/>
          </a:prstGeom>
          <a:ln cap="rnd" w="19050">
            <a:solidFill>
              <a:srgbClr val="6984FE"/>
            </a:solidFill>
            <a:prstDash val="solid"/>
            <a:headEnd type="none" len="sm" w="sm"/>
            <a:tailEnd type="none" len="sm" w="sm"/>
          </a:ln>
        </p:spPr>
      </p:sp>
      <p:sp>
        <p:nvSpPr>
          <p:cNvPr name="AutoShape 37" id="37"/>
          <p:cNvSpPr/>
          <p:nvPr/>
        </p:nvSpPr>
        <p:spPr>
          <a:xfrm flipV="true">
            <a:off x="12176146" y="6847835"/>
            <a:ext cx="5462257" cy="9525"/>
          </a:xfrm>
          <a:prstGeom prst="line">
            <a:avLst/>
          </a:prstGeom>
          <a:ln cap="rnd" w="19050">
            <a:solidFill>
              <a:srgbClr val="6984FE"/>
            </a:solidFill>
            <a:prstDash val="solid"/>
            <a:headEnd type="none" len="sm" w="sm"/>
            <a:tailEnd type="none" len="sm" w="sm"/>
          </a:ln>
        </p:spPr>
      </p:sp>
      <p:grpSp>
        <p:nvGrpSpPr>
          <p:cNvPr name="Group 38" id="38"/>
          <p:cNvGrpSpPr/>
          <p:nvPr/>
        </p:nvGrpSpPr>
        <p:grpSpPr>
          <a:xfrm rot="0">
            <a:off x="3081923" y="5749240"/>
            <a:ext cx="542827" cy="542827"/>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marL="0" indent="0" lvl="0">
                <a:lnSpc>
                  <a:spcPts val="2029"/>
                </a:lnSpc>
                <a:spcBef>
                  <a:spcPct val="0"/>
                </a:spcBef>
              </a:pPr>
              <a:r>
                <a:rPr lang="en-US" b="true" sz="1449" spc="-92" strike="noStrike" u="none">
                  <a:solidFill>
                    <a:srgbClr val="FFFFFF"/>
                  </a:solidFill>
                  <a:latin typeface="Roboto Bold"/>
                  <a:ea typeface="Roboto Bold"/>
                  <a:cs typeface="Roboto Bold"/>
                  <a:sym typeface="Roboto Bold"/>
                </a:rPr>
                <a:t>4</a:t>
              </a:r>
            </a:p>
          </p:txBody>
        </p:sp>
      </p:grpSp>
      <p:grpSp>
        <p:nvGrpSpPr>
          <p:cNvPr name="Group 41" id="41"/>
          <p:cNvGrpSpPr/>
          <p:nvPr/>
        </p:nvGrpSpPr>
        <p:grpSpPr>
          <a:xfrm rot="0">
            <a:off x="8858896" y="5749240"/>
            <a:ext cx="542827" cy="542827"/>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3" id="43"/>
            <p:cNvSpPr txBox="true"/>
            <p:nvPr/>
          </p:nvSpPr>
          <p:spPr>
            <a:xfrm>
              <a:off x="76200" y="38100"/>
              <a:ext cx="660400" cy="698500"/>
            </a:xfrm>
            <a:prstGeom prst="rect">
              <a:avLst/>
            </a:prstGeom>
          </p:spPr>
          <p:txBody>
            <a:bodyPr anchor="ctr" rtlCol="false" tIns="50800" lIns="50800" bIns="50800" rIns="50800"/>
            <a:lstStyle/>
            <a:p>
              <a:pPr algn="ctr" marL="0" indent="0" lvl="0">
                <a:lnSpc>
                  <a:spcPts val="2029"/>
                </a:lnSpc>
                <a:spcBef>
                  <a:spcPct val="0"/>
                </a:spcBef>
              </a:pPr>
              <a:r>
                <a:rPr lang="en-US" b="true" sz="1449" spc="-92" strike="noStrike" u="none">
                  <a:solidFill>
                    <a:srgbClr val="FFFFFF"/>
                  </a:solidFill>
                  <a:latin typeface="Roboto Bold"/>
                  <a:ea typeface="Roboto Bold"/>
                  <a:cs typeface="Roboto Bold"/>
                  <a:sym typeface="Roboto Bold"/>
                </a:rPr>
                <a:t>5</a:t>
              </a:r>
            </a:p>
          </p:txBody>
        </p:sp>
      </p:grpSp>
      <p:grpSp>
        <p:nvGrpSpPr>
          <p:cNvPr name="Group 44" id="44"/>
          <p:cNvGrpSpPr/>
          <p:nvPr/>
        </p:nvGrpSpPr>
        <p:grpSpPr>
          <a:xfrm rot="0">
            <a:off x="14635869" y="5749240"/>
            <a:ext cx="542827" cy="542827"/>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293E9C">
                    <a:alpha val="100000"/>
                  </a:srgbClr>
                </a:gs>
                <a:gs pos="100000">
                  <a:srgbClr val="3A58E4">
                    <a:alpha val="100000"/>
                  </a:srgbClr>
                </a:gs>
              </a:gsLst>
              <a:path path="circle">
                <a:fillToRect l="0" r="100000" t="0" b="100000"/>
              </a:path>
              <a:tileRect r="0" l="-100000" b="0" t="-100000"/>
            </a:gradFill>
          </p:spPr>
        </p:sp>
        <p:sp>
          <p:nvSpPr>
            <p:cNvPr name="TextBox 46" id="46"/>
            <p:cNvSpPr txBox="true"/>
            <p:nvPr/>
          </p:nvSpPr>
          <p:spPr>
            <a:xfrm>
              <a:off x="76200" y="38100"/>
              <a:ext cx="660400" cy="698500"/>
            </a:xfrm>
            <a:prstGeom prst="rect">
              <a:avLst/>
            </a:prstGeom>
          </p:spPr>
          <p:txBody>
            <a:bodyPr anchor="ctr" rtlCol="false" tIns="50800" lIns="50800" bIns="50800" rIns="50800"/>
            <a:lstStyle/>
            <a:p>
              <a:pPr algn="ctr" marL="0" indent="0" lvl="0">
                <a:lnSpc>
                  <a:spcPts val="2029"/>
                </a:lnSpc>
                <a:spcBef>
                  <a:spcPct val="0"/>
                </a:spcBef>
              </a:pPr>
              <a:r>
                <a:rPr lang="en-US" b="true" sz="1449" spc="-92" strike="noStrike" u="none">
                  <a:solidFill>
                    <a:srgbClr val="FFFFFF"/>
                  </a:solidFill>
                  <a:latin typeface="Roboto Bold"/>
                  <a:ea typeface="Roboto Bold"/>
                  <a:cs typeface="Roboto Bold"/>
                  <a:sym typeface="Roboto Bold"/>
                </a:rPr>
                <a:t>6</a:t>
              </a:r>
            </a:p>
          </p:txBody>
        </p:sp>
      </p:grpSp>
      <p:grpSp>
        <p:nvGrpSpPr>
          <p:cNvPr name="Group 47" id="47"/>
          <p:cNvGrpSpPr/>
          <p:nvPr/>
        </p:nvGrpSpPr>
        <p:grpSpPr>
          <a:xfrm rot="0">
            <a:off x="2390801" y="109472"/>
            <a:ext cx="13506397" cy="1472753"/>
            <a:chOff x="0" y="0"/>
            <a:chExt cx="2779094" cy="303036"/>
          </a:xfrm>
        </p:grpSpPr>
        <p:sp>
          <p:nvSpPr>
            <p:cNvPr name="Freeform 48" id="48"/>
            <p:cNvSpPr/>
            <p:nvPr/>
          </p:nvSpPr>
          <p:spPr>
            <a:xfrm flipH="false" flipV="false" rot="0">
              <a:off x="0" y="0"/>
              <a:ext cx="2779094" cy="303036"/>
            </a:xfrm>
            <a:custGeom>
              <a:avLst/>
              <a:gdLst/>
              <a:ahLst/>
              <a:cxnLst/>
              <a:rect r="r" b="b" t="t" l="l"/>
              <a:pathLst>
                <a:path h="303036" w="2779094">
                  <a:moveTo>
                    <a:pt x="11195" y="0"/>
                  </a:moveTo>
                  <a:lnTo>
                    <a:pt x="2767899" y="0"/>
                  </a:lnTo>
                  <a:cubicBezTo>
                    <a:pt x="2774082" y="0"/>
                    <a:pt x="2779094" y="5012"/>
                    <a:pt x="2779094" y="11195"/>
                  </a:cubicBezTo>
                  <a:lnTo>
                    <a:pt x="2779094" y="291840"/>
                  </a:lnTo>
                  <a:cubicBezTo>
                    <a:pt x="2779094" y="298023"/>
                    <a:pt x="2774082" y="303036"/>
                    <a:pt x="2767899" y="303036"/>
                  </a:cubicBezTo>
                  <a:lnTo>
                    <a:pt x="11195" y="303036"/>
                  </a:lnTo>
                  <a:cubicBezTo>
                    <a:pt x="5012" y="303036"/>
                    <a:pt x="0" y="298023"/>
                    <a:pt x="0" y="291840"/>
                  </a:cubicBezTo>
                  <a:lnTo>
                    <a:pt x="0" y="11195"/>
                  </a:lnTo>
                  <a:cubicBezTo>
                    <a:pt x="0" y="5012"/>
                    <a:pt x="5012" y="0"/>
                    <a:pt x="11195" y="0"/>
                  </a:cubicBezTo>
                  <a:close/>
                </a:path>
              </a:pathLst>
            </a:custGeom>
            <a:gradFill rotWithShape="true">
              <a:gsLst>
                <a:gs pos="0">
                  <a:srgbClr val="001F65">
                    <a:alpha val="100000"/>
                  </a:srgbClr>
                </a:gs>
                <a:gs pos="100000">
                  <a:srgbClr val="6895FD">
                    <a:alpha val="100000"/>
                  </a:srgbClr>
                </a:gs>
              </a:gsLst>
              <a:lin ang="5400000"/>
            </a:gradFill>
          </p:spPr>
        </p:sp>
        <p:sp>
          <p:nvSpPr>
            <p:cNvPr name="TextBox 49" id="49"/>
            <p:cNvSpPr txBox="true"/>
            <p:nvPr/>
          </p:nvSpPr>
          <p:spPr>
            <a:xfrm>
              <a:off x="0" y="-76200"/>
              <a:ext cx="2779094" cy="379236"/>
            </a:xfrm>
            <a:prstGeom prst="rect">
              <a:avLst/>
            </a:prstGeom>
          </p:spPr>
          <p:txBody>
            <a:bodyPr anchor="ctr" rtlCol="false" tIns="50800" lIns="50800" bIns="50800" rIns="50800"/>
            <a:lstStyle/>
            <a:p>
              <a:pPr algn="ctr">
                <a:lnSpc>
                  <a:spcPts val="3040"/>
                </a:lnSpc>
              </a:pPr>
            </a:p>
          </p:txBody>
        </p:sp>
      </p:grpSp>
      <p:sp>
        <p:nvSpPr>
          <p:cNvPr name="Freeform 50" id="50"/>
          <p:cNvSpPr/>
          <p:nvPr/>
        </p:nvSpPr>
        <p:spPr>
          <a:xfrm flipH="false" flipV="false" rot="0">
            <a:off x="653447" y="8952498"/>
            <a:ext cx="1836354" cy="1004987"/>
          </a:xfrm>
          <a:custGeom>
            <a:avLst/>
            <a:gdLst/>
            <a:ahLst/>
            <a:cxnLst/>
            <a:rect r="r" b="b" t="t" l="l"/>
            <a:pathLst>
              <a:path h="1004987" w="1836354">
                <a:moveTo>
                  <a:pt x="0" y="0"/>
                </a:moveTo>
                <a:lnTo>
                  <a:pt x="1836354" y="0"/>
                </a:lnTo>
                <a:lnTo>
                  <a:pt x="1836354" y="1004987"/>
                </a:lnTo>
                <a:lnTo>
                  <a:pt x="0" y="1004987"/>
                </a:lnTo>
                <a:lnTo>
                  <a:pt x="0" y="0"/>
                </a:lnTo>
                <a:close/>
              </a:path>
            </a:pathLst>
          </a:custGeom>
          <a:blipFill>
            <a:blip r:embed="rId3">
              <a:alphaModFix amt="90000"/>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51" id="51"/>
          <p:cNvGrpSpPr/>
          <p:nvPr/>
        </p:nvGrpSpPr>
        <p:grpSpPr>
          <a:xfrm rot="0">
            <a:off x="15897199" y="9050272"/>
            <a:ext cx="3086100" cy="3086100"/>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CF1FE">
                <a:alpha val="63922"/>
              </a:srgbClr>
            </a:solidFill>
          </p:spPr>
        </p:sp>
        <p:sp>
          <p:nvSpPr>
            <p:cNvPr name="TextBox 53" id="53"/>
            <p:cNvSpPr txBox="true"/>
            <p:nvPr/>
          </p:nvSpPr>
          <p:spPr>
            <a:xfrm>
              <a:off x="76200" y="9525"/>
              <a:ext cx="660400" cy="727075"/>
            </a:xfrm>
            <a:prstGeom prst="rect">
              <a:avLst/>
            </a:prstGeom>
          </p:spPr>
          <p:txBody>
            <a:bodyPr anchor="ctr" rtlCol="false" tIns="50800" lIns="50800" bIns="50800" rIns="50800"/>
            <a:lstStyle/>
            <a:p>
              <a:pPr algn="ctr">
                <a:lnSpc>
                  <a:spcPts val="3429"/>
                </a:lnSpc>
              </a:pPr>
            </a:p>
          </p:txBody>
        </p:sp>
      </p:grpSp>
      <p:sp>
        <p:nvSpPr>
          <p:cNvPr name="TextBox 54" id="54"/>
          <p:cNvSpPr txBox="true"/>
          <p:nvPr/>
        </p:nvSpPr>
        <p:spPr>
          <a:xfrm rot="0">
            <a:off x="653447" y="2809865"/>
            <a:ext cx="5462241" cy="430530"/>
          </a:xfrm>
          <a:prstGeom prst="rect">
            <a:avLst/>
          </a:prstGeom>
        </p:spPr>
        <p:txBody>
          <a:bodyPr anchor="t" rtlCol="false" tIns="0" lIns="0" bIns="0" rIns="0">
            <a:spAutoFit/>
          </a:bodyPr>
          <a:lstStyle/>
          <a:p>
            <a:pPr algn="ctr" marL="0" indent="0" lvl="0">
              <a:lnSpc>
                <a:spcPts val="3569"/>
              </a:lnSpc>
              <a:spcBef>
                <a:spcPct val="0"/>
              </a:spcBef>
            </a:pPr>
            <a:r>
              <a:rPr lang="en-US" b="true" sz="2550" strike="noStrike" u="none">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Tăng số giao dịch thành công</a:t>
            </a:r>
          </a:p>
        </p:txBody>
      </p:sp>
      <p:sp>
        <p:nvSpPr>
          <p:cNvPr name="TextBox 55" id="55"/>
          <p:cNvSpPr txBox="true"/>
          <p:nvPr/>
        </p:nvSpPr>
        <p:spPr>
          <a:xfrm rot="0">
            <a:off x="6562474" y="2809865"/>
            <a:ext cx="5462241" cy="430530"/>
          </a:xfrm>
          <a:prstGeom prst="rect">
            <a:avLst/>
          </a:prstGeom>
        </p:spPr>
        <p:txBody>
          <a:bodyPr anchor="t" rtlCol="false" tIns="0" lIns="0" bIns="0" rIns="0">
            <a:spAutoFit/>
          </a:bodyPr>
          <a:lstStyle/>
          <a:p>
            <a:pPr algn="ctr" marL="0" indent="0" lvl="0">
              <a:lnSpc>
                <a:spcPts val="3569"/>
              </a:lnSpc>
              <a:spcBef>
                <a:spcPct val="0"/>
              </a:spcBef>
            </a:pPr>
            <a:r>
              <a:rPr lang="en-US" b="true" sz="2550" strike="noStrike" u="none">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Tăng tỷ lệ khách quay lại</a:t>
            </a:r>
          </a:p>
        </p:txBody>
      </p:sp>
      <p:sp>
        <p:nvSpPr>
          <p:cNvPr name="TextBox 56" id="56"/>
          <p:cNvSpPr txBox="true"/>
          <p:nvPr/>
        </p:nvSpPr>
        <p:spPr>
          <a:xfrm rot="0">
            <a:off x="12172329" y="2809865"/>
            <a:ext cx="5462241" cy="430530"/>
          </a:xfrm>
          <a:prstGeom prst="rect">
            <a:avLst/>
          </a:prstGeom>
        </p:spPr>
        <p:txBody>
          <a:bodyPr anchor="t" rtlCol="false" tIns="0" lIns="0" bIns="0" rIns="0">
            <a:spAutoFit/>
          </a:bodyPr>
          <a:lstStyle/>
          <a:p>
            <a:pPr algn="ctr" marL="0" indent="0" lvl="0">
              <a:lnSpc>
                <a:spcPts val="3569"/>
              </a:lnSpc>
              <a:spcBef>
                <a:spcPct val="0"/>
              </a:spcBef>
            </a:pPr>
            <a:r>
              <a:rPr lang="en-US" b="true" sz="2550">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G</a:t>
            </a:r>
            <a:r>
              <a:rPr lang="en-US" b="true" sz="2550" strike="noStrike" u="none">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iảm ph</a:t>
            </a:r>
            <a:r>
              <a:rPr lang="en-US" b="true" sz="2550" strike="noStrike" u="none">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ụ</a:t>
            </a:r>
            <a:r>
              <a:rPr lang="en-US" b="true" sz="2550" strike="noStrike" u="none">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 th</a:t>
            </a:r>
            <a:r>
              <a:rPr lang="en-US" b="true" sz="2550" strike="noStrike" u="none">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uộc v</a:t>
            </a:r>
            <a:r>
              <a:rPr lang="en-US" b="true" sz="2550" strike="noStrike" u="none">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à</a:t>
            </a:r>
            <a:r>
              <a:rPr lang="en-US" b="true" sz="2550" strike="noStrike" u="none">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o khuyế</a:t>
            </a:r>
            <a:r>
              <a:rPr lang="en-US" b="true" sz="2550" strike="noStrike" u="none">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n mãi</a:t>
            </a:r>
          </a:p>
        </p:txBody>
      </p:sp>
      <p:sp>
        <p:nvSpPr>
          <p:cNvPr name="TextBox 57" id="57"/>
          <p:cNvSpPr txBox="true"/>
          <p:nvPr/>
        </p:nvSpPr>
        <p:spPr>
          <a:xfrm rot="0">
            <a:off x="1028700" y="3362760"/>
            <a:ext cx="3262759" cy="1308099"/>
          </a:xfrm>
          <a:prstGeom prst="rect">
            <a:avLst/>
          </a:prstGeom>
        </p:spPr>
        <p:txBody>
          <a:bodyPr anchor="t" rtlCol="false" tIns="0" lIns="0" bIns="0" rIns="0">
            <a:spAutoFit/>
          </a:bodyPr>
          <a:lstStyle/>
          <a:p>
            <a:pPr algn="l" marL="539754" indent="-269877" lvl="1">
              <a:lnSpc>
                <a:spcPts val="3500"/>
              </a:lnSpc>
              <a:buFont typeface="Arial"/>
              <a:buChar char="•"/>
            </a:pPr>
            <a:r>
              <a:rPr lang="en-US" sz="2500">
                <a:solidFill>
                  <a:srgbClr val="000000"/>
                </a:solidFill>
                <a:latin typeface="Noto Sans"/>
                <a:ea typeface="Noto Sans"/>
                <a:cs typeface="Noto Sans"/>
                <a:sym typeface="Noto Sans"/>
              </a:rPr>
              <a:t>V</a:t>
            </a:r>
            <a:r>
              <a:rPr lang="en-US" sz="2500" strike="noStrike" u="none">
                <a:solidFill>
                  <a:srgbClr val="000000"/>
                </a:solidFill>
                <a:latin typeface="Noto Sans"/>
                <a:ea typeface="Noto Sans"/>
                <a:cs typeface="Noto Sans"/>
                <a:sym typeface="Noto Sans"/>
              </a:rPr>
              <a:t>é đặt thà</a:t>
            </a:r>
            <a:r>
              <a:rPr lang="en-US" sz="2500" strike="noStrike" u="none">
                <a:solidFill>
                  <a:srgbClr val="000000"/>
                </a:solidFill>
                <a:latin typeface="Noto Sans"/>
                <a:ea typeface="Noto Sans"/>
                <a:cs typeface="Noto Sans"/>
                <a:sym typeface="Noto Sans"/>
              </a:rPr>
              <a:t>n</a:t>
            </a:r>
            <a:r>
              <a:rPr lang="en-US" sz="2500" strike="noStrike" u="none">
                <a:solidFill>
                  <a:srgbClr val="000000"/>
                </a:solidFill>
                <a:latin typeface="Noto Sans"/>
                <a:ea typeface="Noto Sans"/>
                <a:cs typeface="Noto Sans"/>
                <a:sym typeface="Noto Sans"/>
              </a:rPr>
              <a:t>h</a:t>
            </a:r>
            <a:r>
              <a:rPr lang="en-US" sz="2500" strike="noStrike" u="none">
                <a:solidFill>
                  <a:srgbClr val="000000"/>
                </a:solidFill>
                <a:latin typeface="Noto Sans"/>
                <a:ea typeface="Noto Sans"/>
                <a:cs typeface="Noto Sans"/>
                <a:sym typeface="Noto Sans"/>
              </a:rPr>
              <a:t> </a:t>
            </a:r>
            <a:r>
              <a:rPr lang="en-US" sz="2500" strike="noStrike" u="none">
                <a:solidFill>
                  <a:srgbClr val="000000"/>
                </a:solidFill>
                <a:latin typeface="Noto Sans"/>
                <a:ea typeface="Noto Sans"/>
                <a:cs typeface="Noto Sans"/>
                <a:sym typeface="Noto Sans"/>
              </a:rPr>
              <a:t>cô</a:t>
            </a:r>
            <a:r>
              <a:rPr lang="en-US" sz="2500" strike="noStrike" u="none">
                <a:solidFill>
                  <a:srgbClr val="000000"/>
                </a:solidFill>
                <a:latin typeface="Noto Sans"/>
                <a:ea typeface="Noto Sans"/>
                <a:cs typeface="Noto Sans"/>
                <a:sym typeface="Noto Sans"/>
              </a:rPr>
              <a:t>ng</a:t>
            </a:r>
          </a:p>
          <a:p>
            <a:pPr algn="l" marL="539754" indent="-269877" lvl="1">
              <a:lnSpc>
                <a:spcPts val="3500"/>
              </a:lnSpc>
              <a:buFont typeface="Arial"/>
              <a:buChar char="•"/>
            </a:pPr>
            <a:r>
              <a:rPr lang="en-US" sz="2500" strike="noStrike" u="none">
                <a:solidFill>
                  <a:srgbClr val="000000"/>
                </a:solidFill>
                <a:latin typeface="Noto Sans"/>
                <a:ea typeface="Noto Sans"/>
                <a:cs typeface="Noto Sans"/>
                <a:sym typeface="Noto Sans"/>
              </a:rPr>
              <a:t>Tỷ lệ chuyển đổi</a:t>
            </a:r>
          </a:p>
          <a:p>
            <a:pPr algn="l" marL="539754" indent="-269877" lvl="1">
              <a:lnSpc>
                <a:spcPts val="3500"/>
              </a:lnSpc>
              <a:buFont typeface="Arial"/>
              <a:buChar char="•"/>
            </a:pPr>
            <a:r>
              <a:rPr lang="en-US" sz="2500" strike="noStrike" u="none">
                <a:solidFill>
                  <a:srgbClr val="000000"/>
                </a:solidFill>
                <a:latin typeface="Noto Sans"/>
                <a:ea typeface="Noto Sans"/>
                <a:cs typeface="Noto Sans"/>
                <a:sym typeface="Noto Sans"/>
              </a:rPr>
              <a:t>Doanh thu</a:t>
            </a:r>
          </a:p>
        </p:txBody>
      </p:sp>
      <p:sp>
        <p:nvSpPr>
          <p:cNvPr name="TextBox 58" id="58"/>
          <p:cNvSpPr txBox="true"/>
          <p:nvPr/>
        </p:nvSpPr>
        <p:spPr>
          <a:xfrm rot="0">
            <a:off x="6562474" y="3382132"/>
            <a:ext cx="4468862" cy="869949"/>
          </a:xfrm>
          <a:prstGeom prst="rect">
            <a:avLst/>
          </a:prstGeom>
        </p:spPr>
        <p:txBody>
          <a:bodyPr anchor="t" rtlCol="false" tIns="0" lIns="0" bIns="0" rIns="0">
            <a:spAutoFit/>
          </a:bodyPr>
          <a:lstStyle/>
          <a:p>
            <a:pPr algn="l" marL="539754" indent="-269877" lvl="1">
              <a:lnSpc>
                <a:spcPts val="3500"/>
              </a:lnSpc>
              <a:buFont typeface="Arial"/>
              <a:buChar char="•"/>
            </a:pPr>
            <a:r>
              <a:rPr lang="en-US" sz="2500">
                <a:solidFill>
                  <a:srgbClr val="000000"/>
                </a:solidFill>
                <a:latin typeface="Noto Sans"/>
                <a:ea typeface="Noto Sans"/>
                <a:cs typeface="Noto Sans"/>
                <a:sym typeface="Noto Sans"/>
              </a:rPr>
              <a:t>Mua</a:t>
            </a:r>
            <a:r>
              <a:rPr lang="en-US" sz="2500" strike="noStrike" u="none">
                <a:solidFill>
                  <a:srgbClr val="000000"/>
                </a:solidFill>
                <a:latin typeface="Noto Sans"/>
                <a:ea typeface="Noto Sans"/>
                <a:cs typeface="Noto Sans"/>
                <a:sym typeface="Noto Sans"/>
              </a:rPr>
              <a:t> lại lần nữa</a:t>
            </a:r>
          </a:p>
          <a:p>
            <a:pPr algn="l" marL="539754" indent="-269877" lvl="1">
              <a:lnSpc>
                <a:spcPts val="3500"/>
              </a:lnSpc>
              <a:buFont typeface="Arial"/>
              <a:buChar char="•"/>
            </a:pPr>
            <a:r>
              <a:rPr lang="en-US" sz="2500" strike="noStrike" u="none">
                <a:solidFill>
                  <a:srgbClr val="000000"/>
                </a:solidFill>
                <a:latin typeface="Noto Sans"/>
                <a:ea typeface="Noto Sans"/>
                <a:cs typeface="Noto Sans"/>
                <a:sym typeface="Noto Sans"/>
              </a:rPr>
              <a:t>Tỷ lệ giữ chân sau 30 ngày</a:t>
            </a:r>
          </a:p>
        </p:txBody>
      </p:sp>
      <p:sp>
        <p:nvSpPr>
          <p:cNvPr name="TextBox 59" id="59"/>
          <p:cNvSpPr txBox="true"/>
          <p:nvPr/>
        </p:nvSpPr>
        <p:spPr>
          <a:xfrm rot="0">
            <a:off x="12168479" y="3382132"/>
            <a:ext cx="5344864" cy="869949"/>
          </a:xfrm>
          <a:prstGeom prst="rect">
            <a:avLst/>
          </a:prstGeom>
        </p:spPr>
        <p:txBody>
          <a:bodyPr anchor="t" rtlCol="false" tIns="0" lIns="0" bIns="0" rIns="0">
            <a:spAutoFit/>
          </a:bodyPr>
          <a:lstStyle/>
          <a:p>
            <a:pPr algn="l" marL="539754" indent="-269877" lvl="1">
              <a:lnSpc>
                <a:spcPts val="3500"/>
              </a:lnSpc>
              <a:buFont typeface="Arial"/>
              <a:buChar char="•"/>
            </a:pPr>
            <a:r>
              <a:rPr lang="en-US" sz="2500" strike="noStrike" u="none">
                <a:solidFill>
                  <a:srgbClr val="000000"/>
                </a:solidFill>
                <a:latin typeface="Noto Sans"/>
                <a:ea typeface="Noto Sans"/>
                <a:cs typeface="Noto Sans"/>
                <a:sym typeface="Noto Sans"/>
              </a:rPr>
              <a:t>Mua lại không dùng khuyến mãi</a:t>
            </a:r>
          </a:p>
          <a:p>
            <a:pPr algn="l" marL="539754" indent="-269877" lvl="1">
              <a:lnSpc>
                <a:spcPts val="3500"/>
              </a:lnSpc>
              <a:buFont typeface="Arial"/>
              <a:buChar char="•"/>
            </a:pPr>
            <a:r>
              <a:rPr lang="en-US" sz="2500" strike="noStrike" u="none">
                <a:solidFill>
                  <a:srgbClr val="000000"/>
                </a:solidFill>
                <a:latin typeface="Noto Sans"/>
                <a:ea typeface="Noto Sans"/>
                <a:cs typeface="Noto Sans"/>
                <a:sym typeface="Noto Sans"/>
              </a:rPr>
              <a:t>Hiệu quả khuyến mãi</a:t>
            </a:r>
          </a:p>
        </p:txBody>
      </p:sp>
      <p:sp>
        <p:nvSpPr>
          <p:cNvPr name="TextBox 60" id="60"/>
          <p:cNvSpPr txBox="true"/>
          <p:nvPr/>
        </p:nvSpPr>
        <p:spPr>
          <a:xfrm rot="0">
            <a:off x="657281" y="6313990"/>
            <a:ext cx="5462241" cy="430530"/>
          </a:xfrm>
          <a:prstGeom prst="rect">
            <a:avLst/>
          </a:prstGeom>
        </p:spPr>
        <p:txBody>
          <a:bodyPr anchor="t" rtlCol="false" tIns="0" lIns="0" bIns="0" rIns="0">
            <a:spAutoFit/>
          </a:bodyPr>
          <a:lstStyle/>
          <a:p>
            <a:pPr algn="ctr" marL="0" indent="0" lvl="0">
              <a:lnSpc>
                <a:spcPts val="3569"/>
              </a:lnSpc>
              <a:spcBef>
                <a:spcPct val="0"/>
              </a:spcBef>
            </a:pPr>
            <a:r>
              <a:rPr lang="en-US" b="true" sz="2550" strike="noStrike" u="none">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Cải thiện thanh toán</a:t>
            </a:r>
          </a:p>
        </p:txBody>
      </p:sp>
      <p:sp>
        <p:nvSpPr>
          <p:cNvPr name="TextBox 61" id="61"/>
          <p:cNvSpPr txBox="true"/>
          <p:nvPr/>
        </p:nvSpPr>
        <p:spPr>
          <a:xfrm rot="0">
            <a:off x="6410963" y="6313990"/>
            <a:ext cx="5462241" cy="430530"/>
          </a:xfrm>
          <a:prstGeom prst="rect">
            <a:avLst/>
          </a:prstGeom>
        </p:spPr>
        <p:txBody>
          <a:bodyPr anchor="t" rtlCol="false" tIns="0" lIns="0" bIns="0" rIns="0">
            <a:spAutoFit/>
          </a:bodyPr>
          <a:lstStyle/>
          <a:p>
            <a:pPr algn="ctr" marL="0" indent="0" lvl="0">
              <a:lnSpc>
                <a:spcPts val="3569"/>
              </a:lnSpc>
              <a:spcBef>
                <a:spcPct val="0"/>
              </a:spcBef>
            </a:pPr>
            <a:r>
              <a:rPr lang="en-US" b="true" sz="2550" strike="noStrike" u="none">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Tối ưu mobile</a:t>
            </a:r>
          </a:p>
        </p:txBody>
      </p:sp>
      <p:sp>
        <p:nvSpPr>
          <p:cNvPr name="TextBox 62" id="62"/>
          <p:cNvSpPr txBox="true"/>
          <p:nvPr/>
        </p:nvSpPr>
        <p:spPr>
          <a:xfrm rot="0">
            <a:off x="12176162" y="6313990"/>
            <a:ext cx="5462241" cy="430530"/>
          </a:xfrm>
          <a:prstGeom prst="rect">
            <a:avLst/>
          </a:prstGeom>
        </p:spPr>
        <p:txBody>
          <a:bodyPr anchor="t" rtlCol="false" tIns="0" lIns="0" bIns="0" rIns="0">
            <a:spAutoFit/>
          </a:bodyPr>
          <a:lstStyle/>
          <a:p>
            <a:pPr algn="ctr" marL="0" indent="0" lvl="0">
              <a:lnSpc>
                <a:spcPts val="3569"/>
              </a:lnSpc>
              <a:spcBef>
                <a:spcPct val="0"/>
              </a:spcBef>
            </a:pPr>
            <a:r>
              <a:rPr lang="en-US" b="true" sz="2550" strike="noStrike" u="none">
                <a:gradFill>
                  <a:gsLst>
                    <a:gs pos="0">
                      <a:srgbClr val="293E9C">
                        <a:alpha val="100000"/>
                      </a:srgbClr>
                    </a:gs>
                    <a:gs pos="100000">
                      <a:srgbClr val="3A58E4">
                        <a:alpha val="100000"/>
                      </a:srgbClr>
                    </a:gs>
                  </a:gsLst>
                  <a:path path="circle">
                    <a:fillToRect l="0" r="100000" t="0" b="100000"/>
                  </a:path>
                  <a:tileRect r="0" l="-100000" b="0" t="-100000"/>
                </a:gradFill>
                <a:latin typeface="Noto Sans Bold"/>
                <a:ea typeface="Noto Sans Bold"/>
                <a:cs typeface="Noto Sans Bold"/>
                <a:sym typeface="Noto Sans Bold"/>
              </a:rPr>
              <a:t>Nâng cao giá trị khách hàng</a:t>
            </a:r>
          </a:p>
        </p:txBody>
      </p:sp>
      <p:sp>
        <p:nvSpPr>
          <p:cNvPr name="TextBox 63" id="63"/>
          <p:cNvSpPr txBox="true"/>
          <p:nvPr/>
        </p:nvSpPr>
        <p:spPr>
          <a:xfrm rot="0">
            <a:off x="1032534" y="6866885"/>
            <a:ext cx="4731097" cy="869949"/>
          </a:xfrm>
          <a:prstGeom prst="rect">
            <a:avLst/>
          </a:prstGeom>
        </p:spPr>
        <p:txBody>
          <a:bodyPr anchor="t" rtlCol="false" tIns="0" lIns="0" bIns="0" rIns="0">
            <a:spAutoFit/>
          </a:bodyPr>
          <a:lstStyle/>
          <a:p>
            <a:pPr algn="l" marL="539754" indent="-269877" lvl="1">
              <a:lnSpc>
                <a:spcPts val="3500"/>
              </a:lnSpc>
              <a:buFont typeface="Arial"/>
              <a:buChar char="•"/>
            </a:pPr>
            <a:r>
              <a:rPr lang="en-US" sz="2500" strike="noStrike" u="none">
                <a:solidFill>
                  <a:srgbClr val="000000"/>
                </a:solidFill>
                <a:latin typeface="Noto Sans"/>
                <a:ea typeface="Noto Sans"/>
                <a:cs typeface="Noto Sans"/>
                <a:sym typeface="Noto Sans"/>
              </a:rPr>
              <a:t>Tỷ lệ thanh toán thành công</a:t>
            </a:r>
          </a:p>
          <a:p>
            <a:pPr algn="l" marL="539754" indent="-269877" lvl="1">
              <a:lnSpc>
                <a:spcPts val="3500"/>
              </a:lnSpc>
              <a:buFont typeface="Arial"/>
              <a:buChar char="•"/>
            </a:pPr>
            <a:r>
              <a:rPr lang="en-US" sz="2500" strike="noStrike" u="none">
                <a:solidFill>
                  <a:srgbClr val="000000"/>
                </a:solidFill>
                <a:latin typeface="Noto Sans"/>
                <a:ea typeface="Noto Sans"/>
                <a:cs typeface="Noto Sans"/>
                <a:sym typeface="Noto Sans"/>
              </a:rPr>
              <a:t>Tỷ lệ lỗi thanh toán</a:t>
            </a:r>
          </a:p>
        </p:txBody>
      </p:sp>
      <p:sp>
        <p:nvSpPr>
          <p:cNvPr name="TextBox 64" id="64"/>
          <p:cNvSpPr txBox="true"/>
          <p:nvPr/>
        </p:nvSpPr>
        <p:spPr>
          <a:xfrm rot="0">
            <a:off x="6566308" y="6886257"/>
            <a:ext cx="5196767" cy="1308099"/>
          </a:xfrm>
          <a:prstGeom prst="rect">
            <a:avLst/>
          </a:prstGeom>
        </p:spPr>
        <p:txBody>
          <a:bodyPr anchor="t" rtlCol="false" tIns="0" lIns="0" bIns="0" rIns="0">
            <a:spAutoFit/>
          </a:bodyPr>
          <a:lstStyle/>
          <a:p>
            <a:pPr algn="l" marL="539754" indent="-269877" lvl="1">
              <a:lnSpc>
                <a:spcPts val="3500"/>
              </a:lnSpc>
              <a:buFont typeface="Arial"/>
              <a:buChar char="•"/>
            </a:pPr>
            <a:r>
              <a:rPr lang="en-US" sz="2500" strike="noStrike" u="none">
                <a:solidFill>
                  <a:srgbClr val="000000"/>
                </a:solidFill>
                <a:latin typeface="Noto Sans"/>
                <a:ea typeface="Noto Sans"/>
                <a:cs typeface="Noto Sans"/>
                <a:sym typeface="Noto Sans"/>
              </a:rPr>
              <a:t>Tỷ lệ chuyển đổi trên mobile</a:t>
            </a:r>
          </a:p>
          <a:p>
            <a:pPr algn="l" marL="539754" indent="-269877" lvl="1">
              <a:lnSpc>
                <a:spcPts val="3500"/>
              </a:lnSpc>
              <a:buFont typeface="Arial"/>
              <a:buChar char="•"/>
            </a:pPr>
            <a:r>
              <a:rPr lang="en-US" sz="2500" strike="noStrike" u="none">
                <a:solidFill>
                  <a:srgbClr val="000000"/>
                </a:solidFill>
                <a:latin typeface="Noto Sans"/>
                <a:ea typeface="Noto Sans"/>
                <a:cs typeface="Noto Sans"/>
                <a:sym typeface="Noto Sans"/>
              </a:rPr>
              <a:t>Tỷ lệ hoàn tất thanh toán trên app</a:t>
            </a:r>
          </a:p>
        </p:txBody>
      </p:sp>
      <p:sp>
        <p:nvSpPr>
          <p:cNvPr name="TextBox 65" id="65"/>
          <p:cNvSpPr txBox="true"/>
          <p:nvPr/>
        </p:nvSpPr>
        <p:spPr>
          <a:xfrm rot="0">
            <a:off x="12172312" y="6886257"/>
            <a:ext cx="4647456" cy="1746249"/>
          </a:xfrm>
          <a:prstGeom prst="rect">
            <a:avLst/>
          </a:prstGeom>
        </p:spPr>
        <p:txBody>
          <a:bodyPr anchor="t" rtlCol="false" tIns="0" lIns="0" bIns="0" rIns="0">
            <a:spAutoFit/>
          </a:bodyPr>
          <a:lstStyle/>
          <a:p>
            <a:pPr algn="l" marL="539754" indent="-269877" lvl="1">
              <a:lnSpc>
                <a:spcPts val="3500"/>
              </a:lnSpc>
              <a:buFont typeface="Arial"/>
              <a:buChar char="•"/>
            </a:pPr>
            <a:r>
              <a:rPr lang="en-US" sz="2500">
                <a:solidFill>
                  <a:srgbClr val="000000"/>
                </a:solidFill>
                <a:latin typeface="Noto Sans"/>
                <a:ea typeface="Noto Sans"/>
                <a:cs typeface="Noto Sans"/>
                <a:sym typeface="Noto Sans"/>
              </a:rPr>
              <a:t>Tầ</a:t>
            </a:r>
            <a:r>
              <a:rPr lang="en-US" sz="2500" strike="noStrike" u="none">
                <a:solidFill>
                  <a:srgbClr val="000000"/>
                </a:solidFill>
                <a:latin typeface="Noto Sans"/>
                <a:ea typeface="Noto Sans"/>
                <a:cs typeface="Noto Sans"/>
                <a:sym typeface="Noto Sans"/>
              </a:rPr>
              <a:t>n </a:t>
            </a:r>
            <a:r>
              <a:rPr lang="en-US" sz="2500" strike="noStrike" u="none">
                <a:solidFill>
                  <a:srgbClr val="000000"/>
                </a:solidFill>
                <a:latin typeface="Noto Sans"/>
                <a:ea typeface="Noto Sans"/>
                <a:cs typeface="Noto Sans"/>
                <a:sym typeface="Noto Sans"/>
              </a:rPr>
              <a:t>s</a:t>
            </a:r>
            <a:r>
              <a:rPr lang="en-US" sz="2500" strike="noStrike" u="none">
                <a:solidFill>
                  <a:srgbClr val="000000"/>
                </a:solidFill>
                <a:latin typeface="Noto Sans"/>
                <a:ea typeface="Noto Sans"/>
                <a:cs typeface="Noto Sans"/>
                <a:sym typeface="Noto Sans"/>
              </a:rPr>
              <a:t>u</a:t>
            </a:r>
            <a:r>
              <a:rPr lang="en-US" sz="2500" strike="noStrike" u="none">
                <a:solidFill>
                  <a:srgbClr val="000000"/>
                </a:solidFill>
                <a:latin typeface="Noto Sans"/>
                <a:ea typeface="Noto Sans"/>
                <a:cs typeface="Noto Sans"/>
                <a:sym typeface="Noto Sans"/>
              </a:rPr>
              <a:t>ất</a:t>
            </a:r>
            <a:r>
              <a:rPr lang="en-US" sz="2500" strike="noStrike" u="none">
                <a:solidFill>
                  <a:srgbClr val="000000"/>
                </a:solidFill>
                <a:latin typeface="Noto Sans"/>
                <a:ea typeface="Noto Sans"/>
                <a:cs typeface="Noto Sans"/>
                <a:sym typeface="Noto Sans"/>
              </a:rPr>
              <a:t> mu</a:t>
            </a:r>
            <a:r>
              <a:rPr lang="en-US" sz="2500" strike="noStrike" u="none">
                <a:solidFill>
                  <a:srgbClr val="000000"/>
                </a:solidFill>
                <a:latin typeface="Noto Sans"/>
                <a:ea typeface="Noto Sans"/>
                <a:cs typeface="Noto Sans"/>
                <a:sym typeface="Noto Sans"/>
              </a:rPr>
              <a:t>a</a:t>
            </a:r>
          </a:p>
          <a:p>
            <a:pPr algn="l" marL="539754" indent="-269877" lvl="1">
              <a:lnSpc>
                <a:spcPts val="3500"/>
              </a:lnSpc>
              <a:buFont typeface="Arial"/>
              <a:buChar char="•"/>
            </a:pPr>
            <a:r>
              <a:rPr lang="en-US" sz="2500" strike="noStrike" u="none">
                <a:solidFill>
                  <a:srgbClr val="000000"/>
                </a:solidFill>
                <a:latin typeface="Noto Sans"/>
                <a:ea typeface="Noto Sans"/>
                <a:cs typeface="Noto Sans"/>
                <a:sym typeface="Noto Sans"/>
              </a:rPr>
              <a:t>Tổng chi tiêu</a:t>
            </a:r>
          </a:p>
          <a:p>
            <a:pPr algn="l" marL="539754" indent="-269877" lvl="1">
              <a:lnSpc>
                <a:spcPts val="3500"/>
              </a:lnSpc>
              <a:buFont typeface="Arial"/>
              <a:buChar char="•"/>
            </a:pPr>
            <a:r>
              <a:rPr lang="en-US" sz="2500" strike="noStrike" u="none">
                <a:solidFill>
                  <a:srgbClr val="000000"/>
                </a:solidFill>
                <a:latin typeface="Noto Sans"/>
                <a:ea typeface="Noto Sans"/>
                <a:cs typeface="Noto Sans"/>
                <a:sym typeface="Noto Sans"/>
              </a:rPr>
              <a:t>Giá trị vòng đời khách hàng</a:t>
            </a:r>
          </a:p>
          <a:p>
            <a:pPr algn="l">
              <a:lnSpc>
                <a:spcPts val="3500"/>
              </a:lnSpc>
            </a:pPr>
          </a:p>
        </p:txBody>
      </p:sp>
      <p:sp>
        <p:nvSpPr>
          <p:cNvPr name="TextBox 66" id="66"/>
          <p:cNvSpPr txBox="true"/>
          <p:nvPr/>
        </p:nvSpPr>
        <p:spPr>
          <a:xfrm rot="0">
            <a:off x="4756707" y="311733"/>
            <a:ext cx="8774587" cy="953931"/>
          </a:xfrm>
          <a:prstGeom prst="rect">
            <a:avLst/>
          </a:prstGeom>
        </p:spPr>
        <p:txBody>
          <a:bodyPr anchor="t" rtlCol="false" tIns="0" lIns="0" bIns="0" rIns="0">
            <a:spAutoFit/>
          </a:bodyPr>
          <a:lstStyle/>
          <a:p>
            <a:pPr algn="l" marL="0" indent="0" lvl="0">
              <a:lnSpc>
                <a:spcPts val="7796"/>
              </a:lnSpc>
              <a:spcBef>
                <a:spcPct val="0"/>
              </a:spcBef>
            </a:pPr>
            <a:r>
              <a:rPr lang="en-US" b="true" sz="5568" spc="-139" strike="noStrike" u="none">
                <a:solidFill>
                  <a:srgbClr val="FFFFFF"/>
                </a:solidFill>
                <a:latin typeface="Roboto Bold"/>
                <a:ea typeface="Roboto Bold"/>
                <a:cs typeface="Roboto Bold"/>
                <a:sym typeface="Roboto Bold"/>
              </a:rPr>
              <a:t>KẾ HOẠCH ĐO LƯỜNG KPI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DAHJ0yTQ9WA</dc:identifier>
  <dcterms:modified xsi:type="dcterms:W3CDTF">2011-08-01T06:04:30Z</dcterms:modified>
  <cp:revision>1</cp:revision>
  <dc:title>Phân tích hành vi vé xem phim online (2019–2022)</dc:title>
</cp:coreProperties>
</file>